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08" r:id="rId4"/>
    <p:sldId id="258" r:id="rId5"/>
    <p:sldId id="259" r:id="rId6"/>
    <p:sldId id="260" r:id="rId7"/>
    <p:sldId id="261" r:id="rId8"/>
    <p:sldId id="262" r:id="rId9"/>
    <p:sldId id="263" r:id="rId10"/>
    <p:sldId id="30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9" r:id="rId53"/>
    <p:sldId id="305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Title and presenter details continued from the attached prior-session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Module names and durations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4144-A1F1-2B05-92CE-CC04F669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7FA77-F356-11E1-AB17-5CAED8400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E332D-4E90-5A6E-FC94-B24F6C175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Assignment aligns to hands-on activities in Modules 3 through 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861E-F716-ECCE-1D95-B26FEFD2E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92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guidance synthesized for instruction; model selection criteria are presented as a course framework.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design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Microsoft Learn describes tool calling and OpenAPI-based APIs as agent architecture components: https://learn.microsoft.com/en-us/agents/architecture/components-of-agent-architecture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26128-FACD-0F39-B85F-D42A5AB1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D724D-ECBE-C476-E435-AA0DFF435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D4FF6-496B-8D0A-3BEC-C568FB41B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Microsoft Learn describes tool calling and OpenAPI-based APIs as agent architecture components: https://learn.microsoft.com/en-us/agents/architecture/components-of-agent-architecture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9AB7-6108-FEF2-9CBE-BF5A7E595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60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Retrieval Augmented Generation and vector databases in Module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architecture decision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distinguishes long-term and short-term memory in Module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knowledge graph integration in Module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enterprise knowledge repositories in Module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activity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Microsoft Azure Architecture Center documents sequential, concurrent, group chat and handoff-style orchestration patterns: https://learn.microsoft.com/en-us/azure/architecture/ai-ml/guide/ai-agent-design-patterns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Microsoft Learn describes OpenAPI-based APIs and MCP servers as agent architecture components: https://learn.microsoft.com/en-us/agents/architecture/components-of-agent-architecture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workflow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Selection criteria are an instructional enterprise architecture framework.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summary provided as instructional guidance.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summary provided as instructional guidance.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summary provided as instructional guidance.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Agent-to-Agent communication in Module 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activity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integration pattern catalog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API architecture guidance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user-provided syllabus explicitly includes ERP and CRM integration in Module 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database integration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event streaming platforms and enterprise service bus in Module 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governance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activity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module and duration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Topics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cloud-native reference architecture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Kubernetes for Agentic AI in Module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Docker containerization in Module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distributed deployment pattern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attached syllabus explicitly includes serverless AI patterns in Module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load-balancing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resilience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Instructional FinOps framework created for this course.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Hands-on activity reproduced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Summary synthesizes Modules 3 through 6 from the user-provided syllabus.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Assignment aligns to hands-on activities in Modules 3 through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24EC-9D5A-9D84-D040-61558231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8732F-663E-DF47-7D1C-D3B608AA7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58239-5ACA-F8F1-BA9D-78BC4B7E0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Assignment aligns to hands-on activities in Modules 3 through 6.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0D77D-6A50-AC8E-78D4-0C02A2531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887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Presenter details continued from the attached prior-session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kern="0" spc="200" dirty="0">
                <a:solidFill>
                  <a:srgbClr val="FFB627"/>
                </a:solidFill>
              </a:rPr>
              <a:t>INDUSTRY ORIENTED COURSE – CEG, Anna University Guindy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7909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Scalable Enterprise Architectural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Deployments of Agentic AI Solutions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B8C6E3"/>
                </a:solidFill>
              </a:rPr>
              <a:t>Week 2 · LLMs, Knowledge, Multi-Agent Orchestration, Enterprise Integration &amp; Cloud Deployment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096512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4233672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Presenter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4599432"/>
            <a:ext cx="29169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r>
              <a:rPr lang="en-US" sz="850" dirty="0">
                <a:solidFill>
                  <a:srgbClr val="F5F8FC"/>
                </a:solidFill>
              </a:rPr>
              <a:t>Chandravadhana TK</a:t>
            </a:r>
            <a:endParaRPr lang="en-US" sz="850" dirty="0"/>
          </a:p>
          <a:p>
            <a:r>
              <a:rPr lang="en-US" sz="850" dirty="0">
                <a:solidFill>
                  <a:srgbClr val="F5F8FC"/>
                </a:solidFill>
              </a:rPr>
              <a:t>Senior AI/ML Architect, UHG-Optum.AI</a:t>
            </a:r>
            <a:endParaRPr lang="en-US" sz="850" dirty="0"/>
          </a:p>
          <a:p>
            <a:r>
              <a:rPr lang="en-US" sz="850" dirty="0">
                <a:solidFill>
                  <a:srgbClr val="F5F8FC"/>
                </a:solidFill>
              </a:rPr>
              <a:t>Research Scholar, CEG Anna University Guindy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0520" y="4096512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25112" y="4233672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Guide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25112" y="4599432"/>
            <a:ext cx="29169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850" dirty="0">
                <a:solidFill>
                  <a:srgbClr val="F5F8FC"/>
                </a:solidFill>
              </a:rPr>
              <a:t>Dr. K. Saravanan</a:t>
            </a:r>
            <a:endParaRPr lang="en-US" sz="850" dirty="0"/>
          </a:p>
          <a:p>
            <a:r>
              <a:rPr lang="en-US" sz="850" dirty="0">
                <a:solidFill>
                  <a:srgbClr val="F5F8FC"/>
                </a:solidFill>
              </a:rPr>
              <a:t>Department of Information and Communication Engineering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COURSE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Module Structure &amp; Duration · This Week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10744200" cy="768096"/>
          </a:xfrm>
          <a:prstGeom prst="roundRect">
            <a:avLst>
              <a:gd name="adj" fmla="val 9524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1536192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60704" y="166420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27632" y="160020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LLMs, Tools, Memory &amp; Knowledge Integration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21240" y="153619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49840" y="167335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</a:t>
            </a:r>
            <a:r>
              <a:rPr lang="en-US" sz="700" b="1" dirty="0" err="1">
                <a:solidFill>
                  <a:srgbClr val="FFB627"/>
                </a:solidFill>
              </a:rPr>
              <a:t>Hr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2496312"/>
            <a:ext cx="10744200" cy="768096"/>
          </a:xfrm>
          <a:prstGeom prst="roundRect">
            <a:avLst>
              <a:gd name="adj" fmla="val 9524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60120" y="2679192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60704" y="280720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27632" y="274320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Multi-Agent Systems &amp; Orchestration Frameworks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21240" y="267919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149840" y="281635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</a:t>
            </a:r>
            <a:r>
              <a:rPr lang="en-US" sz="700" b="1" dirty="0" err="1">
                <a:solidFill>
                  <a:srgbClr val="FFB627"/>
                </a:solidFill>
              </a:rPr>
              <a:t>Hr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639312"/>
            <a:ext cx="10744200" cy="768096"/>
          </a:xfrm>
          <a:prstGeom prst="roundRect">
            <a:avLst>
              <a:gd name="adj" fmla="val 9524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0120" y="3822192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60704" y="395020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627632" y="388620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Enterprise Integration Architecture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382219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149840" y="395935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</a:t>
            </a:r>
            <a:r>
              <a:rPr lang="en-US" sz="700" b="1" dirty="0" err="1">
                <a:solidFill>
                  <a:srgbClr val="FFB627"/>
                </a:solidFill>
              </a:rPr>
              <a:t>Hr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4782312"/>
            <a:ext cx="10744200" cy="768096"/>
          </a:xfrm>
          <a:prstGeom prst="roundRect">
            <a:avLst>
              <a:gd name="adj" fmla="val 9524"/>
            </a:avLst>
          </a:prstGeom>
          <a:solidFill>
            <a:srgbClr val="F0F4FC"/>
          </a:solidFill>
          <a:ln w="12700">
            <a:solidFill>
              <a:srgbClr val="D7E2F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60120" y="4965192"/>
            <a:ext cx="384048" cy="384048"/>
          </a:xfrm>
          <a:prstGeom prst="ellipse">
            <a:avLst/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60704" y="509320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27632" y="5029200"/>
            <a:ext cx="7589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Scalability, Deployment &amp; Cloud Architecture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21240" y="496519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49840" y="510235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627"/>
                </a:solidFill>
              </a:rPr>
              <a:t>1 </a:t>
            </a:r>
            <a:r>
              <a:rPr lang="en-US" sz="700" b="1" dirty="0" err="1">
                <a:solidFill>
                  <a:srgbClr val="FFB627"/>
                </a:solidFill>
              </a:rPr>
              <a:t>Hr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49808" y="61447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785"/>
                </a:solidFill>
              </a:rPr>
              <a:t>Total Duration: 8 Hours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7C1AF-B99E-07BD-EDEA-36EF3423F66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BF8084-20F1-AF6B-CAA4-063B8D559D26}"/>
              </a:ext>
            </a:extLst>
          </p:cNvPr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BC072E-2346-69A8-DAEF-4A61FC84DBD8}"/>
              </a:ext>
            </a:extLst>
          </p:cNvPr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69A5E2-3E4D-BB52-156A-385719155A69}"/>
              </a:ext>
            </a:extLst>
          </p:cNvPr>
          <p:cNvSpPr/>
          <p:nvPr/>
        </p:nvSpPr>
        <p:spPr>
          <a:xfrm>
            <a:off x="7315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</a:rPr>
              <a:t>Demos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36F4AB-4B2A-9C1F-4946-0932476EE1EF}"/>
              </a:ext>
            </a:extLst>
          </p:cNvPr>
          <p:cNvSpPr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E3"/>
                </a:solidFill>
              </a:rPr>
              <a:t>Hands-On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E76CDA-BC6B-BA30-7FED-4A5E0F3A8F3A}"/>
              </a:ext>
            </a:extLst>
          </p:cNvPr>
          <p:cNvSpPr/>
          <p:nvPr/>
        </p:nvSpPr>
        <p:spPr>
          <a:xfrm>
            <a:off x="73152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2FEE34-AB14-4D30-7650-A26FD86CD785}"/>
              </a:ext>
            </a:extLst>
          </p:cNvPr>
          <p:cNvSpPr/>
          <p:nvPr/>
        </p:nvSpPr>
        <p:spPr>
          <a:xfrm>
            <a:off x="89611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1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FFB681-327A-26DF-48D4-7DCD554D16DD}"/>
              </a:ext>
            </a:extLst>
          </p:cNvPr>
          <p:cNvSpPr/>
          <p:nvPr/>
        </p:nvSpPr>
        <p:spPr>
          <a:xfrm>
            <a:off x="89611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1: Iterative Writer-Critic Refinement Graph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30CC24-8D20-B99B-9C96-C1E12C85F552}"/>
              </a:ext>
            </a:extLst>
          </p:cNvPr>
          <p:cNvSpPr/>
          <p:nvPr/>
        </p:nvSpPr>
        <p:spPr>
          <a:xfrm>
            <a:off x="635508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0BA0C0-EC2D-AABB-2204-041533D88DA9}"/>
              </a:ext>
            </a:extLst>
          </p:cNvPr>
          <p:cNvSpPr/>
          <p:nvPr/>
        </p:nvSpPr>
        <p:spPr>
          <a:xfrm>
            <a:off x="651967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2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5EA727-2F70-1AEC-C04F-1F3966E9D2D4}"/>
              </a:ext>
            </a:extLst>
          </p:cNvPr>
          <p:cNvSpPr/>
          <p:nvPr/>
        </p:nvSpPr>
        <p:spPr>
          <a:xfrm>
            <a:off x="651967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2: Hierarchical Multi-Agent Supervisor System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13F614-4EE0-FE63-B36B-9DB61D95F39B}"/>
              </a:ext>
            </a:extLst>
          </p:cNvPr>
          <p:cNvSpPr/>
          <p:nvPr/>
        </p:nvSpPr>
        <p:spPr>
          <a:xfrm>
            <a:off x="73152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2187986-E59F-0A96-24E5-1D37957F0A0F}"/>
              </a:ext>
            </a:extLst>
          </p:cNvPr>
          <p:cNvSpPr/>
          <p:nvPr/>
        </p:nvSpPr>
        <p:spPr>
          <a:xfrm>
            <a:off x="89611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Clinical Agent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A45D2D-34CD-160E-4594-976C533B6818}"/>
              </a:ext>
            </a:extLst>
          </p:cNvPr>
          <p:cNvSpPr/>
          <p:nvPr/>
        </p:nvSpPr>
        <p:spPr>
          <a:xfrm>
            <a:off x="89611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Plan-and-Solve / Multi-Step Sequential Reasoning Pattern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61949F7-6FE7-4F3C-AA2F-6E5A18E0C074}"/>
              </a:ext>
            </a:extLst>
          </p:cNvPr>
          <p:cNvSpPr/>
          <p:nvPr/>
        </p:nvSpPr>
        <p:spPr>
          <a:xfrm>
            <a:off x="635508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6BB26F9-2179-3D52-0BC7-15EDD08BED03}"/>
              </a:ext>
            </a:extLst>
          </p:cNvPr>
          <p:cNvSpPr/>
          <p:nvPr/>
        </p:nvSpPr>
        <p:spPr>
          <a:xfrm>
            <a:off x="651967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Superpowers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0357BBF-5ABD-2872-45DD-CED6C33174E9}"/>
              </a:ext>
            </a:extLst>
          </p:cNvPr>
          <p:cNvSpPr/>
          <p:nvPr/>
        </p:nvSpPr>
        <p:spPr>
          <a:xfrm>
            <a:off x="651967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AI-DLC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1E59F4A-0C36-4896-6509-82CFFC73D291}"/>
              </a:ext>
            </a:extLst>
          </p:cNvPr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0453E3C-6095-8029-E8E0-FB27285430B5}"/>
              </a:ext>
            </a:extLst>
          </p:cNvPr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49</a:t>
            </a:r>
            <a:endParaRPr lang="en-US" sz="65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96964E7-F96F-802C-73E6-80775CA4CF5E}"/>
              </a:ext>
            </a:extLst>
          </p:cNvPr>
          <p:cNvSpPr/>
          <p:nvPr/>
        </p:nvSpPr>
        <p:spPr>
          <a:xfrm>
            <a:off x="4274101" y="5254349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47D6E65-1C5C-CA0A-A445-D66D40A5FF61}"/>
              </a:ext>
            </a:extLst>
          </p:cNvPr>
          <p:cNvSpPr/>
          <p:nvPr/>
        </p:nvSpPr>
        <p:spPr>
          <a:xfrm>
            <a:off x="4438693" y="5391509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Quiz</a:t>
            </a:r>
            <a:endParaRPr lang="en-US" sz="14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0A302A89-97A4-5D53-9FE5-163F5BF65CA6}"/>
              </a:ext>
            </a:extLst>
          </p:cNvPr>
          <p:cNvSpPr/>
          <p:nvPr/>
        </p:nvSpPr>
        <p:spPr>
          <a:xfrm>
            <a:off x="4438693" y="5757269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Live Interactive Reasoning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075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LLMs, Tools, Memory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Knowledge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05156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C6E3"/>
                </a:solidFill>
              </a:rPr>
              <a:t>1 Hour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03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LLMs, Tools, Memory &amp; Knowledge Integration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Enterprise LLM Selection Strategy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Prompt Engineering for Agents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Tool Calling and Function Invocation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88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Retrieval Augmented Generation (RAG)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73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03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Vector Databases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73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Long-term and Short-term Memory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3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3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Knowledge Graph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03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Enterprise Knowledge Repositories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a12b3844af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62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The Agent Intelligence Stack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12648" y="868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A production agent combines model reasoning with tools, grounded knowledge and durable context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C9D2"/>
                </a:solidFill>
              </a:rPr>
              <a:t>Architecture rule: isolate model choice from tool contracts, retrieval, memory and policy.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1" name="Text 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Enterprise LLM Selection Strategy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Choose by workload fitness, not benchmark popularity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3B8"/>
                </a:solidFill>
              </a:rPr>
              <a:t>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Task fit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Reasoning depth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Instruction following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Tool-use reliability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Structured output quality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Enterprise constraints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Data residency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Private networking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Identity integration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Provider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Operational profile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Latency and throughput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Context window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Rate limits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Regional availability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Economics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Input/output token cost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Caching opportunity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Batching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Model routing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Quality evidence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Domain eval set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Groundedness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Tool success rate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Safety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Portability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100" dirty="0">
                <a:solidFill>
                  <a:srgbClr val="F5F8FC"/>
                </a:solidFill>
              </a:rPr>
              <a:t>Provider abstraction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Version pinning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Fallback model</a:t>
            </a:r>
            <a:endParaRPr lang="en-US" sz="1100" dirty="0"/>
          </a:p>
          <a:p>
            <a:r>
              <a:rPr lang="en-US" sz="1100" dirty="0">
                <a:solidFill>
                  <a:srgbClr val="F5F8FC"/>
                </a:solidFill>
              </a:rPr>
              <a:t>Exit strategy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3B8"/>
                </a:solidFill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Prompt Engineering for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Design prompts as versioned behavioral contracts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 &amp;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State the bounded role, outcome and non-goals.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 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Define trusted context, untrusted content and precedence.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 policy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Specify when to call, when not to call, and required evidence.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 contract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Use schemas, citations, confidence and error fields.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Set iteration budget, stop conditions and escalation rules.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Regression-test prompt versions against representative tasks.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FFFFFF"/>
                </a:solidFill>
              </a:rPr>
              <a:t>Prompt Engineering for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B8C6E3"/>
                </a:solidFill>
              </a:rPr>
              <a:t>Design prompts as versioned behavioral contracts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C8B70-F5E0-7962-5DC6-A3D27C65EAFF}"/>
              </a:ext>
            </a:extLst>
          </p:cNvPr>
          <p:cNvSpPr txBox="1"/>
          <p:nvPr/>
        </p:nvSpPr>
        <p:spPr>
          <a:xfrm>
            <a:off x="2635830" y="1234441"/>
            <a:ext cx="91446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</a:rPr>
              <a:t>🩺 Sample Operational Prompt — Clinical Agent</a:t>
            </a: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Role &amp; Objective</a:t>
            </a:r>
            <a:r>
              <a:rPr lang="en-IN" sz="1200" dirty="0">
                <a:solidFill>
                  <a:schemeClr val="bg1"/>
                </a:solidFill>
                <a:effectLst/>
              </a:rPr>
              <a:t> You are a </a:t>
            </a:r>
            <a:r>
              <a:rPr lang="en-IN" sz="1200" b="1" dirty="0">
                <a:solidFill>
                  <a:schemeClr val="bg1"/>
                </a:solidFill>
                <a:effectLst/>
              </a:rPr>
              <a:t>clinical decision-support agent</a:t>
            </a:r>
            <a:r>
              <a:rPr lang="en-IN" sz="1200" dirty="0">
                <a:solidFill>
                  <a:schemeClr val="bg1"/>
                </a:solidFill>
                <a:effectLst/>
              </a:rPr>
              <a:t>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Goals: Provide structured, evidence-based insights, differential diagnoses, recommended tests, and guideline references.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Non-goals: Do not prescribe medications, replace physician judgment, or handle emergency triage.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Context Policy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Trusted: WHO, CDC, NICE, ICMR guidelines; peer-reviewed studies; verified patient records.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Untrusted: Anecdotal sources, unverified self-reports, non-medical forums.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Precedence: Guidelines &gt; peer-reviewed studies &gt; observational data &gt; patient reports.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Tool Policy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Call tools: For guideline lookups, drug interactions, structured patient data.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Avoid tools: For speculative treatments or incomplete data.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Evidence: Always cite authoritative sources.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Output Contract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Format: JSON schema with </a:t>
            </a:r>
            <a:r>
              <a:rPr lang="en-IN" sz="1200" dirty="0" err="1">
                <a:solidFill>
                  <a:schemeClr val="bg1"/>
                </a:solidFill>
                <a:effectLst/>
                <a:latin typeface="+mn-lt"/>
              </a:rPr>
              <a:t>patient_info</a:t>
            </a:r>
            <a:r>
              <a:rPr lang="en-IN" sz="1200" dirty="0">
                <a:solidFill>
                  <a:schemeClr val="bg1"/>
                </a:solidFill>
                <a:effectLst/>
              </a:rPr>
              <a:t>, </a:t>
            </a:r>
            <a:r>
              <a:rPr lang="en-IN" sz="1200" dirty="0">
                <a:solidFill>
                  <a:schemeClr val="bg1"/>
                </a:solidFill>
                <a:effectLst/>
                <a:latin typeface="+mn-lt"/>
              </a:rPr>
              <a:t>symptoms</a:t>
            </a:r>
            <a:r>
              <a:rPr lang="en-IN" sz="1200" dirty="0">
                <a:solidFill>
                  <a:schemeClr val="bg1"/>
                </a:solidFill>
                <a:effectLst/>
              </a:rPr>
              <a:t>, </a:t>
            </a:r>
            <a:r>
              <a:rPr lang="en-IN" sz="1200" dirty="0" err="1">
                <a:solidFill>
                  <a:schemeClr val="bg1"/>
                </a:solidFill>
                <a:effectLst/>
                <a:latin typeface="+mn-lt"/>
              </a:rPr>
              <a:t>possible_conditions</a:t>
            </a:r>
            <a:r>
              <a:rPr lang="en-IN" sz="1200" dirty="0">
                <a:solidFill>
                  <a:schemeClr val="bg1"/>
                </a:solidFill>
                <a:effectLst/>
              </a:rPr>
              <a:t>, </a:t>
            </a:r>
            <a:r>
              <a:rPr lang="en-IN" sz="1200" dirty="0" err="1">
                <a:solidFill>
                  <a:schemeClr val="bg1"/>
                </a:solidFill>
                <a:effectLst/>
                <a:latin typeface="+mn-lt"/>
              </a:rPr>
              <a:t>recommended_tests</a:t>
            </a:r>
            <a:r>
              <a:rPr lang="en-IN" sz="1200" dirty="0">
                <a:solidFill>
                  <a:schemeClr val="bg1"/>
                </a:solidFill>
                <a:effectLst/>
              </a:rPr>
              <a:t>, </a:t>
            </a:r>
            <a:r>
              <a:rPr lang="en-IN" sz="1200" dirty="0" err="1">
                <a:solidFill>
                  <a:schemeClr val="bg1"/>
                </a:solidFill>
                <a:effectLst/>
                <a:latin typeface="+mn-lt"/>
              </a:rPr>
              <a:t>treatment_guidelines</a:t>
            </a:r>
            <a:r>
              <a:rPr lang="en-IN" sz="1200" dirty="0">
                <a:solidFill>
                  <a:schemeClr val="bg1"/>
                </a:solidFill>
                <a:effectLst/>
              </a:rPr>
              <a:t>, </a:t>
            </a:r>
            <a:r>
              <a:rPr lang="en-IN" sz="1200" dirty="0" err="1">
                <a:solidFill>
                  <a:schemeClr val="bg1"/>
                </a:solidFill>
                <a:effectLst/>
                <a:latin typeface="+mn-lt"/>
              </a:rPr>
              <a:t>error_fields</a:t>
            </a:r>
            <a:r>
              <a:rPr lang="en-IN" sz="1200" dirty="0">
                <a:solidFill>
                  <a:schemeClr val="bg1"/>
                </a:solidFill>
                <a:effectLst/>
              </a:rPr>
              <a:t>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Confidence: Provide scores (0–1).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Citations: Mandatory for all medical claims.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Errors: Explicitly flag missing or contradictory data.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Control Loop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Iterations: Max 3 refinement cycles.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Stop: Confidence &gt; 0.9 or guideline found.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Escalate: Confidence &lt; 0.6 or conflicting evidence → clinician review.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Evaluation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Regression-test against representative tasks (e.g., diabetes, oncology, antibiotic stewardship).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Metrics: Guideline adherence, citation correctness, clarity.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Update: Quarterly with new guideline releases.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Instruction to Agent</a:t>
            </a:r>
            <a:r>
              <a:rPr lang="en-IN" sz="1200" dirty="0">
                <a:solidFill>
                  <a:schemeClr val="bg1"/>
                </a:solidFill>
                <a:effectLst/>
              </a:rPr>
              <a:t> On receiving patient data, generate structured JSON output with: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Symptoms &amp; possible conditions (with confidence scores).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Recommended diagnostic tests (with guideline references).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Treatment guidelines (with citations).</a:t>
            </a:r>
            <a:endParaRPr lang="en-IN" sz="1200" dirty="0">
              <a:solidFill>
                <a:schemeClr val="bg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  <a:effectLst/>
              </a:rPr>
              <a:t>Error fields for missing/contradictory data. Always defer final judgment to the clinician.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AE99D-BA79-CF5A-820F-35300E5E90B1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EF1B6-221C-2B10-54DB-59B5A721C77D}"/>
              </a:ext>
            </a:extLst>
          </p:cNvPr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493B80-F7B6-C846-23B8-BC7078D40B04}"/>
              </a:ext>
            </a:extLst>
          </p:cNvPr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CDDE2B-8799-3A73-64C5-1985D2092A4C}"/>
              </a:ext>
            </a:extLst>
          </p:cNvPr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Tool Calling &amp; Function Invocation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5CF0F0-9BD9-43C4-A883-A048AA2BC751}"/>
              </a:ext>
            </a:extLst>
          </p:cNvPr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Treat every tool as a typed, authorized and observable enterprise contract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309975-710E-CBEB-3057-5B2C13629985}"/>
              </a:ext>
            </a:extLst>
          </p:cNvPr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CD838E8-8DE4-4725-D1F2-FD794DBFA140}"/>
              </a:ext>
            </a:extLst>
          </p:cNvPr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D3098A-EF2B-AFA9-DCB8-25105EADC840}"/>
              </a:ext>
            </a:extLst>
          </p:cNvPr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1C8790-BCE8-8594-AEA3-C5E067C7EBDF}"/>
              </a:ext>
            </a:extLst>
          </p:cNvPr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CCF1A0-2F01-5626-FB8F-E67B60EBF6C1}"/>
              </a:ext>
            </a:extLst>
          </p:cNvPr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Goal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4CAE66-1389-58A5-C16C-32DE81880DCD}"/>
              </a:ext>
            </a:extLst>
          </p:cNvPr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Natural-language intent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A27EC0-F8B2-F159-A168-56BDFC5ED12D}"/>
              </a:ext>
            </a:extLst>
          </p:cNvPr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08DCB0-574B-C00E-4449-4F56B31BE040}"/>
              </a:ext>
            </a:extLst>
          </p:cNvPr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98388CE-2BF5-434D-BA36-544EEE51CB6B}"/>
              </a:ext>
            </a:extLst>
          </p:cNvPr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3C665D-AF02-6B45-28E0-B33EB1DBC9FA}"/>
              </a:ext>
            </a:extLst>
          </p:cNvPr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Selects next action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D436A42-4AF6-B300-F614-40B36E1AFD79}"/>
              </a:ext>
            </a:extLst>
          </p:cNvPr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13CE880-4F8B-EA47-2643-1E5C7B1C4CC4}"/>
              </a:ext>
            </a:extLst>
          </p:cNvPr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F907E3-5B86-9723-0136-395B44B44F1F}"/>
              </a:ext>
            </a:extLst>
          </p:cNvPr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Schema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BE9E460-8223-C7BF-B1FC-7CDFFF3B749F}"/>
              </a:ext>
            </a:extLst>
          </p:cNvPr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Validates arguments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DAD383C-B50D-AC2D-4816-30D36FBC7DA1}"/>
              </a:ext>
            </a:extLst>
          </p:cNvPr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42E6F53-8D93-9EAD-6164-9D628D367C20}"/>
              </a:ext>
            </a:extLst>
          </p:cNvPr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C501E88-4BA0-5757-B843-7DBEC08181D1}"/>
              </a:ext>
            </a:extLst>
          </p:cNvPr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 Gate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3531FAE-3C06-DF46-5068-27226A498576}"/>
              </a:ext>
            </a:extLst>
          </p:cNvPr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Authorizes scope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B20BD98-BAE2-1867-BC3B-89C7C25F5A05}"/>
              </a:ext>
            </a:extLst>
          </p:cNvPr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1F9F83-996F-58ED-D6BE-D9E8EE49F662}"/>
              </a:ext>
            </a:extLst>
          </p:cNvPr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F3863AE-CDF0-2D6C-8269-9DFA45AD2C5F}"/>
              </a:ext>
            </a:extLst>
          </p:cNvPr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6452457-EDA6-637A-07EF-ED71918AE2A3}"/>
              </a:ext>
            </a:extLst>
          </p:cNvPr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Calls API / function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D58E2FE-7861-7702-CE60-55C479326549}"/>
              </a:ext>
            </a:extLst>
          </p:cNvPr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71D49AF-9F11-8E6A-CD4F-05F7A9DD3D18}"/>
              </a:ext>
            </a:extLst>
          </p:cNvPr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0111DE7-81BF-7EA5-EE75-DDBAEF774656}"/>
              </a:ext>
            </a:extLst>
          </p:cNvPr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8431DC8-999A-82DC-0E89-7CA415A8A5E4}"/>
              </a:ext>
            </a:extLst>
          </p:cNvPr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Returns typed result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369BD62-0F1C-A68E-2E1F-A040C18DC46D}"/>
              </a:ext>
            </a:extLst>
          </p:cNvPr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80DE618-67BB-3A19-F038-F7226D238493}"/>
              </a:ext>
            </a:extLst>
          </p:cNvPr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7E5F5DB9-A45E-98F2-B49C-2038AEFA6A43}"/>
              </a:ext>
            </a:extLst>
          </p:cNvPr>
          <p:cNvSpPr/>
          <p:nvPr/>
        </p:nvSpPr>
        <p:spPr>
          <a:xfrm>
            <a:off x="621792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5593E5D6-DE0E-C34E-A98E-93FB4CF64F08}"/>
              </a:ext>
            </a:extLst>
          </p:cNvPr>
          <p:cNvSpPr/>
          <p:nvPr/>
        </p:nvSpPr>
        <p:spPr>
          <a:xfrm>
            <a:off x="731520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A218C84F-979F-6EC4-5F5B-2B951047FDCA}"/>
              </a:ext>
            </a:extLst>
          </p:cNvPr>
          <p:cNvSpPr/>
          <p:nvPr/>
        </p:nvSpPr>
        <p:spPr>
          <a:xfrm>
            <a:off x="731520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What is my current account balance?"</a:t>
            </a:r>
            <a:endParaRPr lang="en-US" sz="10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87E80879-5399-BB7B-B4EB-BF1B514B32AC}"/>
              </a:ext>
            </a:extLst>
          </p:cNvPr>
          <p:cNvSpPr/>
          <p:nvPr/>
        </p:nvSpPr>
        <p:spPr>
          <a:xfrm>
            <a:off x="2084832" y="444398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2EC8FB71-7B9E-50F4-AC04-FC3640DCE012}"/>
              </a:ext>
            </a:extLst>
          </p:cNvPr>
          <p:cNvSpPr/>
          <p:nvPr/>
        </p:nvSpPr>
        <p:spPr>
          <a:xfrm>
            <a:off x="2377440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E2AB1904-8B6A-2BC7-67B5-E9D2E1EEC652}"/>
              </a:ext>
            </a:extLst>
          </p:cNvPr>
          <p:cNvSpPr/>
          <p:nvPr/>
        </p:nvSpPr>
        <p:spPr>
          <a:xfrm>
            <a:off x="2487168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Decides</a:t>
            </a:r>
            <a:endParaRPr lang="en-US" sz="12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B516E3C-DCCC-99E5-EAF2-AD963CCCF179}"/>
              </a:ext>
            </a:extLst>
          </p:cNvPr>
          <p:cNvSpPr/>
          <p:nvPr/>
        </p:nvSpPr>
        <p:spPr>
          <a:xfrm>
            <a:off x="2487168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I need the account API.</a:t>
            </a:r>
            <a:endParaRPr lang="en-US" sz="10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A48B691C-D1F4-FC49-436E-373E71821D85}"/>
              </a:ext>
            </a:extLst>
          </p:cNvPr>
          <p:cNvSpPr/>
          <p:nvPr/>
        </p:nvSpPr>
        <p:spPr>
          <a:xfrm>
            <a:off x="3840480" y="444398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3DF9CB81-8605-3692-2D34-5C499AA77111}"/>
              </a:ext>
            </a:extLst>
          </p:cNvPr>
          <p:cNvSpPr/>
          <p:nvPr/>
        </p:nvSpPr>
        <p:spPr>
          <a:xfrm>
            <a:off x="4133088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2F1B0E7A-E83B-4742-FD41-5813FF8D4660}"/>
              </a:ext>
            </a:extLst>
          </p:cNvPr>
          <p:cNvSpPr/>
          <p:nvPr/>
        </p:nvSpPr>
        <p:spPr>
          <a:xfrm>
            <a:off x="4242816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Schema</a:t>
            </a:r>
            <a:endParaRPr lang="en-US" sz="12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4B2D536B-6307-844C-95D2-E67044572BF8}"/>
              </a:ext>
            </a:extLst>
          </p:cNvPr>
          <p:cNvSpPr/>
          <p:nvPr/>
        </p:nvSpPr>
        <p:spPr>
          <a:xfrm>
            <a:off x="4242816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5F8FC"/>
                </a:solidFill>
              </a:rPr>
              <a:t>getAccountBalance</a:t>
            </a:r>
            <a:r>
              <a:rPr lang="en-US" sz="1000" dirty="0">
                <a:solidFill>
                  <a:srgbClr val="F5F8FC"/>
                </a:solidFill>
              </a:rPr>
              <a:t>(</a:t>
            </a:r>
            <a:r>
              <a:rPr lang="en-US" sz="1000" dirty="0" err="1">
                <a:solidFill>
                  <a:srgbClr val="F5F8FC"/>
                </a:solidFill>
              </a:rPr>
              <a:t>accountId</a:t>
            </a:r>
            <a:r>
              <a:rPr lang="en-US" sz="1000" dirty="0">
                <a:solidFill>
                  <a:srgbClr val="F5F8FC"/>
                </a:solidFill>
              </a:rPr>
              <a:t>)</a:t>
            </a:r>
            <a:endParaRPr lang="en-US" sz="100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6B914BBD-F6B3-ACA0-F9FF-463261FC5AEA}"/>
              </a:ext>
            </a:extLst>
          </p:cNvPr>
          <p:cNvSpPr/>
          <p:nvPr/>
        </p:nvSpPr>
        <p:spPr>
          <a:xfrm>
            <a:off x="5596128" y="444398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3BF511F6-9A1F-AC33-2EA4-AF2ACE5A594C}"/>
              </a:ext>
            </a:extLst>
          </p:cNvPr>
          <p:cNvSpPr/>
          <p:nvPr/>
        </p:nvSpPr>
        <p:spPr>
          <a:xfrm>
            <a:off x="5888736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C4E93328-7D5E-C40B-CE17-1CFD8685F4A1}"/>
              </a:ext>
            </a:extLst>
          </p:cNvPr>
          <p:cNvSpPr/>
          <p:nvPr/>
        </p:nvSpPr>
        <p:spPr>
          <a:xfrm>
            <a:off x="5998464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 Gate checks</a:t>
            </a:r>
            <a:endParaRPr lang="en-US" sz="12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992523D3-33F9-BCC7-E51B-6A80D3DDBB7E}"/>
              </a:ext>
            </a:extLst>
          </p:cNvPr>
          <p:cNvSpPr/>
          <p:nvPr/>
        </p:nvSpPr>
        <p:spPr>
          <a:xfrm>
            <a:off x="5998464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Is user authenticated?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Is user allowed?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Is account accessible?</a:t>
            </a:r>
          </a:p>
        </p:txBody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E3C4198C-1EE6-5F3D-12F1-7DFE115E09BF}"/>
              </a:ext>
            </a:extLst>
          </p:cNvPr>
          <p:cNvSpPr/>
          <p:nvPr/>
        </p:nvSpPr>
        <p:spPr>
          <a:xfrm>
            <a:off x="7351776" y="444398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40A5534D-D8C1-BE3F-4F4D-AC59440BA0B5}"/>
              </a:ext>
            </a:extLst>
          </p:cNvPr>
          <p:cNvSpPr/>
          <p:nvPr/>
        </p:nvSpPr>
        <p:spPr>
          <a:xfrm>
            <a:off x="7644384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2720E251-1E5F-81E6-D440-631C3DE79197}"/>
              </a:ext>
            </a:extLst>
          </p:cNvPr>
          <p:cNvSpPr/>
          <p:nvPr/>
        </p:nvSpPr>
        <p:spPr>
          <a:xfrm>
            <a:off x="7754112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22CB95FF-D54C-00DE-CA58-EAD655388F7A}"/>
              </a:ext>
            </a:extLst>
          </p:cNvPr>
          <p:cNvSpPr/>
          <p:nvPr/>
        </p:nvSpPr>
        <p:spPr>
          <a:xfrm>
            <a:off x="7754112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Then API executes</a:t>
            </a:r>
          </a:p>
        </p:txBody>
      </p:sp>
      <p:sp>
        <p:nvSpPr>
          <p:cNvPr id="73" name="Shape 26">
            <a:extLst>
              <a:ext uri="{FF2B5EF4-FFF2-40B4-BE49-F238E27FC236}">
                <a16:creationId xmlns:a16="http://schemas.microsoft.com/office/drawing/2014/main" id="{4B93CBCA-C193-6A1B-4343-C9FA84360EFC}"/>
              </a:ext>
            </a:extLst>
          </p:cNvPr>
          <p:cNvSpPr/>
          <p:nvPr/>
        </p:nvSpPr>
        <p:spPr>
          <a:xfrm>
            <a:off x="9107424" y="444398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75" name="Shape 27">
            <a:extLst>
              <a:ext uri="{FF2B5EF4-FFF2-40B4-BE49-F238E27FC236}">
                <a16:creationId xmlns:a16="http://schemas.microsoft.com/office/drawing/2014/main" id="{D115D882-0C3F-787A-C618-7A5A2C768AC2}"/>
              </a:ext>
            </a:extLst>
          </p:cNvPr>
          <p:cNvSpPr/>
          <p:nvPr/>
        </p:nvSpPr>
        <p:spPr>
          <a:xfrm>
            <a:off x="9400032" y="402336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855C0957-D1AE-C416-EAB2-DB1CBD2C51CF}"/>
              </a:ext>
            </a:extLst>
          </p:cNvPr>
          <p:cNvSpPr/>
          <p:nvPr/>
        </p:nvSpPr>
        <p:spPr>
          <a:xfrm>
            <a:off x="9509760" y="425196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FD04A45A-67CC-0766-4230-7F61B35DDEF8}"/>
              </a:ext>
            </a:extLst>
          </p:cNvPr>
          <p:cNvSpPr/>
          <p:nvPr/>
        </p:nvSpPr>
        <p:spPr>
          <a:xfrm>
            <a:off x="9509760" y="464515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Feedback loop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7274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  <p:bldP spid="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Retrieval Augmented Generation (RAG)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Ground the model in enterprise evidence before generation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Parse &amp; classify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Chunk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Structure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Embed + lexical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Hybrid 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Rerank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Prioritize evidence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Answer + citations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Vector Databases: Architecture Decisions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The index is part of a retrieval system, not the complete knowledge layer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Index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Embedding model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Dimension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Distance metric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Metadata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Retrieval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Dense / sparse / hybrid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Filters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Top-K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Reranking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Scale &amp;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Sharding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Replication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Freshness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Backup and restore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Tenant isolation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Document-level ACLs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Lineage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Right-to-delete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Quality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Recall@K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Precision@K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Context relevance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No-answer behavior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Selection lens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Managed vs self-hosted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Latency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Cost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Ecosystem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Short-term vs Long-term Memory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Memory should be explicit, scoped, governed and expirable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Working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Current task state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Plan and observations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Temporary intermediate 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Conversation 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Recent turns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Summaries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User-visible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Long-term semantic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Stable facts and preferences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Retrieved when relevant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Episodic 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Prior cases, outcomes and feedback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Time-stamped and attributable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Procedural 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Reusable workflows, policies and strategies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Consent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TTL and deletion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Tenant isolation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Sensitive-data minimization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Knowledge Graph Integration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Combine semantic retrieval with explicit entities and relationships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When graphs help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Multi-hop questions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Relationship reasoning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Entity resolution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Impact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Graph-RAG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Entity extraction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Linking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Subgraph retrieval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Evidence synthesis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Enterprise semantics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Business glossary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Ontology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Canonical identifiers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Data lineage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Controls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Provenance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Access-aware traversal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Freshness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Graph quality checks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12</a:t>
            </a:r>
            <a:endParaRPr lang="en-US" sz="6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F811B-194B-89C4-C0C4-D55CF92990ED}"/>
              </a:ext>
            </a:extLst>
          </p:cNvPr>
          <p:cNvSpPr txBox="1"/>
          <p:nvPr/>
        </p:nvSpPr>
        <p:spPr>
          <a:xfrm>
            <a:off x="4783692" y="395192"/>
            <a:ext cx="68931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/>
              <a:t>Ask:</a:t>
            </a:r>
          </a:p>
          <a:p>
            <a:pPr>
              <a:buNone/>
            </a:pPr>
            <a:r>
              <a:rPr lang="en-IN" sz="1400" dirty="0"/>
              <a:t>"If I ask: Which suppliers are impacted by this regulation because they supply products used by hospitals in region X - would simple semantic search always be enough?"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Enterprise Knowledge Repositories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Federate knowledge without bypassing source-system ownership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13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SharePoint and documents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Data lake / warehouse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Wikis and portals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Connectors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CDC and events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Parsing and metadata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Deduplication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Knowledge services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Search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Vector index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Graph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SQL / analytics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Catalog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Lineage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Classification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Retention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ACL propagation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Hands-on: Agent with Tool Calling and RAG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Lab outcome: a grounded agent that retrieves evidence, calls one tool and returns an auditable result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Use case + policy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Load documents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Create retrieval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Register tool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Reason + 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Evidence + 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Multi-Agent Systems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Orchestration Frameworks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05156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C6E3"/>
                </a:solidFill>
              </a:rPr>
              <a:t>1 Hour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15</a:t>
            </a:r>
            <a:endParaRPr lang="en-US" sz="6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8DBE4-12F2-9B1B-9C5A-881FCA750F17}"/>
              </a:ext>
            </a:extLst>
          </p:cNvPr>
          <p:cNvSpPr txBox="1"/>
          <p:nvPr/>
        </p:nvSpPr>
        <p:spPr>
          <a:xfrm>
            <a:off x="3385437" y="3429000"/>
            <a:ext cx="24718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Supervisor </a:t>
            </a:r>
          </a:p>
          <a:p>
            <a:r>
              <a:rPr lang="en-IN" sz="1400" dirty="0">
                <a:solidFill>
                  <a:schemeClr val="bg1"/>
                </a:solidFill>
              </a:rPr>
              <a:t>├── Research Agent </a:t>
            </a:r>
          </a:p>
          <a:p>
            <a:r>
              <a:rPr lang="en-IN" sz="1400" dirty="0">
                <a:solidFill>
                  <a:schemeClr val="bg1"/>
                </a:solidFill>
              </a:rPr>
              <a:t>├── Policy Agent </a:t>
            </a:r>
          </a:p>
          <a:p>
            <a:r>
              <a:rPr lang="en-IN" sz="1400" dirty="0">
                <a:solidFill>
                  <a:schemeClr val="bg1"/>
                </a:solidFill>
              </a:rPr>
              <a:t>├── Finance Agent </a:t>
            </a:r>
          </a:p>
          <a:p>
            <a:r>
              <a:rPr lang="en-IN" sz="1400" dirty="0">
                <a:solidFill>
                  <a:schemeClr val="bg1"/>
                </a:solidFill>
              </a:rPr>
              <a:t>└── Execution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04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Multi-Agent Systems &amp; Orchestration Frameworks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16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Multi-Agent Collaboration Models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Agent Communication Protocols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Task Planning and Delegation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88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Agent Orchestration Frameworks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73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03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CrewAI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73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LangGraph Fundamentals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3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3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Microsoft AutoGen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03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Agent-to-Agent (A2A) Communication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d173c78c3b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62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Multi-Agent Collaboration Models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12648" y="868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Specialized agents coordinate through explicit roles, state and contracts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C9D2"/>
                </a:solidFill>
              </a:rPr>
              <a:t>Architectural principle: add agents only when specialization, isolation or parallelism creates measurable value.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1" name="Text 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Collaboration Models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Choose the topology by coordination semantics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18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Supervisor-worker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Central routing and aggregation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Clear ownership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Potential bottleneck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Sequential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Fixed handoffs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Predictable order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Easy audit trail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Concurrent fan-out/fan-in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Parallel specialists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Lower elapsed time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Requires aggregation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discussion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Shared thread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Iterative critique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Needs termination rule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Dynamic handoff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transfers ownership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Good for triage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Requires discovery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Event-driven mesh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Loose coupling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Asynchronous scaling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Requires durable state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18</a:t>
            </a:r>
            <a:endParaRPr lang="en-US" sz="6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D21F38-F6AB-654A-E236-6324B40CE9FB}"/>
              </a:ext>
            </a:extLst>
          </p:cNvPr>
          <p:cNvSpPr txBox="1"/>
          <p:nvPr/>
        </p:nvSpPr>
        <p:spPr>
          <a:xfrm>
            <a:off x="3047281" y="2828836"/>
            <a:ext cx="14382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>
                <a:solidFill>
                  <a:schemeClr val="bg1"/>
                </a:solidFill>
              </a:rPr>
              <a:t>Supervisor</a:t>
            </a:r>
          </a:p>
          <a:p>
            <a:r>
              <a:rPr lang="en-IN" sz="1100">
                <a:solidFill>
                  <a:schemeClr val="bg1"/>
                </a:solidFill>
              </a:rPr>
              <a:t> ├── Worker A</a:t>
            </a:r>
          </a:p>
          <a:p>
            <a:r>
              <a:rPr lang="en-IN" sz="1100">
                <a:solidFill>
                  <a:schemeClr val="bg1"/>
                </a:solidFill>
              </a:rPr>
              <a:t> ├── Worker B</a:t>
            </a:r>
          </a:p>
          <a:p>
            <a:r>
              <a:rPr lang="en-IN" sz="1100">
                <a:solidFill>
                  <a:schemeClr val="bg1"/>
                </a:solidFill>
              </a:rPr>
              <a:t> └── Worker C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53AB60-F6AB-C9E5-6ED4-009F45495308}"/>
              </a:ext>
            </a:extLst>
          </p:cNvPr>
          <p:cNvSpPr txBox="1"/>
          <p:nvPr/>
        </p:nvSpPr>
        <p:spPr>
          <a:xfrm>
            <a:off x="6756636" y="3290387"/>
            <a:ext cx="10511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A → B → C → 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FA1B62-BC76-F5BA-173F-7971CED4E56E}"/>
              </a:ext>
            </a:extLst>
          </p:cNvPr>
          <p:cNvSpPr txBox="1"/>
          <p:nvPr/>
        </p:nvSpPr>
        <p:spPr>
          <a:xfrm>
            <a:off x="9906661" y="3080296"/>
            <a:ext cx="18525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                  → A →</a:t>
            </a:r>
          </a:p>
          <a:p>
            <a:r>
              <a:rPr lang="en-IN" sz="1100" dirty="0">
                <a:solidFill>
                  <a:schemeClr val="bg1"/>
                </a:solidFill>
              </a:rPr>
              <a:t>Request → B → Aggregator</a:t>
            </a:r>
          </a:p>
          <a:p>
            <a:r>
              <a:rPr lang="en-IN" sz="1100" dirty="0">
                <a:solidFill>
                  <a:schemeClr val="bg1"/>
                </a:solidFill>
              </a:rPr>
              <a:t>                  → C 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FEC9A-6E6F-38E9-9CE6-EC0B5F1BFF2A}"/>
              </a:ext>
            </a:extLst>
          </p:cNvPr>
          <p:cNvSpPr txBox="1"/>
          <p:nvPr/>
        </p:nvSpPr>
        <p:spPr>
          <a:xfrm>
            <a:off x="4100998" y="371283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Open Question: "For an insurance claim workflow, which architecture would you choose?"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Agent Communication Protocols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Separate discovery, message transport, context exchange and tool invocation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OpenAPI / 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Synchronous service contracts and enterprise API governance.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Events / messaging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Asynchronous commands, facts and workflow transitions.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MCP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Connect agents or hosts to tools, resources and prompts through a standard interface.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A2A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Agent discovery, task exchange, status and artifacts across agent boundaries.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Internal state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Graph state, checkpoints and shared working context.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Contract controls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Identity, schema, version, timeout, retry, idempotency and audit.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Task Planning and Delegation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Turn one business goal into bounded, verifiable units of work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20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Outcome + constraints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Task graph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Capability match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Execute task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Check evidence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Aggregator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Compose result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Orchestration Framework Selection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Evaluate frameworks against enterprise operating requirements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Graph, conversation, role or workflow orientation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&amp; durability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Checkpointing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Pause/resume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Long-running tasks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Human-in-the-loop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Approval nodes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Interrupt and resume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Functions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MCP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APIs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Enterprise connectors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Traces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Node state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Token and cost attribution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Runtime model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Scaling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Security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Provider portability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21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CrewAI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Role-oriented collaboration for crews and task execution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Core abstractions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Agents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Tasks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Crews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Strengths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Readable role modeling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Fast workflow composition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Delegation concepts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Enterprise additions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Typed tools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External state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Identity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Policy gates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Tracing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Best-fit lens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Collaborative business workflows with recognizable roles and task ownership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22</a:t>
            </a:r>
            <a:endParaRPr lang="en-US" sz="6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DDEBF3-3F4E-EE47-5814-FF2191896684}"/>
              </a:ext>
            </a:extLst>
          </p:cNvPr>
          <p:cNvSpPr txBox="1"/>
          <p:nvPr/>
        </p:nvSpPr>
        <p:spPr>
          <a:xfrm>
            <a:off x="4761780" y="2831175"/>
            <a:ext cx="15567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Example: Role Oriented</a:t>
            </a:r>
          </a:p>
          <a:p>
            <a:r>
              <a:rPr lang="en-IN" sz="800" dirty="0"/>
              <a:t>Research Agent</a:t>
            </a:r>
          </a:p>
          <a:p>
            <a:r>
              <a:rPr lang="en-IN" sz="800" dirty="0"/>
              <a:t>      ↓</a:t>
            </a:r>
          </a:p>
          <a:p>
            <a:r>
              <a:rPr lang="en-IN" sz="800" dirty="0"/>
              <a:t>Policy Agent</a:t>
            </a:r>
          </a:p>
          <a:p>
            <a:r>
              <a:rPr lang="en-IN" sz="800" dirty="0"/>
              <a:t>      ↓</a:t>
            </a:r>
          </a:p>
          <a:p>
            <a:r>
              <a:rPr lang="en-IN" sz="800" dirty="0"/>
              <a:t>Reporting Agent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LangGraph Fundamentals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Model agent behavior as stateful nodes, edges and controlled transitions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23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Graph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Nodes perform work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Edges route control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State carries task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Checkpoint state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Resume execution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Support interruptions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Conditional routing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Cycles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Iteration limits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Human approval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Best-fit lens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Complex, stateful workflows requiring explicit control and inspectable execution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23</a:t>
            </a:r>
            <a:endParaRPr lang="en-US" sz="6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2E056-0447-D51A-A4DB-440B9BFF7694}"/>
              </a:ext>
            </a:extLst>
          </p:cNvPr>
          <p:cNvSpPr txBox="1"/>
          <p:nvPr/>
        </p:nvSpPr>
        <p:spPr>
          <a:xfrm>
            <a:off x="4045791" y="2461843"/>
            <a:ext cx="24606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Example: Graph with Conditional Routing</a:t>
            </a:r>
          </a:p>
          <a:p>
            <a:r>
              <a:rPr lang="en-US" sz="800" dirty="0">
                <a:solidFill>
                  <a:schemeClr val="bg1"/>
                </a:solidFill>
              </a:rPr>
              <a:t>START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Research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Evaluate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 ├── Good → END</a:t>
            </a:r>
          </a:p>
          <a:p>
            <a:r>
              <a:rPr lang="en-US" sz="800" dirty="0">
                <a:solidFill>
                  <a:schemeClr val="bg1"/>
                </a:solidFill>
              </a:rPr>
              <a:t> └── Bad → Research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Microsoft AutoGen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Conversation-oriented multi-agent patterns for collaborative task solving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24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Core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Conversable agents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Messages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Tools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Group interactions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Strengths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Rapid multi-agent experimentation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Flexible conversational coordination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Enterprise additions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Deterministic boundaries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Durable workflow state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Identity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Tool policy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Best-fit lens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Research, prototyping and collaborative agent interactions that benefit from dialogue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24</a:t>
            </a:r>
            <a:endParaRPr lang="en-US" sz="6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C1F3B-946D-E05D-2123-EACD810A4430}"/>
              </a:ext>
            </a:extLst>
          </p:cNvPr>
          <p:cNvSpPr txBox="1"/>
          <p:nvPr/>
        </p:nvSpPr>
        <p:spPr>
          <a:xfrm>
            <a:off x="4749782" y="3045614"/>
            <a:ext cx="1858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Example: Conversational</a:t>
            </a:r>
          </a:p>
          <a:p>
            <a:r>
              <a:rPr lang="en-IN" sz="800" dirty="0"/>
              <a:t>Agent A ↔ Agent B</a:t>
            </a:r>
          </a:p>
          <a:p>
            <a:r>
              <a:rPr lang="en-IN" sz="800" dirty="0"/>
              <a:t>                            ↕</a:t>
            </a:r>
          </a:p>
          <a:p>
            <a:r>
              <a:rPr lang="en-IN" sz="800" dirty="0"/>
              <a:t>                       Agent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A2A Communication Architecture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An enterprise agent network needs discovery, identity and task lifecycle contracts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card / capability description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Endpoint and supported interaction modes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 lifecycle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Submit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Status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Streaming / updates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Completion or failure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Artifacts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Typed outputs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Evidence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Files or structured 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Mutual trust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Authorization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Data minimization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Audit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Version compatibility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25</a:t>
            </a:r>
            <a:endParaRPr lang="en-US" sz="6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4217B5-F65F-826F-2862-E40B322E0DC8}"/>
              </a:ext>
            </a:extLst>
          </p:cNvPr>
          <p:cNvSpPr txBox="1"/>
          <p:nvPr/>
        </p:nvSpPr>
        <p:spPr>
          <a:xfrm>
            <a:off x="4968600" y="2122741"/>
            <a:ext cx="1858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Example: Lifecycle</a:t>
            </a:r>
          </a:p>
          <a:p>
            <a:r>
              <a:rPr lang="en-US" sz="800" dirty="0">
                <a:solidFill>
                  <a:schemeClr val="bg1"/>
                </a:solidFill>
              </a:rPr>
              <a:t>Discovery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Task submission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Status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Updates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Completion</a:t>
            </a:r>
          </a:p>
          <a:p>
            <a:r>
              <a:rPr lang="en-US" sz="800" dirty="0">
                <a:solidFill>
                  <a:schemeClr val="bg1"/>
                </a:solidFill>
              </a:rPr>
              <a:t> ↓</a:t>
            </a:r>
          </a:p>
          <a:p>
            <a:r>
              <a:rPr lang="en-US" sz="800" dirty="0">
                <a:solidFill>
                  <a:schemeClr val="bg1"/>
                </a:solidFill>
              </a:rPr>
              <a:t>Artifacts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Hands-on: Multi-Agent Business Workflow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Lab outcome: a supervisor coordinates research, policy and execution agents with one approval gate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26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Intake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Business 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Plan + route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Gather evidence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Validate rules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Human decision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Commit +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26</a:t>
            </a:r>
            <a:endParaRPr lang="en-US" sz="6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BC36F2-3A5D-BE13-E655-0CB926A7FE11}"/>
              </a:ext>
            </a:extLst>
          </p:cNvPr>
          <p:cNvSpPr txBox="1"/>
          <p:nvPr/>
        </p:nvSpPr>
        <p:spPr>
          <a:xfrm>
            <a:off x="3241462" y="3703320"/>
            <a:ext cx="60945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User</a:t>
            </a:r>
          </a:p>
          <a:p>
            <a:r>
              <a:rPr lang="en-IN" dirty="0">
                <a:solidFill>
                  <a:schemeClr val="bg1"/>
                </a:solidFill>
              </a:rPr>
              <a:t> ↓</a:t>
            </a:r>
          </a:p>
          <a:p>
            <a:r>
              <a:rPr lang="en-IN" dirty="0">
                <a:solidFill>
                  <a:schemeClr val="bg1"/>
                </a:solidFill>
              </a:rPr>
              <a:t>Supervisor</a:t>
            </a:r>
          </a:p>
          <a:p>
            <a:r>
              <a:rPr lang="en-IN" dirty="0">
                <a:solidFill>
                  <a:schemeClr val="bg1"/>
                </a:solidFill>
              </a:rPr>
              <a:t> ↓</a:t>
            </a:r>
          </a:p>
          <a:p>
            <a:r>
              <a:rPr lang="en-IN" dirty="0">
                <a:solidFill>
                  <a:schemeClr val="bg1"/>
                </a:solidFill>
              </a:rPr>
              <a:t>Research Agent</a:t>
            </a:r>
          </a:p>
          <a:p>
            <a:r>
              <a:rPr lang="en-IN" dirty="0">
                <a:solidFill>
                  <a:schemeClr val="bg1"/>
                </a:solidFill>
              </a:rPr>
              <a:t> ↓</a:t>
            </a:r>
          </a:p>
          <a:p>
            <a:r>
              <a:rPr lang="en-IN" dirty="0">
                <a:solidFill>
                  <a:schemeClr val="bg1"/>
                </a:solidFill>
              </a:rPr>
              <a:t>Policy Agent</a:t>
            </a:r>
          </a:p>
          <a:p>
            <a:r>
              <a:rPr lang="en-IN" dirty="0">
                <a:solidFill>
                  <a:schemeClr val="bg1"/>
                </a:solidFill>
              </a:rPr>
              <a:t> ↓</a:t>
            </a:r>
          </a:p>
          <a:p>
            <a:r>
              <a:rPr lang="en-IN" dirty="0">
                <a:solidFill>
                  <a:schemeClr val="bg1"/>
                </a:solidFill>
              </a:rPr>
              <a:t>Human Approval</a:t>
            </a:r>
          </a:p>
          <a:p>
            <a:r>
              <a:rPr lang="en-IN" dirty="0">
                <a:solidFill>
                  <a:schemeClr val="bg1"/>
                </a:solidFill>
              </a:rPr>
              <a:t> ↓</a:t>
            </a:r>
          </a:p>
          <a:p>
            <a:r>
              <a:rPr lang="en-IN" dirty="0">
                <a:solidFill>
                  <a:schemeClr val="bg1"/>
                </a:solidFill>
              </a:rPr>
              <a:t>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Enterprise Integration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05156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C6E3"/>
                </a:solidFill>
              </a:rPr>
              <a:t>1 Hour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05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Enterprise Integration Architecture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28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Integrating Agents with Enterprise Systems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APIs and Microservices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ERP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88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CRM Integration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73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03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SQL and NoSQL Databases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73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Event Streaming Platforms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3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3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Enterprise Service Bus (ESB)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03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Enterprise Data Governance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e651342579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E">
              <a:alpha val="62000"/>
            </a:srgbClr>
          </a:solidFill>
          <a:ln w="12700">
            <a:solidFill>
              <a:srgbClr val="0814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Enterprise Integration Architecture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12648" y="868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Agents should integrate through governed contracts, not direct unrestricted connectivity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" y="4956048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8142E">
              <a:alpha val="86000"/>
            </a:srgbClr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C9D2"/>
                </a:solidFill>
              </a:rPr>
              <a:t>Use APIs for commands, events for facts, retrieval for knowledge, and approvals for consequential actions.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1" name="Text 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Agent Integration Patterns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Select the interface by consistency, latency and ownership needs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30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Synchronous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Immediate request/response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Schema validation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Timeout and circuit breaker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Asynchronous event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Loose coupling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Replay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Independent scaling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Eventual consistency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Workflow / BPM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Durable state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Human tasks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Compensation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access 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Avoid raw credentials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Enforce row/column policy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Typed 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connector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Read-only knowledge grounding with source attribution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RPA adapter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Legacy UI bridge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Use only with strong controls and monitoring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30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APIs &amp; Microservices for Agents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Expose business capabilities as safe, narrow and observable tools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31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Authentication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Rate limits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Input limits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Threat protection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Tool façade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Task-oriented operation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Minimal parameters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Policy-aware defaults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Contract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OpenAPI / JSON schema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Versioning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Idempotency key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Correlation 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Resilience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Timeout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Retry budget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Circuit breaker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Fallback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Compensation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Trace agent → tool → system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Capture latency, errors and business outcome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Security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On-behalf-of identity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Least privilege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Secrets isolation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Egress control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31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ERP &amp; CRM Integration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Preserve system-of-record controls while enabling agent-assisted workflows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32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Retrieve customer, order, contract, inventory or finance context through governed services.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Write pattern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Draft proposed changes and require approval for high-impact transactions.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 pattern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Trigger existing workflow, case or service operation rather than bypassing process controls.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controls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Field-level authorization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PII minimization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Audit user and agent identity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Reconciliation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32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SQL &amp; NoSQL Database Integration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Choose access patterns that protect systems of record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Strong schema and relationships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Parameterized query service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Read replicas for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Document / key-value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Flexible task state and memory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Partition key design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TTL and conditional writes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Vector store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Similarity retrieval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Metadata filters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Embedding lifecycle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Graph store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Entity relationships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Multi-hop traversal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Semantic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Agent safeguards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No arbitrary SQL in production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Allowlisted operations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Read-only by default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Freshness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Schema drift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Missing data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Reconciliation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Lineage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33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Event Streaming &amp; ESB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Events distribute facts; an ESB mediates enterprise services and transformations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Business event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Broker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Topic / stream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Contract registry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Consume + decide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Execute 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Outcome event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34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Enterprise Data Governance for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Govern every path from source to context to action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Data owner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Product owner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Agent owner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Control owner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Public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Internal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Confidential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Regulated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Identity-aware retrieval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Row/document filtering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Purpose limitation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Source → chunk → context → response → 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Lifecycle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Freshness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Retention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Deletion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Versioning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Legal hold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&amp; risk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Accuracy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Completeness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Bias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Leakage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Prompt injection in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Hands-on: Enterprise Database &amp; API Integration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Lab outcome: an agent reads governed data, calls an API and records an auditable result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36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Authenticate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User +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Read-only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Apply 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Invoke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Typed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Outcome record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End-to-end audit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MODULE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Scalability, Deployment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Cloud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051560" cy="384048"/>
          </a:xfrm>
          <a:prstGeom prst="roundRect">
            <a:avLst>
              <a:gd name="adj" fmla="val 23810"/>
            </a:avLst>
          </a:prstGeom>
          <a:solidFill>
            <a:srgbClr val="304582"/>
          </a:solidFill>
          <a:ln w="12700">
            <a:solidFill>
              <a:srgbClr val="304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C6E3"/>
                </a:solidFill>
              </a:rPr>
              <a:t>1 Hour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37</a:t>
            </a:r>
            <a:endParaRPr lang="en-US" sz="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MODULE 06 · TOPICS COVERED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Scalability, Deployment &amp; Cloud Architecture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38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Cloud-Native AI Architecture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Kubernetes for Agentic 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Containerization using Docker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58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88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Distributed Agent Deployment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9047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73952" y="15864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0372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Serverless AI Patterns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258775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73952" y="26837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03720" y="2615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Load Balancing Strategies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68503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3952" y="37810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7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3720" y="37124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High Availability and Fault Tolerance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782312"/>
            <a:ext cx="347472" cy="34747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487832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340"/>
                </a:solidFill>
              </a:rPr>
              <a:t>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03720" y="48097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</a:rPr>
              <a:t>Cost Optimization Strategies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38</a:t>
            </a:r>
            <a:endParaRPr lang="en-US" sz="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Cloud-Native Agentic AI Architecture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Separate the control plane, execution plane and data plane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Experience plane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Web, mobile, Teams and enterprise applications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plane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Gateway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Identity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Policy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Orchestrator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Workflow state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plane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Model gateway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Prompt registry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Embedding and reranking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Execution plane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Tool adapters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Code sandbox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Microservices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Serverless workers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plane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Knowledge stores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Operational DBs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Caches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Streams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Operations plane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CI/CD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Observability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Evaluation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Security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FinOps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39</a:t>
            </a:r>
            <a:endParaRPr lang="en-US" sz="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Kubernetes for Agentic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Use Kubernetes when workloads need portable, controlled and independently scalable runtimes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Workload units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Agent API deployment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Worker jobs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Ingestion jobs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Tool services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Scaling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Horizontal Pod Autoscaler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KEDA / queue depth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Cluster autoscaling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Isolation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Namespaces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Service accounts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Network policies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Pod security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Reliability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Readiness/liveness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Disruption budgets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Anti-affinity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Rolling updates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State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External checkpoints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Managed databases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Object storage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Avoid pod-local memory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Metrics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Logs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Traces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Model/tool spans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SLO dashboards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40</a:t>
            </a:r>
            <a:endParaRPr lang="en-US" sz="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Containerization using Docker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Package agent runtimes as immutable, reproducible and minimal artifacts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Image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Small base image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Pinned dependencies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Non-root user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No embedded secrets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Runtime contract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Health endpoint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Configuration via environment / files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Graceful shutdown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Supply chain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SBOM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Image signing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Vulnerability scanning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Trusted registry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AI-specific concerns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Model assets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Tokenizer versions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Native libraries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Cold-start profile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41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Distributed Agent Deployment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Partition by capability and scale each execution path independently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42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Route tenant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Own task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Queue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Buffer 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Scale by skill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Isolated access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Checkpoint + audit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42</a:t>
            </a:r>
            <a:endParaRPr lang="en-US" sz="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Serverless AI Patterns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Use serverless for bursty, short-lived and event-driven agent components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Good fit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Webhook tools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Event handlers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Document processing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Scheduled evaluation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Benefits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Scale to zero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Managed operations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Fast event integration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Watch-outs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Execution duration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Cold starts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Payload limits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Connection management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Hybrid pattern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Serverless ingress + durable orchestration + containerized long-running workers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43</a:t>
            </a:r>
            <a:endParaRPr lang="en-US" sz="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Load Balancing Strategies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Balance more than HTTP requests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44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traffic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L7 load balancer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Session strategy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Rate limiting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Tenant fairness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traffic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Provider/model routing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Quota awareness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Latency/cost policy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Fallback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 queues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Competing consumers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Priority queues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Backpressure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Dead-letter queue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Knowledge services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Read replicas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Shard routing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Cache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Hot-partition controls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2" name="Text 20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44</a:t>
            </a:r>
            <a:endParaRPr lang="en-US" sz="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High Availability &amp; Fault Tolerance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Design every external dependency as fallible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45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Failure domains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Multiple zones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Regional strategy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Provider dependency mapping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Durable 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Checkpoint before/after actions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Resume safely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Exactly-once business effect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Resilience controls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Timeouts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Retries with jitter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Circuit breakers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Bulkheads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Degraded modes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Fallback model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Read-only operation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Human queue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Cached knowledge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Recovery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Backups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Runbooks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Chaos tests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RTO/RPO objectives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Idempotency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Compensation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Kill switch</a:t>
            </a:r>
            <a:endParaRPr lang="en-US" sz="1000" dirty="0"/>
          </a:p>
          <a:p>
            <a:r>
              <a:rPr lang="en-US" sz="1000" dirty="0">
                <a:solidFill>
                  <a:srgbClr val="5B6785"/>
                </a:solidFill>
              </a:rPr>
              <a:t>Approval for recovery changes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45</a:t>
            </a:r>
            <a:endParaRPr lang="en-US" sz="6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Cost Optimization Strategies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Optimize cost per successful business outcome, not cost per token alone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46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86384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economics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Route by complexity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Use smaller models where sufficient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Cache stable results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4736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529328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Prompt &amp; 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9328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Reduce redundant context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Retrieve fewer better chunks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Summarize state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7680" y="1417320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272272" y="1554480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2272" y="1920240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Autoscale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Right-size CPU/GPU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Scale ingestion separately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Use serverless selectively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786384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 &amp; retrieval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Lifecycle old embeddings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Tune indexes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Cache hot knowledge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4736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4529328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behavior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Iteration budget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Tool-call budget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Stop conditions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Avoid agent loops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982212"/>
            <a:ext cx="3486912" cy="2235708"/>
          </a:xfrm>
          <a:prstGeom prst="roundRect">
            <a:avLst>
              <a:gd name="adj" fmla="val 4908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E35D6A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8272272" y="4119372"/>
            <a:ext cx="3157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FinOps metrics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2272" y="4485132"/>
            <a:ext cx="3157728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Cost per task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Cost per successful action</a:t>
            </a:r>
            <a:endParaRPr lang="en-US" sz="1000" dirty="0"/>
          </a:p>
          <a:p>
            <a:r>
              <a:rPr lang="en-US" sz="1000" dirty="0">
                <a:solidFill>
                  <a:srgbClr val="F5F8FC"/>
                </a:solidFill>
              </a:rPr>
              <a:t>Tenant / feature chargeback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46</a:t>
            </a:r>
            <a:endParaRPr lang="en-US" sz="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Hands-on: Deploying Agents on Kubernetes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6E3"/>
                </a:solidFill>
              </a:rPr>
              <a:t>Lab outcome: containerize, deploy, expose, scale and observe an agent service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CC9D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47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Package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Docker image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2377440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Config + secret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4133088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4242816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2816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K8s manifest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96128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Shape 19"/>
          <p:cNvSpPr/>
          <p:nvPr/>
        </p:nvSpPr>
        <p:spPr>
          <a:xfrm>
            <a:off x="5888736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5998464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98464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Service / ingress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51776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5" name="Shape 23"/>
          <p:cNvSpPr/>
          <p:nvPr/>
        </p:nvSpPr>
        <p:spPr>
          <a:xfrm>
            <a:off x="7644384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7C5BDC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7754112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HPA / queue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07424" y="2752344"/>
            <a:ext cx="228600" cy="274320"/>
          </a:xfrm>
          <a:prstGeom prst="chevron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9" name="Shape 27"/>
          <p:cNvSpPr/>
          <p:nvPr/>
        </p:nvSpPr>
        <p:spPr>
          <a:xfrm>
            <a:off x="9400032" y="2331720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2670DD">
              <a:alpha val="95000"/>
            </a:srgbClr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9509760" y="256032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953512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8FC"/>
                </a:solidFill>
              </a:rPr>
              <a:t>Logs + metrics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47</a:t>
            </a:r>
            <a:endParaRPr lang="en-US" sz="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340"/>
                </a:solidFill>
              </a:rPr>
              <a:t>KEY TAKEAWAYS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85"/>
                </a:solidFill>
              </a:rPr>
              <a:t>From intelligent components to scalable enterprise deployment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10972800" cy="1"/>
          </a:xfrm>
          <a:prstGeom prst="line">
            <a:avLst/>
          </a:prstGeom>
          <a:noFill/>
          <a:ln w="12700">
            <a:solidFill>
              <a:srgbClr val="2670D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48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670DD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Grounded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Separate models, prompts, tools, memory and knowledge into governed components.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Explicit orchestration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Use role, state, protocol and task contracts for multi-agent collaboration.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86384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Governed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Connect through APIs, events and data services without bypassing systems of record.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3982212"/>
            <a:ext cx="5358384" cy="2235708"/>
          </a:xfrm>
          <a:prstGeom prst="roundRect">
            <a:avLst>
              <a:gd name="adj" fmla="val 4908"/>
            </a:avLst>
          </a:prstGeom>
          <a:solidFill>
            <a:srgbClr val="F0F4FC"/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00800" y="41193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</a:rPr>
              <a:t>Cloud operability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485132"/>
            <a:ext cx="5029200" cy="1623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5B6785"/>
                </a:solidFill>
              </a:rPr>
              <a:t>Containerize, scale, recover and optimize agents as production distributed systems.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5B6785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785"/>
                </a:solidFill>
              </a:rPr>
              <a:t>48</a:t>
            </a:r>
            <a:endParaRPr lang="en-US" sz="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</a:rPr>
              <a:t>Take Home Assignment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E3"/>
                </a:solidFill>
              </a:rPr>
              <a:t>Design and Develop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89611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Agentic RAG with one typed tool and citations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51967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Multi-agent workflow with supervisor, specialist workers and approval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89611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Enterprise integration using one database, one API and one event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51967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Docker + Kubernetes deployment with health checks, scaling and telemetry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49</a:t>
            </a:r>
            <a:endParaRPr lang="en-US" sz="6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EE1EE-D715-EEAF-1E83-22CA1B2AECA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AD70DC-21E8-57D3-4A6B-1EC3765F1FEC}"/>
              </a:ext>
            </a:extLst>
          </p:cNvPr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F5E1AB-EB87-E214-DCF6-87026F0CF91A}"/>
              </a:ext>
            </a:extLst>
          </p:cNvPr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08E9F1-55E4-72E6-41D9-03B54BEE1596}"/>
              </a:ext>
            </a:extLst>
          </p:cNvPr>
          <p:cNvSpPr/>
          <p:nvPr/>
        </p:nvSpPr>
        <p:spPr>
          <a:xfrm>
            <a:off x="7315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</a:rPr>
              <a:t>Demos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A71392-2130-7682-9F5B-0812031171DE}"/>
              </a:ext>
            </a:extLst>
          </p:cNvPr>
          <p:cNvSpPr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E3"/>
                </a:solidFill>
              </a:rPr>
              <a:t>Hands-On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E4124A-FECE-B802-1F81-CAC7C3C563A0}"/>
              </a:ext>
            </a:extLst>
          </p:cNvPr>
          <p:cNvSpPr/>
          <p:nvPr/>
        </p:nvSpPr>
        <p:spPr>
          <a:xfrm>
            <a:off x="73152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CC9D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5235A7-C634-814E-4867-402193E2169E}"/>
              </a:ext>
            </a:extLst>
          </p:cNvPr>
          <p:cNvSpPr/>
          <p:nvPr/>
        </p:nvSpPr>
        <p:spPr>
          <a:xfrm>
            <a:off x="89611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1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18D3A3-6866-4839-4F93-43AC498904C5}"/>
              </a:ext>
            </a:extLst>
          </p:cNvPr>
          <p:cNvSpPr/>
          <p:nvPr/>
        </p:nvSpPr>
        <p:spPr>
          <a:xfrm>
            <a:off x="89611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1: Iterative Writer-Critic Refinement Graph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C744FFC-FD0F-800D-428B-2932F1DFDE15}"/>
              </a:ext>
            </a:extLst>
          </p:cNvPr>
          <p:cNvSpPr/>
          <p:nvPr/>
        </p:nvSpPr>
        <p:spPr>
          <a:xfrm>
            <a:off x="6355080" y="20116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7C5BDC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3E99D42-E6D0-E013-1716-789F5CFE8FA6}"/>
              </a:ext>
            </a:extLst>
          </p:cNvPr>
          <p:cNvSpPr/>
          <p:nvPr/>
        </p:nvSpPr>
        <p:spPr>
          <a:xfrm>
            <a:off x="6519672" y="21488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2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441177-8CDC-5D62-4DAB-BCBFD60E2727}"/>
              </a:ext>
            </a:extLst>
          </p:cNvPr>
          <p:cNvSpPr/>
          <p:nvPr/>
        </p:nvSpPr>
        <p:spPr>
          <a:xfrm>
            <a:off x="6519672" y="25146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Agent 2: Hierarchical Multi-Agent Supervisor System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803D051-1C20-C590-74A1-C651CB5645FB}"/>
              </a:ext>
            </a:extLst>
          </p:cNvPr>
          <p:cNvSpPr/>
          <p:nvPr/>
        </p:nvSpPr>
        <p:spPr>
          <a:xfrm>
            <a:off x="73152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8565C3-46A2-8A13-EC60-1383B88B4B2E}"/>
              </a:ext>
            </a:extLst>
          </p:cNvPr>
          <p:cNvSpPr/>
          <p:nvPr/>
        </p:nvSpPr>
        <p:spPr>
          <a:xfrm>
            <a:off x="89611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Clinical Agent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C466769-43DE-B2B0-BFB3-5F9CE33023E1}"/>
              </a:ext>
            </a:extLst>
          </p:cNvPr>
          <p:cNvSpPr/>
          <p:nvPr/>
        </p:nvSpPr>
        <p:spPr>
          <a:xfrm>
            <a:off x="89611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Plan-and-Solve / Multi-Step Sequential Reasoning Pattern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F2A600-7D55-EC32-9DCC-A39662E2817D}"/>
              </a:ext>
            </a:extLst>
          </p:cNvPr>
          <p:cNvSpPr/>
          <p:nvPr/>
        </p:nvSpPr>
        <p:spPr>
          <a:xfrm>
            <a:off x="6355080" y="3611880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FFB627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01D336-82D4-AC81-DCE4-450845E94543}"/>
              </a:ext>
            </a:extLst>
          </p:cNvPr>
          <p:cNvSpPr/>
          <p:nvPr/>
        </p:nvSpPr>
        <p:spPr>
          <a:xfrm>
            <a:off x="6519672" y="3749040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Superpowers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C2DBD9D-CCDD-A1A1-1FE0-BB282BFD69F8}"/>
              </a:ext>
            </a:extLst>
          </p:cNvPr>
          <p:cNvSpPr/>
          <p:nvPr/>
        </p:nvSpPr>
        <p:spPr>
          <a:xfrm>
            <a:off x="6519672" y="4114800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AI-DLC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2CF704-2F6B-E469-5317-82ED17CB5AE7}"/>
              </a:ext>
            </a:extLst>
          </p:cNvPr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0B3859B-9C50-CD40-5A36-073D9219852A}"/>
              </a:ext>
            </a:extLst>
          </p:cNvPr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49</a:t>
            </a:r>
            <a:endParaRPr lang="en-US" sz="65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805D3BEA-CE9C-31F9-878D-BA1EFB5C35E1}"/>
              </a:ext>
            </a:extLst>
          </p:cNvPr>
          <p:cNvSpPr/>
          <p:nvPr/>
        </p:nvSpPr>
        <p:spPr>
          <a:xfrm>
            <a:off x="4274101" y="5254349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122A52">
              <a:alpha val="95000"/>
            </a:srgbClr>
          </a:solidFill>
          <a:ln w="10160">
            <a:solidFill>
              <a:srgbClr val="2FBE82">
                <a:alpha val="65000"/>
              </a:srgbClr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8B9585BC-2A4E-82CE-AD6E-ED4C158EC54A}"/>
              </a:ext>
            </a:extLst>
          </p:cNvPr>
          <p:cNvSpPr/>
          <p:nvPr/>
        </p:nvSpPr>
        <p:spPr>
          <a:xfrm>
            <a:off x="4438693" y="5391509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Quiz</a:t>
            </a:r>
            <a:endParaRPr lang="en-US" sz="14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40C66E0-4200-24DD-17DF-41BCE95DD068}"/>
              </a:ext>
            </a:extLst>
          </p:cNvPr>
          <p:cNvSpPr/>
          <p:nvPr/>
        </p:nvSpPr>
        <p:spPr>
          <a:xfrm>
            <a:off x="4438693" y="5757269"/>
            <a:ext cx="4837176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000" dirty="0">
                <a:solidFill>
                  <a:srgbClr val="F5F8FC"/>
                </a:solidFill>
              </a:rPr>
              <a:t>Live Interactive Reasoning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8891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195560" y="228600"/>
            <a:ext cx="1508760" cy="1508760"/>
          </a:xfrm>
          <a:prstGeom prst="ellipse">
            <a:avLst/>
          </a:prstGeom>
          <a:solidFill>
            <a:srgbClr val="253A82">
              <a:alpha val="42000"/>
            </a:srgbClr>
          </a:solidFill>
          <a:ln w="7620">
            <a:solidFill>
              <a:srgbClr val="FFB62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5212080"/>
            <a:ext cx="1234440" cy="1234440"/>
          </a:xfrm>
          <a:prstGeom prst="ellipse">
            <a:avLst/>
          </a:prstGeom>
          <a:solidFill>
            <a:srgbClr val="223575">
              <a:alpha val="36000"/>
            </a:srgbClr>
          </a:solidFill>
          <a:ln w="12700">
            <a:solidFill>
              <a:srgbClr val="2670D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Questions &amp; Architecture Discussion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Chandravadhana TK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Senior AI/ML Architect, UHG-Optum.AI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6E3"/>
                </a:solidFill>
              </a:rPr>
              <a:t>Research Scholar, CEG Anna University Guindy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4846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C9D2"/>
                </a:solidFill>
              </a:rPr>
              <a:t>Modules 3–6 · LLMs &amp; Knowledge · Multi-Agent Systems · Integration · Cloud Deployment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8B93B8"/>
                </a:solidFill>
              </a:rPr>
              <a:t>Scalable Enterprise Architectural Deployments of Agentic AI Solutions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11384280" y="64922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5070</Words>
  <Application>Microsoft Office PowerPoint</Application>
  <PresentationFormat>Widescreen</PresentationFormat>
  <Paragraphs>1286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CEG, Anna University Guindy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Enterprise Architectural Deployments of Agentic AI Solutions, Week 2</dc:title>
  <dc:subject>Industry Oriented Course, Modules 3-6</dc:subject>
  <dc:creator>Thustu Kumaran, Chandravadhana</dc:creator>
  <cp:lastModifiedBy>Chandravadhana Thustu Kumaran</cp:lastModifiedBy>
  <cp:revision>75</cp:revision>
  <dcterms:created xsi:type="dcterms:W3CDTF">2026-08-28T16:37:57Z</dcterms:created>
  <dcterms:modified xsi:type="dcterms:W3CDTF">2026-08-29T01:13:01Z</dcterms:modified>
</cp:coreProperties>
</file>
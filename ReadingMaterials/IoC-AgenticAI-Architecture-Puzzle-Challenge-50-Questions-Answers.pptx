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Questions and answers are instructional content derived from the user-provided IOC syllabus and the attached prior-session presentation.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4008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B627"/>
                </a:solidFill>
              </a:rPr>
              <a:t>INDUSTRY ORIENTED COURSE – CEG, Anna University Guindy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144475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Agentic AI Architecture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Puzzle Challenge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C6E3"/>
                </a:solidFill>
              </a:rPr>
              <a:t>50 questions · 50 answers · Each answer follows its question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6537960" cy="960120"/>
          </a:xfrm>
          <a:prstGeom prst="roundRect">
            <a:avLst>
              <a:gd name="adj" fmla="val 11429"/>
            </a:avLst>
          </a:prstGeom>
          <a:solidFill>
            <a:srgbClr val="122A52"/>
          </a:solidFill>
          <a:ln w="12700">
            <a:solidFill>
              <a:srgbClr val="2CC9D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96512"/>
            <a:ext cx="5989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8FC"/>
                </a:solidFill>
              </a:rPr>
              <a:t>Coverage: Foundations · Design Patterns · LLMs, Tools, Memory &amp; RAG · Multi-Agent Orchestration · Enterprise Integration · Cloud Deployment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52578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C9D2"/>
                </a:solidFill>
              </a:rPr>
              <a:t>Chandravadhana TK · Senior AI/ML Architect, UHG-Optum.AI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B627"/>
                </a:solidFill>
              </a:rPr>
              <a:t>HOW TO PLAY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2618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 the puzzle deck as an interactive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2670DD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98548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8FC"/>
                </a:solidFill>
              </a:rPr>
              <a:t>Show the question slide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384048" cy="384048"/>
          </a:xfrm>
          <a:prstGeom prst="ellipse">
            <a:avLst/>
          </a:prstGeom>
          <a:solidFill>
            <a:srgbClr val="7C5BD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830068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417320" y="277063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8FC"/>
                </a:solidFill>
              </a:rPr>
              <a:t>Give teams 30–60 seconds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2670DD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561588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417320" y="350215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8FC"/>
                </a:solidFill>
              </a:rPr>
              <a:t>Ask for reasoning, not only the answer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7C5BD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4293108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7320" y="42336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8FC"/>
                </a:solidFill>
              </a:rPr>
              <a:t>Advance to the answer slide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384048" cy="384048"/>
          </a:xfrm>
          <a:prstGeom prst="ellipse">
            <a:avLst/>
          </a:prstGeom>
          <a:solidFill>
            <a:srgbClr val="2670DD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5024628"/>
            <a:ext cx="155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417320" y="496519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8FC"/>
                </a:solidFill>
              </a:rPr>
              <a:t>Award 1 point for answer + 1 for rationale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196596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1392" y="2075688"/>
            <a:ext cx="19568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100 CONTENT SLIDES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8778240" y="256032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51392" y="2670048"/>
            <a:ext cx="19568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6 MODULES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8778240" y="315468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1392" y="3264408"/>
            <a:ext cx="19568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SCENARIO-BASED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778240" y="374904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51392" y="3858768"/>
            <a:ext cx="19568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ARCHITECTURE FOCUSED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01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Assistant or Agent?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670DD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system summarizes a policy document and stops. It cannot call tools or change any system. Is this best classified as an assistant or an agent?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01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Assistant or Agent?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system summarizes a policy document and stops. It cannot call tools or change any system. Is this best classified as an assistant or an agent?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Assistant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It produces information but does not pursue a goal through tools or actions.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02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Missing Layer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670DD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An architecture has a user interface, LLM, vector store and APIs, but no component decides which tool to call or in what order. Which layer is missing?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02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Missing Layer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An architecture has a user interface, LLM, vector store and APIs, but no component decides which tool to call or in what order. Which layer is missing?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Agent orchestration layer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orchestrator coordinates intent, planning, routing, tool use and workflow progression.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03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Autonomy Boundary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670DD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An agent may recommend a refund, but a person must approve before money moves. Which autonomy level is this?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03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Autonomy Boundary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An agent may recommend a refund, but a person must approve before money moves. Which autonomy level is this?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Approve / human-in-the-loop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agent prepares the action, while the consequential transaction remains human-authorized.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04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Blast-Radius Puzzle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670DD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Two agents make the same error. Agent A only drafts text. Agent B updates the production database. Which agent needs stronger controls, and why?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04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Blast-Radius Puzzle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Two agents make the same error. Agent A only drafts text. Agent B updates the production database. Which agent needs stronger controls, and why?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Agent B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database-writing agent has a larger operational blast radius because its action changes a system of record.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05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View Match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670DD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Ownership, decision rights, business outcomes and value streams belong primarily to which enterprise architecture view?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05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Architecture View Match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Ownership, decision rights, business outcomes and value streams belong primarily to which enterprise architecture view?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Business architecture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Business architecture defines capabilities, outcomes, accountability and operating context.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06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Lifecycle Order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670DD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Arrange these lifecycle stages in a sensible order: Operate, Discover, Evaluate, Design, Deploy, Build.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06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Lifecycle Order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Arrange these lifecycle stages in a sensible order: Operate, Discover, Evaluate, Design, Deploy, Build.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Discover → Design → Build → Evaluate → Deploy → Operate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sequence moves from use-case fit to controlled production operation.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07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Constrained Autonomy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670DD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Name three controls that define a constrained autonomy zone.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15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07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Constrained Autonomy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Name three controls that define a constrained autonomy zone.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Approval checkpoints, explicit exit conditions and a kill switch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These controls bound when the agent may continue, must stop or must escalate.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16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08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Human or Machine?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670DD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task is high impact, difficult to reverse and low confidence. Should the final decision be autonomous or human-approved?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17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01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08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Human or Machine?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task is high impact, difficult to reverse and low confidence. Should the final decision be autonomous or human-approved?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Human-approved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High impact, low reversibility and low confidence call for a human decision gate.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Foundations of Agentic AI &amp; Enterprise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18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09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Choose the Simplest Pattern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7C5BDC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One bounded goal uses three stable tools and has no cross-domain delegation. Which pattern should be the default?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19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09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Choose the Simplest Pattern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One bounded goal uses three stable tools and has no cross-domain delegation. Which pattern should be the default?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Single-agent architecture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 single agent minimizes coordination overhead while still supporting dynamic tool use.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20</a:t>
            </a:r>
            <a:endParaRPr lang="en-US" sz="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Who Coordinates?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7C5BDC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research agent, policy agent and execution agent must work under one component that routes tasks and combines results. Which pattern fits?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21</a:t>
            </a:r>
            <a:endParaRPr lang="en-US" sz="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Who Coordinates?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research agent, policy agent and execution agent must work under one component that routes tasks and combines results. Which pattern fits?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Supervisor-agent pattern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 supervisor delegates to specialists and aggregates the outcome.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22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Plan Before Action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7C5BDC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business goal must be decomposed into dependent steps before tools execute. Which pattern fits?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23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 Before Action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business goal must be decomposed into dependent steps before tools execute. Which pattern fits?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Planner-executor pattern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planner creates the task path, and executors perform bounded steps.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24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Quality Loop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7C5BDC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An agent drafts an answer, checks it against a rubric, revises it and only then returns it. Which pattern is used?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25</a:t>
            </a:r>
            <a:endParaRPr lang="en-US" sz="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Quality Loop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An agent drafts an answer, checks it against a rubric, revises it and only then returns it. Which pattern is used?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Reflection and self-correction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agent evaluates and improves an intermediate result before finalizing.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26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Long-Running Work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7C5BDC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claims workflow may pause for two days while waiting for approval. Which architectural property is essential?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27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Long-Running Work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claims workflow may pause for two days while waiting for approval. Which architectural property is essential?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Durable workflow state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workflow must persist state so it can resume safely after the wait.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28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Event or Request?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7C5BDC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new customer case appears on a queue and should automatically trigger triage. Which pattern is most appropriate?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29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Event or Request?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new customer case appears on a queue and should automatically trigger triage. Which pattern is most appropriate?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Event-driven agent architecture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business event initiates asynchronous agent processing.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30</a:t>
            </a:r>
            <a:endParaRPr lang="en-US" sz="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Infinite Loop Trap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7C5BDC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reflection agent keeps revising forever. What control is missing?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31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Infinite Loop Trap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reflection agent keeps revising forever. What control is missing?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Iteration limit or retry budget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 bounded loop needs a maximum number of attempts and a stop or escalation condition.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32</a:t>
            </a:r>
            <a:endParaRPr lang="en-US" sz="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Pattern Selection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7C5BDC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Multiple specialists can analyze the same input independently and results can be merged. Sequential or concurrent orchestration?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33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Pattern Selection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Multiple specialists can analyze the same input independently and results can be merged. Sequential or concurrent orchestration?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Concurrent orchestration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Independent work can run in parallel and then be aggregated.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34</a:t>
            </a:r>
            <a:endParaRPr lang="en-US" sz="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Auditability Puzzle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7C5BDC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Which is easier to audit for a compliance process: an unconstrained dynamic loop or a deterministic workflow with explicit gates?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35</a:t>
            </a:r>
            <a:endParaRPr lang="en-US" sz="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02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Auditability Puzzle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Which is easier to audit for a compliance process: an unconstrained dynamic loop or a deterministic workflow with explicit gates?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 deterministic workflow with explicit gates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path, approvals and transitions are visible and repeatable.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AI Agent Design Patterns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36</a:t>
            </a:r>
            <a:endParaRPr lang="en-US" sz="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Selection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Model X scores highest on a public benchmark. Model Y has lower latency, reliable tool calling, private deployment and better domain evaluation results. Which model is the enterprise choice?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37</a:t>
            </a:r>
            <a:endParaRPr lang="en-US" sz="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Selection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Model X scores highest on a public benchmark. Model Y has lower latency, reliable tool calling, private deployment and better domain evaluation results. Which model is the enterprise choice?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Model 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Enterprise selection should prioritize workload fitness, controls and operational requirements over benchmark popularity.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38</a:t>
            </a:r>
            <a:endParaRPr lang="en-US" sz="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19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 Contract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What four elements should an agent prompt define beyond the role?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39</a:t>
            </a:r>
            <a:endParaRPr lang="en-US" sz="6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19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Prompt Contract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What four elements should an agent prompt define beyond the role?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Objective, context policy, tool policy and output contract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These elements bound behavior, trusted context, actions and response format.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40</a:t>
            </a:r>
            <a:endParaRPr lang="en-US" sz="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Safe Tool Call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An LLM generates function arguments. What must happen before execution?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41</a:t>
            </a:r>
            <a:endParaRPr lang="en-US" sz="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Safe Tool Call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An LLM generates function arguments. What must happen before execution?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Schema validation and authorization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Arguments must be typed and the requested action must be permitted for the identity and context.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42</a:t>
            </a:r>
            <a:endParaRPr lang="en-US" sz="6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RAG Order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Arrange the pipeline: Retrieve, Generate, Ingest, Rerank, Index, Chunk.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43</a:t>
            </a:r>
            <a:endParaRPr lang="en-US" sz="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RAG Order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Arrange the pipeline: Retrieve, Generate, Ingest, Rerank, Index, Chunk.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Ingest → Chunk → Index → Retrieve → Rerank → Generate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content is prepared before search, then evidence is prioritized before generation.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44</a:t>
            </a:r>
            <a:endParaRPr lang="en-US" sz="6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Vector DB Myth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True or false: a vector database alone guarantees accurate RAG answers.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45</a:t>
            </a:r>
            <a:endParaRPr lang="en-US" sz="6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Vector DB Myth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True or false: a vector database alone guarantees accurate RAG answers.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False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Retrieval quality also depends on parsing, chunking, metadata, hybrid search, reranking, prompts and evaluation.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46</a:t>
            </a:r>
            <a:endParaRPr lang="en-US" sz="6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Memory Type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The current plan, intermediate tool outputs and unresolved steps belong to which memory type?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47</a:t>
            </a:r>
            <a:endParaRPr lang="en-US" sz="6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Memory Type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The current plan, intermediate tool outputs and unresolved steps belong to which memory type?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Working memory / short-term task state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This state is needed during the active task and should usually be temporary.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48</a:t>
            </a:r>
            <a:endParaRPr lang="en-US" sz="6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Long-Term Choice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stable user preference used across future sessions belongs to short-term or long-term memory?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49</a:t>
            </a:r>
            <a:endParaRPr lang="en-US" sz="6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Long-Term Choice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stable user preference used across future sessions belongs to short-term or long-term memory?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Long-term semantic memory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It is a durable fact retrieved when relevant across sessions.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50</a:t>
            </a:r>
            <a:endParaRPr lang="en-US" sz="6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Graph Advantage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Which technology is most helpful for: “Which suppliers are connected to products affected by this regulation?”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51</a:t>
            </a:r>
            <a:endParaRPr lang="en-US" sz="6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Graph Advantage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Which technology is most helpful for: “Which suppliers are connected to products affected by this regulation?”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Knowledge graph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question requires entity relationships and multi-hop traversal.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52</a:t>
            </a:r>
            <a:endParaRPr lang="en-US" sz="6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Access-Aware RAG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user lacks permission to a document. May that document still be retrieved into the prompt?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53</a:t>
            </a:r>
            <a:endParaRPr lang="en-US" sz="6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Access-Aware RAG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user lacks permission to a document. May that document still be retrieved into the prompt?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No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Retrieval must propagate source-system access controls and enforce least privilege.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54</a:t>
            </a:r>
            <a:endParaRPr lang="en-US" sz="6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Hybrid Retrieval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Dense retrieval finds semantic similarity. What does lexical retrieval add?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55</a:t>
            </a:r>
            <a:endParaRPr lang="en-US" sz="6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Hybrid Retrieval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Dense retrieval finds semantic similarity. What does lexical retrieval add?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Exact keyword and rare-term matching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Lexical search complements semantic similarity for names, codes and precise terminology.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56</a:t>
            </a:r>
            <a:endParaRPr lang="en-US" sz="6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Memory Governance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CC9D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Name two controls needed before storing long-term agent memory.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57</a:t>
            </a:r>
            <a:endParaRPr lang="en-US" sz="6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CC9D2"/>
          </a:solidFill>
          <a:ln w="12700">
            <a:solidFill>
              <a:srgbClr val="2CC9D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03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Memory Governance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Name two controls needed before storing long-term agent memory.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Consent and retention/deletion policy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Persistent memory needs a lawful purpose, lifecycle controls and sensitive-data minimization.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LLMs, Tools, Memory &amp; Knowledge Integration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58</a:t>
            </a:r>
            <a:endParaRPr lang="en-US" sz="6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29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Topology Puzzle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6D5CE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One coordinator delegates to four specialists. Name the topology.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59</a:t>
            </a:r>
            <a:endParaRPr lang="en-US" sz="6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29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Topology Puzzle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One coordinator delegates to four specialists. Name the topology.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Supervisor-worker topology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 central supervisor assigns work and combines specialist results.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60</a:t>
            </a:r>
            <a:endParaRPr lang="en-US" sz="6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Protocol Match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6D5CE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Which interface is best for exposing a typed business service as a synchronous agent tool: OpenAPI or an event stream?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61</a:t>
            </a:r>
            <a:endParaRPr lang="en-US" sz="6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Protocol Match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Which interface is best for exposing a typed business service as a synchronous agent tool: OpenAPI or an event stream?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OpenAPI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 synchronous request/response capability is naturally represented as a typed API contract.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62</a:t>
            </a:r>
            <a:endParaRPr lang="en-US" sz="6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Parallel or Sequential?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6D5CE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security agent, cost agent and compliance agent can inspect the same design independently. Which execution model reduces elapsed time?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63</a:t>
            </a:r>
            <a:endParaRPr lang="en-US" sz="6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Parallel or Sequential?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security agent, cost agent and compliance agent can inspect the same design independently. Which execution model reduces elapsed time?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Parallel / concurrent execution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analyses do not depend on one another and can run simultaneously.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64</a:t>
            </a:r>
            <a:endParaRPr lang="en-US" sz="6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Delegation Contract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6D5CE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Name four fields a worker-agent contract should define.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65</a:t>
            </a:r>
            <a:endParaRPr lang="en-US" sz="6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Delegation Contract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Name four fields a worker-agent contract should define.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Input schema, output schema, timeout and failure behavior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 clear contract also commonly includes evidence requirements, identity and version.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66</a:t>
            </a:r>
            <a:endParaRPr lang="en-US" sz="6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LangGraph Clue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6D5CE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Nodes, edges, state and checkpoints point to which orchestration framework style?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67</a:t>
            </a:r>
            <a:endParaRPr lang="en-US" sz="6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LangGraph Clue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Nodes, edges, state and checkpoints point to which orchestration framework style?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LangGraph-style graph orchestration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workflow is modeled as a stateful graph with controlled transitions.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68</a:t>
            </a:r>
            <a:endParaRPr lang="en-US" sz="6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CrewAI Clue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6D5CE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Agents, tasks, crews and processes point to which framework?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69</a:t>
            </a:r>
            <a:endParaRPr lang="en-US" sz="6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CrewAI Clue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Agents, tasks, crews and processes point to which framework?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CrewAI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CrewAI organizes collaboration around role-oriented agents and assigned tasks.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70</a:t>
            </a:r>
            <a:endParaRPr lang="en-US" sz="6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AutoGen Clue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6D5CE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Conversable agents exchanging messages in a group interaction point to which framework?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71</a:t>
            </a:r>
            <a:endParaRPr lang="en-US" sz="6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AutoGen Clue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Conversable agents exchanging messages in a group interaction point to which framework?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Microsoft AutoGen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AutoGen emphasizes conversational coordination among agents.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72</a:t>
            </a:r>
            <a:endParaRPr lang="en-US" sz="6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A2A Purpose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6D5CE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What problem does Agent-to-Agent communication solve that tool calling does not?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73</a:t>
            </a:r>
            <a:endParaRPr lang="en-US" sz="6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A2A Purpose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What problem does Agent-to-Agent communication solve that tool calling does not?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Agent discovery and task collaboration across agent boundaries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A2A focuses on agents exchanging tasks, status and artifacts rather than only invoking a tool.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74</a:t>
            </a:r>
            <a:endParaRPr lang="en-US" sz="6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Termination Rule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6D5CE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Why does a multi-agent group discussion need a termination rule?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75</a:t>
            </a:r>
            <a:endParaRPr lang="en-US" sz="6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D5CE7"/>
          </a:solidFill>
          <a:ln w="12700">
            <a:solidFill>
              <a:srgbClr val="6D5CE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04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Termination Rule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Why does a multi-agent group discussion need a termination rule?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To prevent endless dialogue and uncontrolled cost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system needs a clear completion condition, turn limit or escalation path.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Multi-Agent Systems &amp; Orchestration Frameworks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76</a:t>
            </a:r>
            <a:endParaRPr lang="en-US" sz="6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Command or Fact?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“Approve invoice 481” is a command. “Invoice 481 was approved” is what?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77</a:t>
            </a:r>
            <a:endParaRPr lang="en-US" sz="6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Command or Fact?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“Approve invoice 481” is a command. “Invoice 481 was approved” is what?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An event / fact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 command requests an action; an event records that something occurred.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78</a:t>
            </a:r>
            <a:endParaRPr lang="en-US" sz="6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39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of Record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Should an agent directly update ERP tables or invoke a governed business API?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79</a:t>
            </a:r>
            <a:endParaRPr lang="en-US" sz="6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39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of Record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Should an agent directly update ERP tables or invoke a governed business API?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Invoke a governed business API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API preserves validation, authorization, workflow and audit controls.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80</a:t>
            </a:r>
            <a:endParaRPr lang="en-US" sz="6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Database Safety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What is safer than allowing an agent to generate arbitrary production SQL?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81</a:t>
            </a:r>
            <a:endParaRPr lang="en-US" sz="6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Database Safety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What is safer than allowing an agent to generate arbitrary production SQL?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An allowlisted, parameterized data-access tool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tool constrains operations, validates inputs and can enforce row or column policy.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82</a:t>
            </a:r>
            <a:endParaRPr lang="en-US" sz="6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CRM Approval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An agent drafts a high-value customer contract update. What should happen before committing it to CRM?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83</a:t>
            </a:r>
            <a:endParaRPr lang="en-US" sz="6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41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CRM Approval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An agent drafts a high-value customer contract update. What should happen before committing it to CRM?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Human approval and policy validation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 consequential write should pass business rules and an accountable approval gate.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84</a:t>
            </a:r>
            <a:endParaRPr lang="en-US" sz="6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Idempotency?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 tool call times out, so the orchestrator retries. What prevents the same payment from being processed twice?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85</a:t>
            </a:r>
            <a:endParaRPr lang="en-US" sz="6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42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Idempotency?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 tool call times out, so the orchestrator retries. What prevents the same payment from being processed twice?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An idempotency key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receiving service recognizes repeated attempts as the same business operation.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86</a:t>
            </a:r>
            <a:endParaRPr lang="en-US" sz="6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ESB or Event Stream?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Which technology is focused on service mediation and transformation across enterprise systems: ESB or event stream?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87</a:t>
            </a:r>
            <a:endParaRPr lang="en-US" sz="6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43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ESB or Event Stream?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Which technology is focused on service mediation and transformation across enterprise systems: ESB or event stream?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Enterprise Service Bus (ESB)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An ESB mediates service interactions, routing and transformations; a stream distributes events.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88</a:t>
            </a:r>
            <a:endParaRPr lang="en-US" sz="6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Lineage Puzzle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Why record source → retrieved chunk → answer → action lineage?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89</a:t>
            </a:r>
            <a:endParaRPr lang="en-US" sz="6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05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44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Lineage Puzzle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Why record source → retrieved chunk → answer → action lineage?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To make outcomes traceable and auditable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Lineage shows what evidence influenced the response and subsequent action.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Enterprise Integration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90</a:t>
            </a:r>
            <a:endParaRPr lang="en-US" sz="6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Stateful Pod Trap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FFB62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An agent stores critical workflow state only in a Kubernetes pod. The pod restarts. What design mistake occurred?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91</a:t>
            </a:r>
            <a:endParaRPr lang="en-US" sz="6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Stateful Pod Trap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An agent stores critical workflow state only in a Kubernetes pod. The pod restarts. What design mistake occurred?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Critical state was kept locally instead of externalized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Durable state belongs in a persistent external store or checkpoint service.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92</a:t>
            </a:r>
            <a:endParaRPr lang="en-US" sz="6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Autoscaling Signal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FFB62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For background agent workers consuming a queue, which scaling signal is often better than CPU alone?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93</a:t>
            </a:r>
            <a:endParaRPr lang="en-US" sz="6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46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Autoscaling Signal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For background agent workers consuming a queue, which scaling signal is often better than CPU alone?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Queue depth or backlog age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work backlog directly reflects demand for asynchronous workers.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94</a:t>
            </a:r>
            <a:endParaRPr lang="en-US" sz="6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Serverless Fit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FFB62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Webhook processing lasts three seconds and traffic is bursty. Serverless or always-on cluster service?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95</a:t>
            </a:r>
            <a:endParaRPr lang="en-US" sz="6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47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Serverless Fit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Webhook processing lasts three seconds and traffic is bursty. Serverless or always-on cluster service?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Serverless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The workload is short-lived, event-driven and bursty, which suits scale-to-zero execution.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96</a:t>
            </a:r>
            <a:endParaRPr lang="en-US" sz="6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Failure Isolation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FFB62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What pattern prevents one failing external tool from exhausting all worker capacity?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97</a:t>
            </a:r>
            <a:endParaRPr lang="en-US" sz="6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48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Failure Isolation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What pattern prevents one failing external tool from exhausting all worker capacity?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Bulkhead isolation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Separate resource pools limit the blast radius of one dependency or workload.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98</a:t>
            </a:r>
            <a:endParaRPr lang="en-US" sz="6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49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Retry Puzzle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FFB62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Why combine retries with exponential backoff and jitter?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99</a:t>
            </a:r>
            <a:endParaRPr lang="en-US" sz="6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49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Retry Puzzle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Why combine retries with exponential backoff and jitter?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To avoid synchronized retry storms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Backoff reduces pressure, and jitter prevents many instances from retrying simultaneously.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100</a:t>
            </a:r>
            <a:endParaRPr lang="en-US" sz="6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QUESTION 50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Cost Metric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1965960"/>
            <a:ext cx="10268712" cy="2697480"/>
          </a:xfrm>
          <a:prstGeom prst="roundRect">
            <a:avLst>
              <a:gd name="adj" fmla="val 5424"/>
            </a:avLst>
          </a:prstGeom>
          <a:solidFill>
            <a:srgbClr val="102650">
              <a:alpha val="96000"/>
            </a:srgbClr>
          </a:solidFill>
          <a:ln w="15240">
            <a:solidFill>
              <a:srgbClr val="FFB627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450592"/>
            <a:ext cx="9509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F8FC"/>
                </a:solidFill>
              </a:rPr>
              <a:t>Which is more meaningful: cost per token or cost per successful business outcome?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563270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C9D2"/>
                </a:solidFill>
              </a:rPr>
              <a:t>Pause. Discuss. Commit to one answer.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101</a:t>
            </a:r>
            <a:endParaRPr lang="en-US" sz="6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12648"/>
            <a:ext cx="9052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MODULE 06</a:t>
            </a:r>
            <a:endParaRPr lang="en-US" sz="66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85832" y="612648"/>
            <a:ext cx="12710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ANSWER 50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658368" y="1060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Cost Metric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E3"/>
                </a:solidFill>
              </a:rPr>
              <a:t>Which is more meaningful: cost per token or cost per successful business outcome?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96312"/>
            <a:ext cx="10268712" cy="1115568"/>
          </a:xfrm>
          <a:prstGeom prst="roundRect">
            <a:avLst>
              <a:gd name="adj" fmla="val 12295"/>
            </a:avLst>
          </a:prstGeom>
          <a:solidFill>
            <a:srgbClr val="15355B"/>
          </a:solidFill>
          <a:ln w="15240">
            <a:solidFill>
              <a:srgbClr val="2FBE82">
                <a:alpha val="80000"/>
              </a:srgbClr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852928"/>
            <a:ext cx="9646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BE82"/>
                </a:solidFill>
              </a:rPr>
              <a:t>Cost per successful business outcome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89888" y="4005072"/>
            <a:ext cx="9418320" cy="1207008"/>
          </a:xfrm>
          <a:prstGeom prst="roundRect">
            <a:avLst>
              <a:gd name="adj" fmla="val 9091"/>
            </a:avLst>
          </a:prstGeom>
          <a:solidFill>
            <a:srgbClr val="0E2145"/>
          </a:solidFill>
          <a:ln w="12700">
            <a:solidFill>
              <a:srgbClr val="2CC9D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4297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627"/>
                </a:solidFill>
              </a:rPr>
              <a:t>WHY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8FC"/>
                </a:solidFill>
              </a:rPr>
              <a:t>It connects architecture cost to delivered value and exposes waste from failed loops or actions.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5623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6E3"/>
                </a:solidFill>
              </a:rPr>
              <a:t>Scalability, Deployment &amp; Cloud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102</a:t>
            </a:r>
            <a:endParaRPr lang="en-US" sz="6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10241280" y="228600"/>
            <a:ext cx="1417320" cy="1417320"/>
          </a:xfrm>
          <a:prstGeom prst="ellipse">
            <a:avLst/>
          </a:prstGeom>
          <a:solidFill>
            <a:srgbClr val="2B4388">
              <a:alpha val="44000"/>
            </a:srgbClr>
          </a:solidFill>
          <a:ln w="7620">
            <a:solidFill>
              <a:srgbClr val="FFB627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5257800"/>
            <a:ext cx="1143000" cy="1143000"/>
          </a:xfrm>
          <a:prstGeom prst="ellipse">
            <a:avLst/>
          </a:prstGeom>
          <a:solidFill>
            <a:srgbClr val="223575">
              <a:alpha val="38000"/>
            </a:srgbClr>
          </a:solidFill>
          <a:ln w="6350">
            <a:solidFill>
              <a:srgbClr val="2670D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241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627"/>
                </a:solidFill>
              </a:rPr>
              <a:t>PUZZLE CHALLENGE COMPLETE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7556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From Concepts to Production Architecture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C6E3"/>
                </a:solidFill>
              </a:rPr>
              <a:t>Discuss the three questions where the class disagreed most. Those disagreements usually reveal the most important architecture decision points.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4315968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670DD"/>
          </a:solidFill>
          <a:ln w="12700">
            <a:solidFill>
              <a:srgbClr val="2670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25696"/>
            <a:ext cx="1499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50 QUESTIONS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2624328" y="4315968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FBE82"/>
          </a:solidFill>
          <a:ln w="12700">
            <a:solidFill>
              <a:srgbClr val="2FBE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4425696"/>
            <a:ext cx="1499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50 ANSWERS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4498848" y="4315968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7C5BDC"/>
          </a:solidFill>
          <a:ln w="12700">
            <a:solidFill>
              <a:srgbClr val="7C5BD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4425696"/>
            <a:ext cx="1499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6 MODULES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6373368" y="4315968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 w="12700">
            <a:solidFill>
              <a:srgbClr val="FFB6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425696"/>
            <a:ext cx="23225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1 ARCHITECTURE MINDSET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749808" y="5257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C9D2"/>
                </a:solidFill>
              </a:rPr>
              <a:t>Chandravadhana TK · Senior AI/ML Architect, UHG-Optum.AI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336" y="65196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B93B8"/>
                </a:solidFill>
              </a:rPr>
              <a:t>Scalable Enterprise Architectural Deployments of Agentic AI Solutions · Puzzle Challenge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3B8"/>
                </a:solidFill>
              </a:rPr>
              <a:t>103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8522</Words>
  <Application>Microsoft Office PowerPoint</Application>
  <PresentationFormat>Widescreen</PresentationFormat>
  <Paragraphs>1142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CEG, Anna University Guindy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IOC Agentic AI Architecture Puzzle Challenge: 50 Questions and Answers</dc:title>
  <dc:subject>Puzzle section covering Modules 1 through 6</dc:subject>
  <dc:creator>Thustu Kumaran, Chandravadhana</dc:creator>
  <cp:lastModifiedBy>Chandravadhana Thustu Kumaran</cp:lastModifiedBy>
  <cp:revision>2</cp:revision>
  <dcterms:created xsi:type="dcterms:W3CDTF">2026-08-28T18:27:41Z</dcterms:created>
  <dcterms:modified xsi:type="dcterms:W3CDTF">2026-08-28T18:40:51Z</dcterms:modified>
</cp:coreProperties>
</file>
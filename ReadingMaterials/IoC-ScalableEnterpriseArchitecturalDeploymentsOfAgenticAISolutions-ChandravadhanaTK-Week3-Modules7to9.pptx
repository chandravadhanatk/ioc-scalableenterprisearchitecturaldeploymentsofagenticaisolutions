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6"/>
  </p:notesMasterIdLst>
  <p:sldIdLst>
    <p:sldId id="256" r:id="rId2"/>
    <p:sldId id="257" r:id="rId3"/>
    <p:sldId id="258" r:id="rId4"/>
    <p:sldId id="259" r:id="rId5"/>
    <p:sldId id="260" r:id="rId6"/>
    <p:sldId id="294" r:id="rId7"/>
    <p:sldId id="261" r:id="rId8"/>
    <p:sldId id="293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1" r:id="rId18"/>
    <p:sldId id="272" r:id="rId19"/>
    <p:sldId id="273" r:id="rId20"/>
    <p:sldId id="274" r:id="rId21"/>
    <p:sldId id="275" r:id="rId22"/>
    <p:sldId id="276" r:id="rId23"/>
    <p:sldId id="277" r:id="rId24"/>
    <p:sldId id="278" r:id="rId25"/>
    <p:sldId id="279" r:id="rId26"/>
    <p:sldId id="280" r:id="rId27"/>
    <p:sldId id="281" r:id="rId28"/>
    <p:sldId id="282" r:id="rId29"/>
    <p:sldId id="283" r:id="rId30"/>
    <p:sldId id="284" r:id="rId31"/>
    <p:sldId id="289" r:id="rId32"/>
    <p:sldId id="290" r:id="rId33"/>
    <p:sldId id="291" r:id="rId34"/>
    <p:sldId id="292" r:id="rId35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691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heme" Target="theme/theme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9/18/2026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Title and presenter details continued from the attached prior-session decks.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Module names and durations from the user-provided syllabus.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Course module and duration from the user-provided syllabus.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Topics reproduced from the user-provided syllabus.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Visual on this slide was generated with Microsoft Copilot.
NIST AI RMF is intended to incorporate trustworthiness considerations into design, development, use and evaluation: https://www.nist.gov/itl/ai-risk-management-framework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Security framework is an instructional architecture synthesis aligned to the Module 7 syllabus.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Instructional identity and access-control framework created for this course.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Hands-on topic is implementing secure agent access controls, as specified in the user-provided syllabus.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Instructional secrets-management guidance created for this course.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NIST describes AI RMF as supporting incorporation of trustworthiness into AI design, development, use and evaluation: https://www.nist.gov/itl/ai-risk-management-framework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This slide provides an instructional compliance method; specific legal obligations require organizational legal and compliance review.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OpenTelemetry notes that prompt and tool content can contain sensitive data and is not captured by default in its referenced walkthrough: https://opentelemetry.io/blog/2026/genai-observability/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NIST states its AI RMF supports trustworthiness considerations in AI systems: https://www.nist.gov/itl/ai-risk-management-framework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NIST developed AI RMF to help manage risks to individuals, organizations and society associated with AI: https://www.nist.gov/itl/ai-risk-management-framework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Course module and duration from the user-provided syllabus.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Topics reproduced from the user-provided syllabus.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Visual on this slide was generated with Microsoft Copilot.
OpenTelemetry GenAI conventions standardize recording model calls, token counts and optionally prompt, completion and tool content: https://opentelemetry.io/blog/2026/genai-observability/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OpenTelemetry describes visibility into model calls, tool invocations and token exchanges through GenAI telemetry: https://opentelemetry.io/blog/2026/genai-observability/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OpenTelemetry GenAI semantic conventions standardize how GenAI operations are recorded: https://opentelemetry.io/blog/2026/genai-observability/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OpenTelemetry says OTLP-compatible backends can receive GenAI telemetry and its semantic conventions cover GenAI operations: https://opentelemetry.io/blog/2026/genai-observability/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Instructional performance-benchmarking framework created for this course.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OpenTelemetry describes model name, token counts and operation duration as GenAI telemetry dimensions: https://opentelemetry.io/blog/2026/genai-observability/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NIST AI RMF addresses trustworthiness in evaluation as well as design, development and use: https://www.nist.gov/itl/ai-risk-management-framework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The user-provided syllabus explicitly includes continuous improvement loops.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Hands-on activity reproduced from the user-provided syllabus.
OpenTelemetry describes traces, metrics and events for GenAI operations: https://opentelemetry.io/blog/2026/genai-observability/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Course module and duration from the user-provided syllabus.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Visual on this slide was generated with Microsoft Copilot.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Capstone scenario and required capabilities reproduced from the user-provided syllabus.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Deliverables reproduced from the user-provided syllabus.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Rubric is an instructional suggestion for the capstone presentation session.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Summary synthesizes Modules 7 through 9 from the user-provided syllabus.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Presenter details continued from the attached prior-session decks.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B4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Shape 0"/>
          <p:cNvSpPr/>
          <p:nvPr/>
        </p:nvSpPr>
        <p:spPr>
          <a:xfrm>
            <a:off x="10241280" y="228600"/>
            <a:ext cx="1417320" cy="1417320"/>
          </a:xfrm>
          <a:prstGeom prst="ellipse">
            <a:avLst/>
          </a:prstGeom>
          <a:solidFill>
            <a:srgbClr val="2B4388">
              <a:alpha val="44000"/>
            </a:srgbClr>
          </a:solidFill>
          <a:ln w="7620">
            <a:solidFill>
              <a:srgbClr val="FFB627">
                <a:alpha val="52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46304" y="5257800"/>
            <a:ext cx="1143000" cy="1143000"/>
          </a:xfrm>
          <a:prstGeom prst="ellipse">
            <a:avLst/>
          </a:prstGeom>
          <a:solidFill>
            <a:srgbClr val="223575">
              <a:alpha val="38000"/>
            </a:srgbClr>
          </a:solidFill>
          <a:ln w="12700">
            <a:solidFill>
              <a:srgbClr val="2670DD">
                <a:alpha val="35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658368"/>
            <a:ext cx="6858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30" b="1" kern="0" spc="200" dirty="0">
                <a:solidFill>
                  <a:srgbClr val="FFB627"/>
                </a:solidFill>
              </a:rPr>
              <a:t>INDUSTRY ORIENTED COURSE – CEG, Anna University Guindy</a:t>
            </a:r>
            <a:endParaRPr lang="en-US" sz="730" dirty="0"/>
          </a:p>
        </p:txBody>
      </p:sp>
      <p:sp>
        <p:nvSpPr>
          <p:cNvPr id="5" name="Text 3"/>
          <p:cNvSpPr/>
          <p:nvPr/>
        </p:nvSpPr>
        <p:spPr>
          <a:xfrm>
            <a:off x="594360" y="1389888"/>
            <a:ext cx="7955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</a:rPr>
              <a:t>Scalable Enterprise Architectural</a:t>
            </a:r>
            <a:endParaRPr lang="en-US" sz="2800" dirty="0"/>
          </a:p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</a:rPr>
              <a:t>Deployments of Agentic AI Solutions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612648" y="2761488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i="1" dirty="0">
                <a:solidFill>
                  <a:srgbClr val="B8C6E3"/>
                </a:solidFill>
              </a:rPr>
              <a:t>Week 3 · Security, Governance, Responsible AI, Observability &amp; Capstone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640080" y="4096512"/>
            <a:ext cx="3246120" cy="960120"/>
          </a:xfrm>
          <a:prstGeom prst="roundRect">
            <a:avLst>
              <a:gd name="adj" fmla="val 11429"/>
            </a:avLst>
          </a:prstGeom>
          <a:solidFill>
            <a:srgbClr val="122A52">
              <a:alpha val="95000"/>
            </a:srgbClr>
          </a:solidFill>
          <a:ln w="10160">
            <a:solidFill>
              <a:srgbClr val="2670DD">
                <a:alpha val="65000"/>
              </a:srgbClr>
            </a:solidFill>
            <a:prstDash val="solid"/>
          </a:ln>
          <a:effectLst>
            <a:outerShdw blurRad="19050" dist="762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804672" y="4233672"/>
            <a:ext cx="29169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</a:rPr>
              <a:t>Presenter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804672" y="4608576"/>
            <a:ext cx="2916936" cy="32918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r>
              <a:rPr lang="en-US" sz="840" dirty="0">
                <a:solidFill>
                  <a:srgbClr val="F5F8FC"/>
                </a:solidFill>
              </a:rPr>
              <a:t>Chandravadhana TK</a:t>
            </a:r>
            <a:endParaRPr lang="en-US" sz="840" dirty="0"/>
          </a:p>
          <a:p>
            <a:r>
              <a:rPr lang="en-US" sz="840" dirty="0">
                <a:solidFill>
                  <a:srgbClr val="F5F8FC"/>
                </a:solidFill>
              </a:rPr>
              <a:t>Senior AI/ML Architect, UHG-Optum.AI</a:t>
            </a:r>
            <a:endParaRPr lang="en-US" sz="840" dirty="0"/>
          </a:p>
          <a:p>
            <a:r>
              <a:rPr lang="en-US" sz="840" dirty="0">
                <a:solidFill>
                  <a:srgbClr val="F5F8FC"/>
                </a:solidFill>
              </a:rPr>
              <a:t>Research Scholar, CEG Anna University Guindy</a:t>
            </a:r>
            <a:endParaRPr lang="en-US" sz="840" dirty="0"/>
          </a:p>
        </p:txBody>
      </p:sp>
      <p:sp>
        <p:nvSpPr>
          <p:cNvPr id="10" name="Shape 8"/>
          <p:cNvSpPr/>
          <p:nvPr/>
        </p:nvSpPr>
        <p:spPr>
          <a:xfrm>
            <a:off x="4160520" y="4096512"/>
            <a:ext cx="3246120" cy="960120"/>
          </a:xfrm>
          <a:prstGeom prst="roundRect">
            <a:avLst>
              <a:gd name="adj" fmla="val 11429"/>
            </a:avLst>
          </a:prstGeom>
          <a:solidFill>
            <a:srgbClr val="122A52">
              <a:alpha val="95000"/>
            </a:srgbClr>
          </a:solidFill>
          <a:ln w="10160">
            <a:solidFill>
              <a:srgbClr val="7C5BDC">
                <a:alpha val="65000"/>
              </a:srgbClr>
            </a:solidFill>
            <a:prstDash val="solid"/>
          </a:ln>
          <a:effectLst>
            <a:outerShdw blurRad="19050" dist="762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325112" y="4233672"/>
            <a:ext cx="29169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</a:rPr>
              <a:t>Guide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4325112" y="4608576"/>
            <a:ext cx="2916936" cy="32918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r>
              <a:rPr lang="en-US" sz="840" dirty="0">
                <a:solidFill>
                  <a:srgbClr val="F5F8FC"/>
                </a:solidFill>
              </a:rPr>
              <a:t>Dr. K. Saravanan</a:t>
            </a:r>
            <a:endParaRPr lang="en-US" sz="840" dirty="0"/>
          </a:p>
          <a:p>
            <a:r>
              <a:rPr lang="en-US" sz="840" dirty="0">
                <a:solidFill>
                  <a:srgbClr val="F5F8FC"/>
                </a:solidFill>
              </a:rPr>
              <a:t>Department of Information and Communication Engineering</a:t>
            </a:r>
            <a:endParaRPr lang="en-US" sz="840" dirty="0"/>
          </a:p>
        </p:txBody>
      </p:sp>
      <p:sp>
        <p:nvSpPr>
          <p:cNvPr id="13" name="Text 11"/>
          <p:cNvSpPr/>
          <p:nvPr/>
        </p:nvSpPr>
        <p:spPr>
          <a:xfrm>
            <a:off x="402336" y="6519672"/>
            <a:ext cx="65836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70" dirty="0">
                <a:solidFill>
                  <a:srgbClr val="8B93B8"/>
                </a:solidFill>
              </a:rPr>
              <a:t>Scalable Enterprise Architectural Deployments of Agentic AI Solutions</a:t>
            </a:r>
            <a:endParaRPr lang="en-US" sz="570" dirty="0"/>
          </a:p>
        </p:txBody>
      </p:sp>
      <p:sp>
        <p:nvSpPr>
          <p:cNvPr id="14" name="Text 12"/>
          <p:cNvSpPr/>
          <p:nvPr/>
        </p:nvSpPr>
        <p:spPr>
          <a:xfrm>
            <a:off x="11384280" y="6473952"/>
            <a:ext cx="2926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50" dirty="0">
                <a:solidFill>
                  <a:srgbClr val="8B93B8"/>
                </a:solidFill>
              </a:rPr>
              <a:t>1</a:t>
            </a:r>
            <a:endParaRPr lang="en-US" sz="6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594360" y="393192"/>
            <a:ext cx="10698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1B2340"/>
                </a:solidFill>
              </a:rPr>
              <a:t>COURSE OVERVIEW</a:t>
            </a:r>
            <a:endParaRPr lang="en-US" sz="2300" dirty="0"/>
          </a:p>
        </p:txBody>
      </p:sp>
      <p:sp>
        <p:nvSpPr>
          <p:cNvPr id="3" name="Text 1"/>
          <p:cNvSpPr/>
          <p:nvPr/>
        </p:nvSpPr>
        <p:spPr>
          <a:xfrm>
            <a:off x="612648" y="877824"/>
            <a:ext cx="10607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B6785"/>
                </a:solidFill>
              </a:rPr>
              <a:t>Session Structure &amp; Duration · This Week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94360" y="1161288"/>
            <a:ext cx="10972800" cy="1"/>
          </a:xfrm>
          <a:prstGeom prst="line">
            <a:avLst/>
          </a:prstGeom>
          <a:noFill/>
          <a:ln w="12700">
            <a:solidFill>
              <a:srgbClr val="2670DD">
                <a:alpha val="75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02336" y="6519672"/>
            <a:ext cx="65836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70" dirty="0">
                <a:solidFill>
                  <a:srgbClr val="5B6785"/>
                </a:solidFill>
              </a:rPr>
              <a:t>Scalable Enterprise Architectural Deployments of Agentic AI Solutions</a:t>
            </a:r>
            <a:endParaRPr lang="en-US" sz="570" dirty="0"/>
          </a:p>
        </p:txBody>
      </p:sp>
      <p:sp>
        <p:nvSpPr>
          <p:cNvPr id="6" name="Text 4"/>
          <p:cNvSpPr/>
          <p:nvPr/>
        </p:nvSpPr>
        <p:spPr>
          <a:xfrm>
            <a:off x="11384280" y="6473952"/>
            <a:ext cx="2926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50" dirty="0">
                <a:solidFill>
                  <a:srgbClr val="5B6785"/>
                </a:solidFill>
              </a:rPr>
              <a:t>2</a:t>
            </a:r>
            <a:endParaRPr lang="en-US" sz="650" dirty="0"/>
          </a:p>
        </p:txBody>
      </p:sp>
      <p:sp>
        <p:nvSpPr>
          <p:cNvPr id="7" name="Shape 5"/>
          <p:cNvSpPr/>
          <p:nvPr/>
        </p:nvSpPr>
        <p:spPr>
          <a:xfrm>
            <a:off x="731520" y="1490472"/>
            <a:ext cx="10744200" cy="841248"/>
          </a:xfrm>
          <a:prstGeom prst="roundRect">
            <a:avLst>
              <a:gd name="adj" fmla="val 8696"/>
            </a:avLst>
          </a:prstGeom>
          <a:solidFill>
            <a:srgbClr val="F0F4FC"/>
          </a:solidFill>
          <a:ln w="12700">
            <a:solidFill>
              <a:srgbClr val="D7E2F5">
                <a:alpha val="70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60120" y="1709928"/>
            <a:ext cx="384048" cy="384048"/>
          </a:xfrm>
          <a:prstGeom prst="ellipse">
            <a:avLst/>
          </a:prstGeom>
          <a:solidFill>
            <a:srgbClr val="141B47"/>
          </a:solidFill>
          <a:ln w="12700">
            <a:solidFill>
              <a:srgbClr val="141B4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60704" y="1842516"/>
            <a:ext cx="164592" cy="548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</a:rPr>
              <a:t>7</a:t>
            </a:r>
            <a:endParaRPr lang="en-US" sz="700" dirty="0"/>
          </a:p>
        </p:txBody>
      </p:sp>
      <p:sp>
        <p:nvSpPr>
          <p:cNvPr id="10" name="Text 8"/>
          <p:cNvSpPr/>
          <p:nvPr/>
        </p:nvSpPr>
        <p:spPr>
          <a:xfrm>
            <a:off x="1627632" y="1773936"/>
            <a:ext cx="77266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B2340"/>
                </a:solidFill>
              </a:rPr>
              <a:t>Security, Governance &amp; Responsible AI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9921240" y="1719072"/>
            <a:ext cx="1188720" cy="384048"/>
          </a:xfrm>
          <a:prstGeom prst="roundRect">
            <a:avLst>
              <a:gd name="adj" fmla="val 23810"/>
            </a:avLst>
          </a:prstGeom>
          <a:solidFill>
            <a:srgbClr val="141B47"/>
          </a:solidFill>
          <a:ln w="12700">
            <a:solidFill>
              <a:srgbClr val="141B4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10076688" y="1856232"/>
            <a:ext cx="868680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B627"/>
                </a:solidFill>
              </a:rPr>
              <a:t>1 </a:t>
            </a:r>
            <a:r>
              <a:rPr lang="en-US" sz="700" b="1" dirty="0" err="1">
                <a:solidFill>
                  <a:srgbClr val="FFB627"/>
                </a:solidFill>
              </a:rPr>
              <a:t>Hr</a:t>
            </a:r>
            <a:endParaRPr lang="en-US" sz="700" dirty="0"/>
          </a:p>
        </p:txBody>
      </p:sp>
      <p:sp>
        <p:nvSpPr>
          <p:cNvPr id="13" name="Shape 11"/>
          <p:cNvSpPr/>
          <p:nvPr/>
        </p:nvSpPr>
        <p:spPr>
          <a:xfrm>
            <a:off x="731520" y="2788920"/>
            <a:ext cx="10744200" cy="841248"/>
          </a:xfrm>
          <a:prstGeom prst="roundRect">
            <a:avLst>
              <a:gd name="adj" fmla="val 8696"/>
            </a:avLst>
          </a:prstGeom>
          <a:solidFill>
            <a:srgbClr val="F0F4FC"/>
          </a:solidFill>
          <a:ln w="12700">
            <a:solidFill>
              <a:srgbClr val="D7E2F5">
                <a:alpha val="70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960120" y="3008376"/>
            <a:ext cx="384048" cy="384048"/>
          </a:xfrm>
          <a:prstGeom prst="ellipse">
            <a:avLst/>
          </a:prstGeom>
          <a:solidFill>
            <a:srgbClr val="141B47"/>
          </a:solidFill>
          <a:ln w="12700">
            <a:solidFill>
              <a:srgbClr val="141B4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60704" y="3140964"/>
            <a:ext cx="164592" cy="548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</a:rPr>
              <a:t>8</a:t>
            </a:r>
            <a:endParaRPr lang="en-US" sz="700" dirty="0"/>
          </a:p>
        </p:txBody>
      </p:sp>
      <p:sp>
        <p:nvSpPr>
          <p:cNvPr id="16" name="Text 14"/>
          <p:cNvSpPr/>
          <p:nvPr/>
        </p:nvSpPr>
        <p:spPr>
          <a:xfrm>
            <a:off x="1627632" y="3072384"/>
            <a:ext cx="77266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B2340"/>
                </a:solidFill>
              </a:rPr>
              <a:t>Observability, Monitoring &amp; Optimization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9921240" y="3017520"/>
            <a:ext cx="1188720" cy="384048"/>
          </a:xfrm>
          <a:prstGeom prst="roundRect">
            <a:avLst>
              <a:gd name="adj" fmla="val 23810"/>
            </a:avLst>
          </a:prstGeom>
          <a:solidFill>
            <a:srgbClr val="141B47"/>
          </a:solidFill>
          <a:ln w="12700">
            <a:solidFill>
              <a:srgbClr val="141B4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076688" y="3154680"/>
            <a:ext cx="868680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B627"/>
                </a:solidFill>
              </a:rPr>
              <a:t>1 Hr</a:t>
            </a:r>
            <a:endParaRPr lang="en-US" sz="700" dirty="0"/>
          </a:p>
        </p:txBody>
      </p:sp>
      <p:sp>
        <p:nvSpPr>
          <p:cNvPr id="19" name="Shape 17"/>
          <p:cNvSpPr/>
          <p:nvPr/>
        </p:nvSpPr>
        <p:spPr>
          <a:xfrm>
            <a:off x="731520" y="4087368"/>
            <a:ext cx="10744200" cy="841248"/>
          </a:xfrm>
          <a:prstGeom prst="roundRect">
            <a:avLst>
              <a:gd name="adj" fmla="val 8696"/>
            </a:avLst>
          </a:prstGeom>
          <a:solidFill>
            <a:srgbClr val="F0F4FC"/>
          </a:solidFill>
          <a:ln w="12700">
            <a:solidFill>
              <a:srgbClr val="D7E2F5">
                <a:alpha val="70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60120" y="4306824"/>
            <a:ext cx="384048" cy="384048"/>
          </a:xfrm>
          <a:prstGeom prst="ellipse">
            <a:avLst/>
          </a:prstGeom>
          <a:solidFill>
            <a:srgbClr val="141B47"/>
          </a:solidFill>
          <a:ln w="12700">
            <a:solidFill>
              <a:srgbClr val="141B4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060704" y="4439412"/>
            <a:ext cx="164592" cy="548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</a:rPr>
              <a:t>9</a:t>
            </a:r>
            <a:endParaRPr lang="en-US" sz="700" dirty="0"/>
          </a:p>
        </p:txBody>
      </p:sp>
      <p:sp>
        <p:nvSpPr>
          <p:cNvPr id="22" name="Text 20"/>
          <p:cNvSpPr/>
          <p:nvPr/>
        </p:nvSpPr>
        <p:spPr>
          <a:xfrm>
            <a:off x="1627632" y="4370832"/>
            <a:ext cx="77266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B2340"/>
                </a:solidFill>
              </a:rPr>
              <a:t>Capstone Project &amp; Presentations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9921240" y="4315968"/>
            <a:ext cx="1188720" cy="384048"/>
          </a:xfrm>
          <a:prstGeom prst="roundRect">
            <a:avLst>
              <a:gd name="adj" fmla="val 23810"/>
            </a:avLst>
          </a:prstGeom>
          <a:solidFill>
            <a:srgbClr val="141B47"/>
          </a:solidFill>
          <a:ln w="12700">
            <a:solidFill>
              <a:srgbClr val="141B47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0076688" y="4453128"/>
            <a:ext cx="868680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B627"/>
                </a:solidFill>
              </a:rPr>
              <a:t>0.5 Hr</a:t>
            </a:r>
            <a:endParaRPr lang="en-US" sz="700" dirty="0"/>
          </a:p>
        </p:txBody>
      </p:sp>
      <p:sp>
        <p:nvSpPr>
          <p:cNvPr id="25" name="Text 23"/>
          <p:cNvSpPr/>
          <p:nvPr/>
        </p:nvSpPr>
        <p:spPr>
          <a:xfrm>
            <a:off x="749808" y="5989320"/>
            <a:ext cx="2743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5B6785"/>
                </a:solidFill>
              </a:rPr>
              <a:t>Total Duration: 3 Hours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41B4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Shape 0"/>
          <p:cNvSpPr/>
          <p:nvPr/>
        </p:nvSpPr>
        <p:spPr>
          <a:xfrm>
            <a:off x="10241280" y="228600"/>
            <a:ext cx="1417320" cy="1417320"/>
          </a:xfrm>
          <a:prstGeom prst="ellipse">
            <a:avLst/>
          </a:prstGeom>
          <a:solidFill>
            <a:srgbClr val="2B4388">
              <a:alpha val="44000"/>
            </a:srgbClr>
          </a:solidFill>
          <a:ln w="7620">
            <a:solidFill>
              <a:srgbClr val="FFB627">
                <a:alpha val="52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46304" y="5257800"/>
            <a:ext cx="1143000" cy="1143000"/>
          </a:xfrm>
          <a:prstGeom prst="ellipse">
            <a:avLst/>
          </a:prstGeom>
          <a:solidFill>
            <a:srgbClr val="223575">
              <a:alpha val="38000"/>
            </a:srgbClr>
          </a:solidFill>
          <a:ln w="12700">
            <a:solidFill>
              <a:srgbClr val="2670DD">
                <a:alpha val="35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129844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50" dirty="0">
                <a:solidFill>
                  <a:srgbClr val="FFB627"/>
                </a:solidFill>
              </a:rPr>
              <a:t>MODULE 07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874520"/>
            <a:ext cx="69951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</a:rPr>
              <a:t>Security, Governance &amp;</a:t>
            </a:r>
            <a:endParaRPr lang="en-US" sz="2800" dirty="0"/>
          </a:p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</a:rPr>
              <a:t>Responsible AI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731520" y="3310128"/>
            <a:ext cx="1143000" cy="384048"/>
          </a:xfrm>
          <a:prstGeom prst="roundRect">
            <a:avLst>
              <a:gd name="adj" fmla="val 23810"/>
            </a:avLst>
          </a:prstGeom>
          <a:solidFill>
            <a:srgbClr val="304582"/>
          </a:solidFill>
          <a:ln w="12700">
            <a:solidFill>
              <a:srgbClr val="30458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3438144"/>
            <a:ext cx="96012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40" b="1" dirty="0">
                <a:solidFill>
                  <a:srgbClr val="B8C6E3"/>
                </a:solidFill>
              </a:rPr>
              <a:t>1.5 Hours</a:t>
            </a:r>
            <a:endParaRPr lang="en-US" sz="740" dirty="0"/>
          </a:p>
        </p:txBody>
      </p:sp>
      <p:sp>
        <p:nvSpPr>
          <p:cNvPr id="8" name="Text 6"/>
          <p:cNvSpPr/>
          <p:nvPr/>
        </p:nvSpPr>
        <p:spPr>
          <a:xfrm>
            <a:off x="402336" y="6519672"/>
            <a:ext cx="65836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70" dirty="0">
                <a:solidFill>
                  <a:srgbClr val="8B93B8"/>
                </a:solidFill>
              </a:rPr>
              <a:t>Scalable Enterprise Architectural Deployments of Agentic AI Solutions</a:t>
            </a:r>
            <a:endParaRPr lang="en-US" sz="570" dirty="0"/>
          </a:p>
        </p:txBody>
      </p:sp>
      <p:sp>
        <p:nvSpPr>
          <p:cNvPr id="9" name="Text 7"/>
          <p:cNvSpPr/>
          <p:nvPr/>
        </p:nvSpPr>
        <p:spPr>
          <a:xfrm>
            <a:off x="11384280" y="6473952"/>
            <a:ext cx="2926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50" dirty="0">
                <a:solidFill>
                  <a:srgbClr val="8B93B8"/>
                </a:solidFill>
              </a:rPr>
              <a:t>3</a:t>
            </a:r>
            <a:endParaRPr lang="en-US" sz="6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594360" y="393192"/>
            <a:ext cx="10698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1B2340"/>
                </a:solidFill>
              </a:rPr>
              <a:t>MODULE 07 · TOPICS COVERED</a:t>
            </a:r>
            <a:endParaRPr lang="en-US" sz="2300" dirty="0"/>
          </a:p>
        </p:txBody>
      </p:sp>
      <p:sp>
        <p:nvSpPr>
          <p:cNvPr id="3" name="Text 1"/>
          <p:cNvSpPr/>
          <p:nvPr/>
        </p:nvSpPr>
        <p:spPr>
          <a:xfrm>
            <a:off x="612648" y="877824"/>
            <a:ext cx="10607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B6785"/>
                </a:solidFill>
              </a:rPr>
              <a:t>Security, Governance &amp; Responsible AI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94360" y="1161288"/>
            <a:ext cx="10972800" cy="1"/>
          </a:xfrm>
          <a:prstGeom prst="line">
            <a:avLst/>
          </a:prstGeom>
          <a:noFill/>
          <a:ln w="12700">
            <a:solidFill>
              <a:srgbClr val="2670DD">
                <a:alpha val="75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02336" y="6519672"/>
            <a:ext cx="65836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70" dirty="0">
                <a:solidFill>
                  <a:srgbClr val="5B6785"/>
                </a:solidFill>
              </a:rPr>
              <a:t>Scalable Enterprise Architectural Deployments of Agentic AI Solutions</a:t>
            </a:r>
            <a:endParaRPr lang="en-US" sz="570" dirty="0"/>
          </a:p>
        </p:txBody>
      </p:sp>
      <p:sp>
        <p:nvSpPr>
          <p:cNvPr id="6" name="Text 4"/>
          <p:cNvSpPr/>
          <p:nvPr/>
        </p:nvSpPr>
        <p:spPr>
          <a:xfrm>
            <a:off x="11384280" y="6473952"/>
            <a:ext cx="2926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50" dirty="0">
                <a:solidFill>
                  <a:srgbClr val="5B6785"/>
                </a:solidFill>
              </a:rPr>
              <a:t>4</a:t>
            </a:r>
            <a:endParaRPr lang="en-US" sz="650" dirty="0"/>
          </a:p>
        </p:txBody>
      </p:sp>
      <p:sp>
        <p:nvSpPr>
          <p:cNvPr id="7" name="Shape 5"/>
          <p:cNvSpPr/>
          <p:nvPr/>
        </p:nvSpPr>
        <p:spPr>
          <a:xfrm>
            <a:off x="685800" y="1444752"/>
            <a:ext cx="347472" cy="347472"/>
          </a:xfrm>
          <a:prstGeom prst="ellipse">
            <a:avLst/>
          </a:prstGeom>
          <a:solidFill>
            <a:srgbClr val="FFB627"/>
          </a:solidFill>
          <a:ln w="12700">
            <a:solidFill>
              <a:srgbClr val="FFB62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58952" y="1540764"/>
            <a:ext cx="201168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1B2340"/>
                </a:solidFill>
              </a:rPr>
              <a:t>1</a:t>
            </a:r>
            <a:endParaRPr lang="en-US" sz="700" dirty="0"/>
          </a:p>
        </p:txBody>
      </p:sp>
      <p:sp>
        <p:nvSpPr>
          <p:cNvPr id="9" name="Text 7"/>
          <p:cNvSpPr/>
          <p:nvPr/>
        </p:nvSpPr>
        <p:spPr>
          <a:xfrm>
            <a:off x="1188720" y="1472184"/>
            <a:ext cx="4892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B2340"/>
                </a:solidFill>
              </a:rPr>
              <a:t>Enterprise AI Security Frameworks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85800" y="2468880"/>
            <a:ext cx="347472" cy="347472"/>
          </a:xfrm>
          <a:prstGeom prst="ellipse">
            <a:avLst/>
          </a:prstGeom>
          <a:solidFill>
            <a:srgbClr val="FFB627"/>
          </a:solidFill>
          <a:ln w="12700">
            <a:solidFill>
              <a:srgbClr val="FFB62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58952" y="2564892"/>
            <a:ext cx="201168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1B2340"/>
                </a:solidFill>
              </a:rPr>
              <a:t>2</a:t>
            </a:r>
            <a:endParaRPr lang="en-US" sz="700" dirty="0"/>
          </a:p>
        </p:txBody>
      </p:sp>
      <p:sp>
        <p:nvSpPr>
          <p:cNvPr id="12" name="Text 10"/>
          <p:cNvSpPr/>
          <p:nvPr/>
        </p:nvSpPr>
        <p:spPr>
          <a:xfrm>
            <a:off x="1188720" y="2496312"/>
            <a:ext cx="4892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B2340"/>
                </a:solidFill>
              </a:rPr>
              <a:t>Authentication and Authorization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85800" y="3493008"/>
            <a:ext cx="347472" cy="347472"/>
          </a:xfrm>
          <a:prstGeom prst="ellipse">
            <a:avLst/>
          </a:prstGeom>
          <a:solidFill>
            <a:srgbClr val="FFB627"/>
          </a:solidFill>
          <a:ln w="12700">
            <a:solidFill>
              <a:srgbClr val="FFB62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58952" y="3589020"/>
            <a:ext cx="201168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1B2340"/>
                </a:solidFill>
              </a:rPr>
              <a:t>3</a:t>
            </a:r>
            <a:endParaRPr lang="en-US" sz="700" dirty="0"/>
          </a:p>
        </p:txBody>
      </p:sp>
      <p:sp>
        <p:nvSpPr>
          <p:cNvPr id="15" name="Text 13"/>
          <p:cNvSpPr/>
          <p:nvPr/>
        </p:nvSpPr>
        <p:spPr>
          <a:xfrm>
            <a:off x="1188720" y="3520440"/>
            <a:ext cx="4892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B2340"/>
                </a:solidFill>
              </a:rPr>
              <a:t>Secrets Management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85800" y="4517136"/>
            <a:ext cx="347472" cy="347472"/>
          </a:xfrm>
          <a:prstGeom prst="ellipse">
            <a:avLst/>
          </a:prstGeom>
          <a:solidFill>
            <a:srgbClr val="FFB627"/>
          </a:solidFill>
          <a:ln w="12700">
            <a:solidFill>
              <a:srgbClr val="FFB62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58952" y="4613148"/>
            <a:ext cx="201168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1B2340"/>
                </a:solidFill>
              </a:rPr>
              <a:t>4</a:t>
            </a:r>
            <a:endParaRPr lang="en-US" sz="700" dirty="0"/>
          </a:p>
        </p:txBody>
      </p:sp>
      <p:sp>
        <p:nvSpPr>
          <p:cNvPr id="18" name="Text 16"/>
          <p:cNvSpPr/>
          <p:nvPr/>
        </p:nvSpPr>
        <p:spPr>
          <a:xfrm>
            <a:off x="1188720" y="4544568"/>
            <a:ext cx="4892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B2340"/>
                </a:solidFill>
              </a:rPr>
              <a:t>AI Governance Frameworks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400800" y="1444752"/>
            <a:ext cx="347472" cy="347472"/>
          </a:xfrm>
          <a:prstGeom prst="ellipse">
            <a:avLst/>
          </a:prstGeom>
          <a:solidFill>
            <a:srgbClr val="FFB627"/>
          </a:solidFill>
          <a:ln w="12700">
            <a:solidFill>
              <a:srgbClr val="FFB62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73952" y="1540764"/>
            <a:ext cx="201168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1B2340"/>
                </a:solidFill>
              </a:rPr>
              <a:t>5</a:t>
            </a:r>
            <a:endParaRPr lang="en-US" sz="700" dirty="0"/>
          </a:p>
        </p:txBody>
      </p:sp>
      <p:sp>
        <p:nvSpPr>
          <p:cNvPr id="21" name="Text 19"/>
          <p:cNvSpPr/>
          <p:nvPr/>
        </p:nvSpPr>
        <p:spPr>
          <a:xfrm>
            <a:off x="6903720" y="1472184"/>
            <a:ext cx="4892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B2340"/>
                </a:solidFill>
              </a:rPr>
              <a:t>Regulatory Compliance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6400800" y="2468880"/>
            <a:ext cx="347472" cy="347472"/>
          </a:xfrm>
          <a:prstGeom prst="ellipse">
            <a:avLst/>
          </a:prstGeom>
          <a:solidFill>
            <a:srgbClr val="FFB627"/>
          </a:solidFill>
          <a:ln w="12700">
            <a:solidFill>
              <a:srgbClr val="FFB62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473952" y="2564892"/>
            <a:ext cx="201168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1B2340"/>
                </a:solidFill>
              </a:rPr>
              <a:t>6</a:t>
            </a:r>
            <a:endParaRPr lang="en-US" sz="700" dirty="0"/>
          </a:p>
        </p:txBody>
      </p:sp>
      <p:sp>
        <p:nvSpPr>
          <p:cNvPr id="24" name="Text 22"/>
          <p:cNvSpPr/>
          <p:nvPr/>
        </p:nvSpPr>
        <p:spPr>
          <a:xfrm>
            <a:off x="6903720" y="2496312"/>
            <a:ext cx="4892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B2340"/>
                </a:solidFill>
              </a:rPr>
              <a:t>Data Privacy and Protection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6400800" y="3493008"/>
            <a:ext cx="347472" cy="347472"/>
          </a:xfrm>
          <a:prstGeom prst="ellipse">
            <a:avLst/>
          </a:prstGeom>
          <a:solidFill>
            <a:srgbClr val="FFB627"/>
          </a:solidFill>
          <a:ln w="12700">
            <a:solidFill>
              <a:srgbClr val="FFB627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473952" y="3589020"/>
            <a:ext cx="201168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1B2340"/>
                </a:solidFill>
              </a:rPr>
              <a:t>7</a:t>
            </a:r>
            <a:endParaRPr lang="en-US" sz="700" dirty="0"/>
          </a:p>
        </p:txBody>
      </p:sp>
      <p:sp>
        <p:nvSpPr>
          <p:cNvPr id="27" name="Text 25"/>
          <p:cNvSpPr/>
          <p:nvPr/>
        </p:nvSpPr>
        <p:spPr>
          <a:xfrm>
            <a:off x="6903720" y="3520440"/>
            <a:ext cx="4892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B2340"/>
                </a:solidFill>
              </a:rPr>
              <a:t>Responsible AI Principles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6400800" y="4517136"/>
            <a:ext cx="347472" cy="347472"/>
          </a:xfrm>
          <a:prstGeom prst="ellipse">
            <a:avLst/>
          </a:prstGeom>
          <a:solidFill>
            <a:srgbClr val="FFB627"/>
          </a:solidFill>
          <a:ln w="12700">
            <a:solidFill>
              <a:srgbClr val="FFB627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473952" y="4613148"/>
            <a:ext cx="201168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1B2340"/>
                </a:solidFill>
              </a:rPr>
              <a:t>8</a:t>
            </a:r>
            <a:endParaRPr lang="en-US" sz="700" dirty="0"/>
          </a:p>
        </p:txBody>
      </p:sp>
      <p:sp>
        <p:nvSpPr>
          <p:cNvPr id="30" name="Text 28"/>
          <p:cNvSpPr/>
          <p:nvPr/>
        </p:nvSpPr>
        <p:spPr>
          <a:xfrm>
            <a:off x="6903720" y="4544568"/>
            <a:ext cx="4892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B2340"/>
                </a:solidFill>
              </a:rPr>
              <a:t>Risk Management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402336" y="6519672"/>
            <a:ext cx="65836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70" dirty="0">
                <a:solidFill>
                  <a:srgbClr val="5B6785"/>
                </a:solidFill>
              </a:rPr>
              <a:t>Scalable Enterprise Architectural Deployments of Agentic AI Solutions</a:t>
            </a:r>
            <a:endParaRPr lang="en-US" sz="570" dirty="0"/>
          </a:p>
        </p:txBody>
      </p:sp>
      <p:sp>
        <p:nvSpPr>
          <p:cNvPr id="32" name="Text 30"/>
          <p:cNvSpPr/>
          <p:nvPr/>
        </p:nvSpPr>
        <p:spPr>
          <a:xfrm>
            <a:off x="11384280" y="6473952"/>
            <a:ext cx="2926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50" dirty="0">
                <a:solidFill>
                  <a:srgbClr val="5B6785"/>
                </a:solidFill>
              </a:rPr>
              <a:t>4</a:t>
            </a:r>
            <a:endParaRPr lang="en-US" sz="6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pic>
        <p:nvPicPr>
          <p:cNvPr id="2" name="Image 0" descr="/mnt/data/675f45f346.png"/>
          <p:cNvPicPr>
            <a:picLocks noChangeAspect="1"/>
          </p:cNvPicPr>
          <p:nvPr/>
        </p:nvPicPr>
        <p:blipFill>
          <a:blip r:embed="rId3"/>
          <a:srcRect t="7811" b="7811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142E">
              <a:alpha val="55000"/>
            </a:srgbClr>
          </a:solidFill>
          <a:ln w="12700">
            <a:solidFill>
              <a:srgbClr val="08142E">
                <a:alpha val="0"/>
              </a:srgbClr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594360" y="384048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FFFFFF"/>
                </a:solidFill>
              </a:rPr>
              <a:t>Secure &amp; Governed Agentic AI</a:t>
            </a:r>
            <a:endParaRPr lang="en-US" sz="2300" dirty="0"/>
          </a:p>
        </p:txBody>
      </p:sp>
      <p:sp>
        <p:nvSpPr>
          <p:cNvPr id="5" name="Text 2"/>
          <p:cNvSpPr/>
          <p:nvPr/>
        </p:nvSpPr>
        <p:spPr>
          <a:xfrm>
            <a:off x="612648" y="86868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B8C6E3"/>
                </a:solidFill>
              </a:rPr>
              <a:t>Security must protect identity, tools, data, model interactions and decisions end-to-end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621792" y="4956048"/>
            <a:ext cx="10927080" cy="1051560"/>
          </a:xfrm>
          <a:prstGeom prst="roundRect">
            <a:avLst>
              <a:gd name="adj" fmla="val 10435"/>
            </a:avLst>
          </a:prstGeom>
          <a:solidFill>
            <a:srgbClr val="08142E">
              <a:alpha val="86000"/>
            </a:srgbClr>
          </a:solidFill>
          <a:ln w="12700">
            <a:solidFill>
              <a:srgbClr val="2CC9D2">
                <a:alpha val="65000"/>
              </a:srgbClr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868680" y="5248656"/>
            <a:ext cx="10378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CC9D2"/>
                </a:solidFill>
              </a:rPr>
              <a:t>Design rule: every agent action must be authenticated, authorized, policy-checked, traceable and revocable.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402336" y="6519672"/>
            <a:ext cx="65836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70" dirty="0">
                <a:solidFill>
                  <a:srgbClr val="8B93B8"/>
                </a:solidFill>
              </a:rPr>
              <a:t>Scalable Enterprise Architectural Deployments of Agentic AI Solutions</a:t>
            </a:r>
            <a:endParaRPr lang="en-US" sz="570" dirty="0"/>
          </a:p>
        </p:txBody>
      </p:sp>
      <p:sp>
        <p:nvSpPr>
          <p:cNvPr id="9" name="Text 6"/>
          <p:cNvSpPr/>
          <p:nvPr/>
        </p:nvSpPr>
        <p:spPr>
          <a:xfrm>
            <a:off x="11384280" y="6473952"/>
            <a:ext cx="2926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50" dirty="0">
                <a:solidFill>
                  <a:srgbClr val="8B93B8"/>
                </a:solidFill>
              </a:rPr>
              <a:t>5</a:t>
            </a:r>
            <a:endParaRPr lang="en-US" sz="6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 6">
            <a:extLst>
              <a:ext uri="{FF2B5EF4-FFF2-40B4-BE49-F238E27FC236}">
                <a16:creationId xmlns:a16="http://schemas.microsoft.com/office/drawing/2014/main" id="{69D184B2-2226-4E31-BCCB-4443307674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11118533" y="918266"/>
            <a:ext cx="706127" cy="5863534"/>
          </a:xfrm>
          <a:custGeom>
            <a:avLst/>
            <a:gdLst>
              <a:gd name="T0" fmla="*/ 414 w 414"/>
              <a:gd name="T1" fmla="*/ 2447 h 2447"/>
              <a:gd name="T2" fmla="*/ 0 w 414"/>
              <a:gd name="T3" fmla="*/ 2247 h 2447"/>
              <a:gd name="T4" fmla="*/ 0 w 414"/>
              <a:gd name="T5" fmla="*/ 0 h 2447"/>
              <a:gd name="T6" fmla="*/ 414 w 414"/>
              <a:gd name="T7" fmla="*/ 200 h 2447"/>
              <a:gd name="T8" fmla="*/ 414 w 414"/>
              <a:gd name="T9" fmla="*/ 2447 h 244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414" h="2447">
                <a:moveTo>
                  <a:pt x="414" y="2447"/>
                </a:moveTo>
                <a:lnTo>
                  <a:pt x="0" y="2247"/>
                </a:lnTo>
                <a:lnTo>
                  <a:pt x="0" y="0"/>
                </a:lnTo>
                <a:lnTo>
                  <a:pt x="414" y="200"/>
                </a:lnTo>
                <a:lnTo>
                  <a:pt x="414" y="2447"/>
                </a:lnTo>
                <a:close/>
              </a:path>
            </a:pathLst>
          </a:custGeom>
          <a:solidFill>
            <a:schemeClr val="accent1">
              <a:lumMod val="7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0" name="Freeform 7">
            <a:extLst>
              <a:ext uri="{FF2B5EF4-FFF2-40B4-BE49-F238E27FC236}">
                <a16:creationId xmlns:a16="http://schemas.microsoft.com/office/drawing/2014/main" id="{1AC4D4E3-486A-464A-8EC8-D448810972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11117879" y="643467"/>
            <a:ext cx="420307" cy="5668919"/>
          </a:xfrm>
          <a:custGeom>
            <a:avLst/>
            <a:gdLst>
              <a:gd name="T0" fmla="*/ 209 w 209"/>
              <a:gd name="T1" fmla="*/ 2246 h 2358"/>
              <a:gd name="T2" fmla="*/ 0 w 209"/>
              <a:gd name="T3" fmla="*/ 2358 h 2358"/>
              <a:gd name="T4" fmla="*/ 0 w 209"/>
              <a:gd name="T5" fmla="*/ 111 h 2358"/>
              <a:gd name="T6" fmla="*/ 209 w 209"/>
              <a:gd name="T7" fmla="*/ 0 h 2358"/>
              <a:gd name="T8" fmla="*/ 209 w 209"/>
              <a:gd name="T9" fmla="*/ 2246 h 235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09" h="2358">
                <a:moveTo>
                  <a:pt x="209" y="2246"/>
                </a:moveTo>
                <a:lnTo>
                  <a:pt x="0" y="2358"/>
                </a:lnTo>
                <a:lnTo>
                  <a:pt x="0" y="111"/>
                </a:lnTo>
                <a:lnTo>
                  <a:pt x="209" y="0"/>
                </a:lnTo>
                <a:lnTo>
                  <a:pt x="209" y="2246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64DE13E-58EB-4475-B79C-0D4FC65123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638387" y="643467"/>
            <a:ext cx="10933503" cy="5391944"/>
          </a:xfrm>
          <a:prstGeom prst="rect">
            <a:avLst/>
          </a:prstGeom>
          <a:solidFill>
            <a:srgbClr val="FFFFFF"/>
          </a:solidFill>
          <a:ln w="12700">
            <a:solidFill>
              <a:schemeClr val="accent1"/>
            </a:solidFill>
            <a:miter lim="800000"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372B16D-4785-84F5-5964-B7AF01F5D05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60800" y="654994"/>
            <a:ext cx="4023359" cy="56468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32628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41B4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Shape 0"/>
          <p:cNvSpPr/>
          <p:nvPr/>
        </p:nvSpPr>
        <p:spPr>
          <a:xfrm>
            <a:off x="10241280" y="228600"/>
            <a:ext cx="1417320" cy="1417320"/>
          </a:xfrm>
          <a:prstGeom prst="ellipse">
            <a:avLst/>
          </a:prstGeom>
          <a:solidFill>
            <a:srgbClr val="2B4388">
              <a:alpha val="44000"/>
            </a:srgbClr>
          </a:solidFill>
          <a:ln w="7620">
            <a:solidFill>
              <a:srgbClr val="FFB627">
                <a:alpha val="52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46304" y="5257800"/>
            <a:ext cx="1143000" cy="1143000"/>
          </a:xfrm>
          <a:prstGeom prst="ellipse">
            <a:avLst/>
          </a:prstGeom>
          <a:solidFill>
            <a:srgbClr val="223575">
              <a:alpha val="38000"/>
            </a:srgbClr>
          </a:solidFill>
          <a:ln w="12700">
            <a:solidFill>
              <a:srgbClr val="2670DD">
                <a:alpha val="35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393192"/>
            <a:ext cx="10698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FFFFFF"/>
                </a:solidFill>
              </a:rPr>
              <a:t>Enterprise AI Security Framework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612648" y="877824"/>
            <a:ext cx="10607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B8C6E3"/>
                </a:solidFill>
              </a:rPr>
              <a:t>Apply defense in depth across the complete agent attack surface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94360" y="1161288"/>
            <a:ext cx="10972800" cy="1"/>
          </a:xfrm>
          <a:prstGeom prst="line">
            <a:avLst/>
          </a:prstGeom>
          <a:noFill/>
          <a:ln w="12700">
            <a:solidFill>
              <a:srgbClr val="2CC9D2">
                <a:alpha val="75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02336" y="6519672"/>
            <a:ext cx="65836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70" dirty="0">
                <a:solidFill>
                  <a:srgbClr val="8B93B8"/>
                </a:solidFill>
              </a:rPr>
              <a:t>Scalable Enterprise Architectural Deployments of Agentic AI Solutions</a:t>
            </a:r>
            <a:endParaRPr lang="en-US" sz="570" dirty="0"/>
          </a:p>
        </p:txBody>
      </p:sp>
      <p:sp>
        <p:nvSpPr>
          <p:cNvPr id="8" name="Text 6"/>
          <p:cNvSpPr/>
          <p:nvPr/>
        </p:nvSpPr>
        <p:spPr>
          <a:xfrm>
            <a:off x="11384280" y="6473952"/>
            <a:ext cx="2926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50" dirty="0">
                <a:solidFill>
                  <a:srgbClr val="8B93B8"/>
                </a:solidFill>
              </a:rPr>
              <a:t>6</a:t>
            </a:r>
            <a:endParaRPr lang="en-US" sz="650" dirty="0"/>
          </a:p>
        </p:txBody>
      </p:sp>
      <p:sp>
        <p:nvSpPr>
          <p:cNvPr id="9" name="Shape 7"/>
          <p:cNvSpPr/>
          <p:nvPr/>
        </p:nvSpPr>
        <p:spPr>
          <a:xfrm>
            <a:off x="621792" y="1417320"/>
            <a:ext cx="3486912" cy="2235708"/>
          </a:xfrm>
          <a:prstGeom prst="roundRect">
            <a:avLst>
              <a:gd name="adj" fmla="val 4908"/>
            </a:avLst>
          </a:prstGeom>
          <a:solidFill>
            <a:srgbClr val="122A52">
              <a:alpha val="95000"/>
            </a:srgbClr>
          </a:solidFill>
          <a:ln w="10160">
            <a:solidFill>
              <a:srgbClr val="2670DD">
                <a:alpha val="65000"/>
              </a:srgbClr>
            </a:solidFill>
            <a:prstDash val="solid"/>
          </a:ln>
          <a:effectLst>
            <a:outerShdw blurRad="19050" dist="762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786384" y="1554480"/>
            <a:ext cx="31577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</a:rPr>
              <a:t>Identity layer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786384" y="1929384"/>
            <a:ext cx="3157728" cy="160477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r>
              <a:rPr lang="en-US" sz="1200" dirty="0">
                <a:solidFill>
                  <a:srgbClr val="F5F8FC"/>
                </a:solidFill>
              </a:rPr>
              <a:t>User identity</a:t>
            </a:r>
            <a:endParaRPr lang="en-US" sz="1200" dirty="0"/>
          </a:p>
          <a:p>
            <a:r>
              <a:rPr lang="en-US" sz="1200" dirty="0">
                <a:solidFill>
                  <a:srgbClr val="F5F8FC"/>
                </a:solidFill>
              </a:rPr>
              <a:t>Agent identity</a:t>
            </a:r>
            <a:endParaRPr lang="en-US" sz="1200" dirty="0"/>
          </a:p>
          <a:p>
            <a:r>
              <a:rPr lang="en-US" sz="1200" dirty="0">
                <a:solidFill>
                  <a:srgbClr val="F5F8FC"/>
                </a:solidFill>
              </a:rPr>
              <a:t>Workload identity</a:t>
            </a:r>
            <a:endParaRPr lang="en-US" sz="1200" dirty="0"/>
          </a:p>
          <a:p>
            <a:r>
              <a:rPr lang="en-US" sz="1200" dirty="0">
                <a:solidFill>
                  <a:srgbClr val="F5F8FC"/>
                </a:solidFill>
              </a:rPr>
              <a:t>Service accounts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364736" y="1417320"/>
            <a:ext cx="3486912" cy="2235708"/>
          </a:xfrm>
          <a:prstGeom prst="roundRect">
            <a:avLst>
              <a:gd name="adj" fmla="val 4908"/>
            </a:avLst>
          </a:prstGeom>
          <a:solidFill>
            <a:srgbClr val="122A52">
              <a:alpha val="95000"/>
            </a:srgbClr>
          </a:solidFill>
          <a:ln w="10160">
            <a:solidFill>
              <a:srgbClr val="2CC9D2">
                <a:alpha val="65000"/>
              </a:srgbClr>
            </a:solidFill>
            <a:prstDash val="solid"/>
          </a:ln>
          <a:effectLst>
            <a:outerShdw blurRad="19050" dist="762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529328" y="1554480"/>
            <a:ext cx="31577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</a:rPr>
              <a:t>Input &amp; context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4529328" y="1929384"/>
            <a:ext cx="3157728" cy="160477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r>
              <a:rPr lang="en-US" sz="1200" dirty="0">
                <a:solidFill>
                  <a:srgbClr val="F5F8FC"/>
                </a:solidFill>
              </a:rPr>
              <a:t>Prompt injection defenses</a:t>
            </a:r>
            <a:endParaRPr lang="en-US" sz="1200" dirty="0"/>
          </a:p>
          <a:p>
            <a:r>
              <a:rPr lang="en-US" sz="1200" dirty="0">
                <a:solidFill>
                  <a:srgbClr val="F5F8FC"/>
                </a:solidFill>
              </a:rPr>
              <a:t>Content classification</a:t>
            </a:r>
            <a:endParaRPr lang="en-US" sz="1200" dirty="0"/>
          </a:p>
          <a:p>
            <a:r>
              <a:rPr lang="en-US" sz="1200" dirty="0">
                <a:solidFill>
                  <a:srgbClr val="F5F8FC"/>
                </a:solidFill>
              </a:rPr>
              <a:t>Context isolation</a:t>
            </a:r>
            <a:endParaRPr lang="en-US" sz="1200" dirty="0"/>
          </a:p>
          <a:p>
            <a:r>
              <a:rPr lang="en-US" sz="1200" dirty="0">
                <a:solidFill>
                  <a:srgbClr val="F5F8FC"/>
                </a:solidFill>
              </a:rPr>
              <a:t>Input limits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8107680" y="1417320"/>
            <a:ext cx="3486912" cy="2235708"/>
          </a:xfrm>
          <a:prstGeom prst="roundRect">
            <a:avLst>
              <a:gd name="adj" fmla="val 4908"/>
            </a:avLst>
          </a:prstGeom>
          <a:solidFill>
            <a:srgbClr val="122A52">
              <a:alpha val="95000"/>
            </a:srgbClr>
          </a:solidFill>
          <a:ln w="10160">
            <a:solidFill>
              <a:srgbClr val="7C5BDC">
                <a:alpha val="65000"/>
              </a:srgbClr>
            </a:solidFill>
            <a:prstDash val="solid"/>
          </a:ln>
          <a:effectLst>
            <a:outerShdw blurRad="19050" dist="762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8272272" y="1554480"/>
            <a:ext cx="31577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</a:rPr>
              <a:t>Model access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8272272" y="1929384"/>
            <a:ext cx="3157728" cy="160477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r>
              <a:rPr lang="en-US" sz="1200" dirty="0">
                <a:solidFill>
                  <a:srgbClr val="F5F8FC"/>
                </a:solidFill>
              </a:rPr>
              <a:t>Approved models</a:t>
            </a:r>
            <a:endParaRPr lang="en-US" sz="1200" dirty="0"/>
          </a:p>
          <a:p>
            <a:r>
              <a:rPr lang="en-US" sz="1200" dirty="0">
                <a:solidFill>
                  <a:srgbClr val="F5F8FC"/>
                </a:solidFill>
              </a:rPr>
              <a:t>Private endpoints</a:t>
            </a:r>
            <a:endParaRPr lang="en-US" sz="1200" dirty="0"/>
          </a:p>
          <a:p>
            <a:r>
              <a:rPr lang="en-US" sz="1200" dirty="0">
                <a:solidFill>
                  <a:srgbClr val="F5F8FC"/>
                </a:solidFill>
              </a:rPr>
              <a:t>Rate quotas</a:t>
            </a:r>
            <a:endParaRPr lang="en-US" sz="1200" dirty="0"/>
          </a:p>
          <a:p>
            <a:r>
              <a:rPr lang="en-US" sz="1200" dirty="0">
                <a:solidFill>
                  <a:srgbClr val="F5F8FC"/>
                </a:solidFill>
              </a:rPr>
              <a:t>Safety filters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21792" y="3982212"/>
            <a:ext cx="3486912" cy="2235708"/>
          </a:xfrm>
          <a:prstGeom prst="roundRect">
            <a:avLst>
              <a:gd name="adj" fmla="val 4908"/>
            </a:avLst>
          </a:prstGeom>
          <a:solidFill>
            <a:srgbClr val="122A52">
              <a:alpha val="95000"/>
            </a:srgbClr>
          </a:solidFill>
          <a:ln w="10160">
            <a:solidFill>
              <a:srgbClr val="2FBE82">
                <a:alpha val="65000"/>
              </a:srgbClr>
            </a:solidFill>
            <a:prstDash val="solid"/>
          </a:ln>
          <a:effectLst>
            <a:outerShdw blurRad="19050" dist="762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786384" y="4119372"/>
            <a:ext cx="31577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</a:rPr>
              <a:t>Tool execution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786384" y="4494276"/>
            <a:ext cx="3157728" cy="160477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r>
              <a:rPr lang="en-US" sz="1200" dirty="0">
                <a:solidFill>
                  <a:srgbClr val="F5F8FC"/>
                </a:solidFill>
              </a:rPr>
              <a:t>Allowlisted tools</a:t>
            </a:r>
            <a:endParaRPr lang="en-US" sz="1200" dirty="0"/>
          </a:p>
          <a:p>
            <a:r>
              <a:rPr lang="en-US" sz="1200" dirty="0">
                <a:solidFill>
                  <a:srgbClr val="F5F8FC"/>
                </a:solidFill>
              </a:rPr>
              <a:t>Typed schemas</a:t>
            </a:r>
            <a:endParaRPr lang="en-US" sz="1200" dirty="0"/>
          </a:p>
          <a:p>
            <a:r>
              <a:rPr lang="en-US" sz="1200" dirty="0">
                <a:solidFill>
                  <a:srgbClr val="F5F8FC"/>
                </a:solidFill>
              </a:rPr>
              <a:t>Least privilege</a:t>
            </a:r>
            <a:endParaRPr lang="en-US" sz="1200" dirty="0"/>
          </a:p>
          <a:p>
            <a:r>
              <a:rPr lang="en-US" sz="1200" dirty="0">
                <a:solidFill>
                  <a:srgbClr val="F5F8FC"/>
                </a:solidFill>
              </a:rPr>
              <a:t>Transaction limits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364736" y="3982212"/>
            <a:ext cx="3486912" cy="2235708"/>
          </a:xfrm>
          <a:prstGeom prst="roundRect">
            <a:avLst>
              <a:gd name="adj" fmla="val 4908"/>
            </a:avLst>
          </a:prstGeom>
          <a:solidFill>
            <a:srgbClr val="122A52">
              <a:alpha val="95000"/>
            </a:srgbClr>
          </a:solidFill>
          <a:ln w="10160">
            <a:solidFill>
              <a:srgbClr val="FFB627">
                <a:alpha val="65000"/>
              </a:srgbClr>
            </a:solidFill>
            <a:prstDash val="solid"/>
          </a:ln>
          <a:effectLst>
            <a:outerShdw blurRad="19050" dist="762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4529328" y="4119372"/>
            <a:ext cx="31577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Data protection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4529328" y="4494276"/>
            <a:ext cx="3157728" cy="160477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r>
              <a:rPr lang="en-US" sz="1200" dirty="0">
                <a:solidFill>
                  <a:srgbClr val="F5F8FC"/>
                </a:solidFill>
              </a:rPr>
              <a:t>Classification</a:t>
            </a:r>
            <a:endParaRPr lang="en-US" sz="1200" dirty="0"/>
          </a:p>
          <a:p>
            <a:r>
              <a:rPr lang="en-US" sz="1200" dirty="0">
                <a:solidFill>
                  <a:srgbClr val="F5F8FC"/>
                </a:solidFill>
              </a:rPr>
              <a:t>Encryption</a:t>
            </a:r>
            <a:endParaRPr lang="en-US" sz="1200" dirty="0"/>
          </a:p>
          <a:p>
            <a:r>
              <a:rPr lang="en-US" sz="1200" dirty="0">
                <a:solidFill>
                  <a:srgbClr val="F5F8FC"/>
                </a:solidFill>
              </a:rPr>
              <a:t>DLP</a:t>
            </a:r>
            <a:endParaRPr lang="en-US" sz="1200" dirty="0"/>
          </a:p>
          <a:p>
            <a:r>
              <a:rPr lang="en-US" sz="1200" dirty="0">
                <a:solidFill>
                  <a:srgbClr val="F5F8FC"/>
                </a:solidFill>
              </a:rPr>
              <a:t>Access-aware retrieval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8107680" y="3982212"/>
            <a:ext cx="3486912" cy="2235708"/>
          </a:xfrm>
          <a:prstGeom prst="roundRect">
            <a:avLst>
              <a:gd name="adj" fmla="val 4908"/>
            </a:avLst>
          </a:prstGeom>
          <a:solidFill>
            <a:srgbClr val="122A52">
              <a:alpha val="95000"/>
            </a:srgbClr>
          </a:solidFill>
          <a:ln w="10160">
            <a:solidFill>
              <a:srgbClr val="E35D6A">
                <a:alpha val="65000"/>
              </a:srgbClr>
            </a:solidFill>
            <a:prstDash val="solid"/>
          </a:ln>
          <a:effectLst>
            <a:outerShdw blurRad="19050" dist="762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8272272" y="4119372"/>
            <a:ext cx="31577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</a:rPr>
              <a:t>Operations</a:t>
            </a:r>
            <a:endParaRPr lang="en-US" sz="2000" dirty="0"/>
          </a:p>
        </p:txBody>
      </p:sp>
      <p:sp>
        <p:nvSpPr>
          <p:cNvPr id="26" name="Text 24"/>
          <p:cNvSpPr/>
          <p:nvPr/>
        </p:nvSpPr>
        <p:spPr>
          <a:xfrm>
            <a:off x="8272272" y="4494276"/>
            <a:ext cx="3157728" cy="160477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r>
              <a:rPr lang="en-US" sz="1200" dirty="0">
                <a:solidFill>
                  <a:srgbClr val="F5F8FC"/>
                </a:solidFill>
              </a:rPr>
              <a:t>Audit trails</a:t>
            </a:r>
            <a:endParaRPr lang="en-US" sz="1200" dirty="0"/>
          </a:p>
          <a:p>
            <a:r>
              <a:rPr lang="en-US" sz="1200" dirty="0">
                <a:solidFill>
                  <a:srgbClr val="F5F8FC"/>
                </a:solidFill>
              </a:rPr>
              <a:t>Threat detection</a:t>
            </a:r>
            <a:endParaRPr lang="en-US" sz="1200" dirty="0"/>
          </a:p>
          <a:p>
            <a:r>
              <a:rPr lang="en-US" sz="1200" dirty="0">
                <a:solidFill>
                  <a:srgbClr val="F5F8FC"/>
                </a:solidFill>
              </a:rPr>
              <a:t>Incident response</a:t>
            </a:r>
            <a:endParaRPr lang="en-US" sz="1200" dirty="0"/>
          </a:p>
          <a:p>
            <a:r>
              <a:rPr lang="en-US" sz="1200" dirty="0">
                <a:solidFill>
                  <a:srgbClr val="F5F8FC"/>
                </a:solidFill>
              </a:rPr>
              <a:t>Kill switch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402336" y="6519672"/>
            <a:ext cx="65836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70" dirty="0">
                <a:solidFill>
                  <a:srgbClr val="8B93B8"/>
                </a:solidFill>
              </a:rPr>
              <a:t>Scalable Enterprise Architectural Deployments of Agentic AI Solutions</a:t>
            </a:r>
            <a:endParaRPr lang="en-US" sz="570" dirty="0"/>
          </a:p>
        </p:txBody>
      </p:sp>
      <p:sp>
        <p:nvSpPr>
          <p:cNvPr id="28" name="Text 26"/>
          <p:cNvSpPr/>
          <p:nvPr/>
        </p:nvSpPr>
        <p:spPr>
          <a:xfrm>
            <a:off x="11384280" y="6473952"/>
            <a:ext cx="2926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50" dirty="0">
                <a:solidFill>
                  <a:srgbClr val="8B93B8"/>
                </a:solidFill>
              </a:rPr>
              <a:t>6</a:t>
            </a:r>
            <a:endParaRPr lang="en-US" sz="6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6">
            <a:extLst>
              <a:ext uri="{FF2B5EF4-FFF2-40B4-BE49-F238E27FC236}">
                <a16:creationId xmlns:a16="http://schemas.microsoft.com/office/drawing/2014/main" id="{69D184B2-2226-4E31-BCCB-4443307674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11118533" y="918266"/>
            <a:ext cx="706127" cy="5863534"/>
          </a:xfrm>
          <a:custGeom>
            <a:avLst/>
            <a:gdLst>
              <a:gd name="T0" fmla="*/ 414 w 414"/>
              <a:gd name="T1" fmla="*/ 2447 h 2447"/>
              <a:gd name="T2" fmla="*/ 0 w 414"/>
              <a:gd name="T3" fmla="*/ 2247 h 2447"/>
              <a:gd name="T4" fmla="*/ 0 w 414"/>
              <a:gd name="T5" fmla="*/ 0 h 2447"/>
              <a:gd name="T6" fmla="*/ 414 w 414"/>
              <a:gd name="T7" fmla="*/ 200 h 2447"/>
              <a:gd name="T8" fmla="*/ 414 w 414"/>
              <a:gd name="T9" fmla="*/ 2447 h 244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414" h="2447">
                <a:moveTo>
                  <a:pt x="414" y="2447"/>
                </a:moveTo>
                <a:lnTo>
                  <a:pt x="0" y="2247"/>
                </a:lnTo>
                <a:lnTo>
                  <a:pt x="0" y="0"/>
                </a:lnTo>
                <a:lnTo>
                  <a:pt x="414" y="200"/>
                </a:lnTo>
                <a:lnTo>
                  <a:pt x="414" y="2447"/>
                </a:lnTo>
                <a:close/>
              </a:path>
            </a:pathLst>
          </a:custGeom>
          <a:solidFill>
            <a:schemeClr val="accent1">
              <a:lumMod val="7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9" name="Freeform 7">
            <a:extLst>
              <a:ext uri="{FF2B5EF4-FFF2-40B4-BE49-F238E27FC236}">
                <a16:creationId xmlns:a16="http://schemas.microsoft.com/office/drawing/2014/main" id="{1AC4D4E3-486A-464A-8EC8-D448810972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11117879" y="643467"/>
            <a:ext cx="420307" cy="5668919"/>
          </a:xfrm>
          <a:custGeom>
            <a:avLst/>
            <a:gdLst>
              <a:gd name="T0" fmla="*/ 209 w 209"/>
              <a:gd name="T1" fmla="*/ 2246 h 2358"/>
              <a:gd name="T2" fmla="*/ 0 w 209"/>
              <a:gd name="T3" fmla="*/ 2358 h 2358"/>
              <a:gd name="T4" fmla="*/ 0 w 209"/>
              <a:gd name="T5" fmla="*/ 111 h 2358"/>
              <a:gd name="T6" fmla="*/ 209 w 209"/>
              <a:gd name="T7" fmla="*/ 0 h 2358"/>
              <a:gd name="T8" fmla="*/ 209 w 209"/>
              <a:gd name="T9" fmla="*/ 2246 h 235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09" h="2358">
                <a:moveTo>
                  <a:pt x="209" y="2246"/>
                </a:moveTo>
                <a:lnTo>
                  <a:pt x="0" y="2358"/>
                </a:lnTo>
                <a:lnTo>
                  <a:pt x="0" y="111"/>
                </a:lnTo>
                <a:lnTo>
                  <a:pt x="209" y="0"/>
                </a:lnTo>
                <a:lnTo>
                  <a:pt x="209" y="2246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64DE13E-58EB-4475-B79C-0D4FC65123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638387" y="643467"/>
            <a:ext cx="10933503" cy="5391944"/>
          </a:xfrm>
          <a:prstGeom prst="rect">
            <a:avLst/>
          </a:prstGeom>
          <a:solidFill>
            <a:srgbClr val="FFFFFF"/>
          </a:solidFill>
          <a:ln w="12700">
            <a:solidFill>
              <a:schemeClr val="accent1"/>
            </a:solidFill>
            <a:miter lim="800000"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2E24C093-FD7A-D2A0-4C88-D232FD26BC2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26936" y="651353"/>
            <a:ext cx="5391944" cy="53919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801431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594360" y="393192"/>
            <a:ext cx="10698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1B2340"/>
                </a:solidFill>
              </a:rPr>
              <a:t>Authentication &amp; Authorization</a:t>
            </a:r>
            <a:endParaRPr lang="en-US" sz="2300" dirty="0"/>
          </a:p>
        </p:txBody>
      </p:sp>
      <p:sp>
        <p:nvSpPr>
          <p:cNvPr id="3" name="Text 1"/>
          <p:cNvSpPr/>
          <p:nvPr/>
        </p:nvSpPr>
        <p:spPr>
          <a:xfrm>
            <a:off x="612648" y="877824"/>
            <a:ext cx="10607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B6785"/>
                </a:solidFill>
              </a:rPr>
              <a:t>Authenticate every actor; authorize every requested capability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94360" y="1161288"/>
            <a:ext cx="10972800" cy="1"/>
          </a:xfrm>
          <a:prstGeom prst="line">
            <a:avLst/>
          </a:prstGeom>
          <a:noFill/>
          <a:ln w="12700">
            <a:solidFill>
              <a:srgbClr val="2670DD">
                <a:alpha val="75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02336" y="6519672"/>
            <a:ext cx="65836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70" dirty="0">
                <a:solidFill>
                  <a:srgbClr val="5B6785"/>
                </a:solidFill>
              </a:rPr>
              <a:t>Scalable Enterprise Architectural Deployments of Agentic AI Solutions</a:t>
            </a:r>
            <a:endParaRPr lang="en-US" sz="570" dirty="0"/>
          </a:p>
        </p:txBody>
      </p:sp>
      <p:sp>
        <p:nvSpPr>
          <p:cNvPr id="6" name="Text 4"/>
          <p:cNvSpPr/>
          <p:nvPr/>
        </p:nvSpPr>
        <p:spPr>
          <a:xfrm>
            <a:off x="11384280" y="6473952"/>
            <a:ext cx="2926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50" dirty="0">
                <a:solidFill>
                  <a:srgbClr val="5B6785"/>
                </a:solidFill>
              </a:rPr>
              <a:t>7</a:t>
            </a:r>
            <a:endParaRPr lang="en-US" sz="650" dirty="0"/>
          </a:p>
        </p:txBody>
      </p:sp>
      <p:sp>
        <p:nvSpPr>
          <p:cNvPr id="7" name="Shape 5"/>
          <p:cNvSpPr/>
          <p:nvPr/>
        </p:nvSpPr>
        <p:spPr>
          <a:xfrm>
            <a:off x="621792" y="1417320"/>
            <a:ext cx="3486912" cy="2235708"/>
          </a:xfrm>
          <a:prstGeom prst="roundRect">
            <a:avLst>
              <a:gd name="adj" fmla="val 4908"/>
            </a:avLst>
          </a:prstGeom>
          <a:solidFill>
            <a:srgbClr val="F0F4FC"/>
          </a:solidFill>
          <a:ln w="10160">
            <a:solidFill>
              <a:srgbClr val="2670DD">
                <a:alpha val="65000"/>
              </a:srgbClr>
            </a:solidFill>
            <a:prstDash val="solid"/>
          </a:ln>
          <a:effectLst>
            <a:outerShdw blurRad="19050" dist="762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786384" y="1554480"/>
            <a:ext cx="31577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1B2340"/>
                </a:solidFill>
              </a:rPr>
              <a:t>Authentication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786384" y="1929384"/>
            <a:ext cx="3157728" cy="160477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r>
              <a:rPr lang="en-US" sz="1200" dirty="0">
                <a:solidFill>
                  <a:srgbClr val="5B6785"/>
                </a:solidFill>
              </a:rPr>
              <a:t>Verify the user, agent, service and workload identity.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364736" y="1417320"/>
            <a:ext cx="3486912" cy="2235708"/>
          </a:xfrm>
          <a:prstGeom prst="roundRect">
            <a:avLst>
              <a:gd name="adj" fmla="val 4908"/>
            </a:avLst>
          </a:prstGeom>
          <a:solidFill>
            <a:srgbClr val="F0F4FC"/>
          </a:solidFill>
          <a:ln w="10160">
            <a:solidFill>
              <a:srgbClr val="2CC9D2">
                <a:alpha val="65000"/>
              </a:srgbClr>
            </a:solidFill>
            <a:prstDash val="solid"/>
          </a:ln>
          <a:effectLst>
            <a:outerShdw blurRad="19050" dist="762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529328" y="1554480"/>
            <a:ext cx="31577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1B2340"/>
                </a:solidFill>
              </a:rPr>
              <a:t>Authorization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4529328" y="1929384"/>
            <a:ext cx="3157728" cy="160477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r>
              <a:rPr lang="en-US" sz="1200" dirty="0">
                <a:solidFill>
                  <a:srgbClr val="5B6785"/>
                </a:solidFill>
              </a:rPr>
              <a:t>Evaluate role, attribute, resource, action and business context.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8107680" y="1417320"/>
            <a:ext cx="3486912" cy="2235708"/>
          </a:xfrm>
          <a:prstGeom prst="roundRect">
            <a:avLst>
              <a:gd name="adj" fmla="val 4908"/>
            </a:avLst>
          </a:prstGeom>
          <a:solidFill>
            <a:srgbClr val="F0F4FC"/>
          </a:solidFill>
          <a:ln w="10160">
            <a:solidFill>
              <a:srgbClr val="7C5BDC">
                <a:alpha val="65000"/>
              </a:srgbClr>
            </a:solidFill>
            <a:prstDash val="solid"/>
          </a:ln>
          <a:effectLst>
            <a:outerShdw blurRad="19050" dist="762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8272272" y="1554480"/>
            <a:ext cx="31577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1B2340"/>
                </a:solidFill>
              </a:rPr>
              <a:t>Delegated access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8272272" y="1929384"/>
            <a:ext cx="3157728" cy="160477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r>
              <a:rPr lang="en-US" sz="1200" dirty="0">
                <a:solidFill>
                  <a:srgbClr val="5B6785"/>
                </a:solidFill>
              </a:rPr>
              <a:t>Preserve user context for on-behalf-of operations.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21792" y="3982212"/>
            <a:ext cx="3486912" cy="2235708"/>
          </a:xfrm>
          <a:prstGeom prst="roundRect">
            <a:avLst>
              <a:gd name="adj" fmla="val 4908"/>
            </a:avLst>
          </a:prstGeom>
          <a:solidFill>
            <a:srgbClr val="F0F4FC"/>
          </a:solidFill>
          <a:ln w="10160">
            <a:solidFill>
              <a:srgbClr val="2FBE82">
                <a:alpha val="65000"/>
              </a:srgbClr>
            </a:solidFill>
            <a:prstDash val="solid"/>
          </a:ln>
          <a:effectLst>
            <a:outerShdw blurRad="19050" dist="762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786384" y="4119372"/>
            <a:ext cx="31577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1B2340"/>
                </a:solidFill>
              </a:rPr>
              <a:t>Agent identity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786384" y="4494276"/>
            <a:ext cx="3157728" cy="160477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r>
              <a:rPr lang="en-US" sz="1200" dirty="0">
                <a:solidFill>
                  <a:srgbClr val="5B6785"/>
                </a:solidFill>
              </a:rPr>
              <a:t>Assign a unique non-human identity with owned lifecycle.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364736" y="3982212"/>
            <a:ext cx="3486912" cy="2235708"/>
          </a:xfrm>
          <a:prstGeom prst="roundRect">
            <a:avLst>
              <a:gd name="adj" fmla="val 4908"/>
            </a:avLst>
          </a:prstGeom>
          <a:solidFill>
            <a:srgbClr val="F0F4FC"/>
          </a:solidFill>
          <a:ln w="10160">
            <a:solidFill>
              <a:srgbClr val="FFB627">
                <a:alpha val="65000"/>
              </a:srgbClr>
            </a:solidFill>
            <a:prstDash val="solid"/>
          </a:ln>
          <a:effectLst>
            <a:outerShdw blurRad="19050" dist="762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529328" y="4119372"/>
            <a:ext cx="31577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1B2340"/>
                </a:solidFill>
              </a:rPr>
              <a:t>Tool scopes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4529328" y="4494276"/>
            <a:ext cx="3157728" cy="160477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r>
              <a:rPr lang="en-US" sz="1200" dirty="0">
                <a:solidFill>
                  <a:srgbClr val="5B6785"/>
                </a:solidFill>
              </a:rPr>
              <a:t>Grant narrow operations, resource boundaries and time limits.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8107680" y="3982212"/>
            <a:ext cx="3486912" cy="2235708"/>
          </a:xfrm>
          <a:prstGeom prst="roundRect">
            <a:avLst>
              <a:gd name="adj" fmla="val 4908"/>
            </a:avLst>
          </a:prstGeom>
          <a:solidFill>
            <a:srgbClr val="F0F4FC"/>
          </a:solidFill>
          <a:ln w="10160">
            <a:solidFill>
              <a:srgbClr val="E35D6A">
                <a:alpha val="65000"/>
              </a:srgbClr>
            </a:solidFill>
            <a:prstDash val="solid"/>
          </a:ln>
          <a:effectLst>
            <a:outerShdw blurRad="19050" dist="762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8272272" y="4119372"/>
            <a:ext cx="31577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1B2340"/>
                </a:solidFill>
              </a:rPr>
              <a:t>High-impact actions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8272272" y="4494276"/>
            <a:ext cx="3157728" cy="160477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r>
              <a:rPr lang="en-US" sz="1200" dirty="0">
                <a:solidFill>
                  <a:srgbClr val="5B6785"/>
                </a:solidFill>
              </a:rPr>
              <a:t>Require step-up authentication or human approval before commit.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402336" y="6519672"/>
            <a:ext cx="65836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70" dirty="0">
                <a:solidFill>
                  <a:srgbClr val="5B6785"/>
                </a:solidFill>
              </a:rPr>
              <a:t>Scalable Enterprise Architectural Deployments of Agentic AI Solutions</a:t>
            </a:r>
            <a:endParaRPr lang="en-US" sz="570" dirty="0"/>
          </a:p>
        </p:txBody>
      </p:sp>
      <p:sp>
        <p:nvSpPr>
          <p:cNvPr id="26" name="Text 24"/>
          <p:cNvSpPr/>
          <p:nvPr/>
        </p:nvSpPr>
        <p:spPr>
          <a:xfrm>
            <a:off x="11384280" y="6473952"/>
            <a:ext cx="2926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50" dirty="0">
                <a:solidFill>
                  <a:srgbClr val="5B6785"/>
                </a:solidFill>
              </a:rPr>
              <a:t>7</a:t>
            </a:r>
            <a:endParaRPr lang="en-US" sz="6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41B4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Shape 0"/>
          <p:cNvSpPr/>
          <p:nvPr/>
        </p:nvSpPr>
        <p:spPr>
          <a:xfrm>
            <a:off x="10241280" y="228600"/>
            <a:ext cx="1417320" cy="1417320"/>
          </a:xfrm>
          <a:prstGeom prst="ellipse">
            <a:avLst/>
          </a:prstGeom>
          <a:solidFill>
            <a:srgbClr val="2B4388">
              <a:alpha val="44000"/>
            </a:srgbClr>
          </a:solidFill>
          <a:ln w="7620">
            <a:solidFill>
              <a:srgbClr val="FFB627">
                <a:alpha val="52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46304" y="5257800"/>
            <a:ext cx="1143000" cy="1143000"/>
          </a:xfrm>
          <a:prstGeom prst="ellipse">
            <a:avLst/>
          </a:prstGeom>
          <a:solidFill>
            <a:srgbClr val="223575">
              <a:alpha val="38000"/>
            </a:srgbClr>
          </a:solidFill>
          <a:ln w="12700">
            <a:solidFill>
              <a:srgbClr val="2670DD">
                <a:alpha val="35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393192"/>
            <a:ext cx="10698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FFFFFF"/>
                </a:solidFill>
              </a:rPr>
              <a:t>Secure Agent Access-Control Flow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612648" y="877824"/>
            <a:ext cx="10607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B8C6E3"/>
                </a:solidFill>
              </a:rPr>
              <a:t>Policy enforcement must occur before retrieval and before external action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94360" y="1161288"/>
            <a:ext cx="10972800" cy="1"/>
          </a:xfrm>
          <a:prstGeom prst="line">
            <a:avLst/>
          </a:prstGeom>
          <a:noFill/>
          <a:ln w="12700">
            <a:solidFill>
              <a:srgbClr val="2CC9D2">
                <a:alpha val="75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02336" y="6519672"/>
            <a:ext cx="65836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70" dirty="0">
                <a:solidFill>
                  <a:srgbClr val="8B93B8"/>
                </a:solidFill>
              </a:rPr>
              <a:t>Scalable Enterprise Architectural Deployments of Agentic AI Solutions</a:t>
            </a:r>
            <a:endParaRPr lang="en-US" sz="570" dirty="0"/>
          </a:p>
        </p:txBody>
      </p:sp>
      <p:sp>
        <p:nvSpPr>
          <p:cNvPr id="8" name="Text 6"/>
          <p:cNvSpPr/>
          <p:nvPr/>
        </p:nvSpPr>
        <p:spPr>
          <a:xfrm>
            <a:off x="11384280" y="6473952"/>
            <a:ext cx="2926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50" dirty="0">
                <a:solidFill>
                  <a:srgbClr val="8B93B8"/>
                </a:solidFill>
              </a:rPr>
              <a:t>8</a:t>
            </a:r>
            <a:endParaRPr lang="en-US" sz="650" dirty="0"/>
          </a:p>
        </p:txBody>
      </p:sp>
      <p:sp>
        <p:nvSpPr>
          <p:cNvPr id="9" name="Shape 7"/>
          <p:cNvSpPr/>
          <p:nvPr/>
        </p:nvSpPr>
        <p:spPr>
          <a:xfrm>
            <a:off x="621792" y="2331720"/>
            <a:ext cx="1417320" cy="1143000"/>
          </a:xfrm>
          <a:prstGeom prst="roundRect">
            <a:avLst>
              <a:gd name="adj" fmla="val 9600"/>
            </a:avLst>
          </a:prstGeom>
          <a:solidFill>
            <a:srgbClr val="7C5BDC"/>
          </a:solidFill>
          <a:ln w="12700">
            <a:solidFill>
              <a:srgbClr val="2CC9D2">
                <a:alpha val="55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31520" y="2560320"/>
            <a:ext cx="119786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User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731520" y="2953512"/>
            <a:ext cx="119786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F5F8FC"/>
                </a:solidFill>
              </a:rPr>
              <a:t>Authenticate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084832" y="2752344"/>
            <a:ext cx="228600" cy="274320"/>
          </a:xfrm>
          <a:prstGeom prst="chevron">
            <a:avLst/>
          </a:prstGeom>
          <a:solidFill>
            <a:srgbClr val="FFB627"/>
          </a:solidFill>
          <a:ln w="12700">
            <a:solidFill>
              <a:srgbClr val="FFB627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377440" y="2331720"/>
            <a:ext cx="1417320" cy="1143000"/>
          </a:xfrm>
          <a:prstGeom prst="roundRect">
            <a:avLst>
              <a:gd name="adj" fmla="val 9600"/>
            </a:avLst>
          </a:prstGeom>
          <a:solidFill>
            <a:srgbClr val="2670DD"/>
          </a:solidFill>
          <a:ln w="12700">
            <a:solidFill>
              <a:srgbClr val="2CC9D2">
                <a:alpha val="55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487168" y="2560320"/>
            <a:ext cx="119786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Agent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2487168" y="2953512"/>
            <a:ext cx="119786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F5F8FC"/>
                </a:solidFill>
              </a:rPr>
              <a:t>Establish identity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3840480" y="2752344"/>
            <a:ext cx="228600" cy="274320"/>
          </a:xfrm>
          <a:prstGeom prst="chevron">
            <a:avLst/>
          </a:prstGeom>
          <a:solidFill>
            <a:srgbClr val="FFB627"/>
          </a:solidFill>
          <a:ln w="12700">
            <a:solidFill>
              <a:srgbClr val="FFB627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133088" y="2331720"/>
            <a:ext cx="1417320" cy="1143000"/>
          </a:xfrm>
          <a:prstGeom prst="roundRect">
            <a:avLst>
              <a:gd name="adj" fmla="val 9600"/>
            </a:avLst>
          </a:prstGeom>
          <a:solidFill>
            <a:srgbClr val="7C5BDC"/>
          </a:solidFill>
          <a:ln w="12700">
            <a:solidFill>
              <a:srgbClr val="2CC9D2">
                <a:alpha val="5500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242816" y="2560320"/>
            <a:ext cx="119786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Policy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242816" y="2953512"/>
            <a:ext cx="119786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F5F8FC"/>
                </a:solidFill>
              </a:rPr>
              <a:t>Evaluate context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596128" y="2752344"/>
            <a:ext cx="228600" cy="274320"/>
          </a:xfrm>
          <a:prstGeom prst="chevron">
            <a:avLst/>
          </a:prstGeom>
          <a:solidFill>
            <a:srgbClr val="FFB627"/>
          </a:solidFill>
          <a:ln w="12700">
            <a:solidFill>
              <a:srgbClr val="FFB627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888736" y="2331720"/>
            <a:ext cx="1417320" cy="1143000"/>
          </a:xfrm>
          <a:prstGeom prst="roundRect">
            <a:avLst>
              <a:gd name="adj" fmla="val 9600"/>
            </a:avLst>
          </a:prstGeom>
          <a:solidFill>
            <a:srgbClr val="2670DD"/>
          </a:solidFill>
          <a:ln w="12700">
            <a:solidFill>
              <a:srgbClr val="2CC9D2">
                <a:alpha val="5500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998464" y="2560320"/>
            <a:ext cx="119786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Tool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998464" y="2953512"/>
            <a:ext cx="119786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F5F8FC"/>
                </a:solidFill>
              </a:rPr>
              <a:t>Authorize scope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7351776" y="2752344"/>
            <a:ext cx="228600" cy="274320"/>
          </a:xfrm>
          <a:prstGeom prst="chevron">
            <a:avLst/>
          </a:prstGeom>
          <a:solidFill>
            <a:srgbClr val="FFB627"/>
          </a:solidFill>
          <a:ln w="12700">
            <a:solidFill>
              <a:srgbClr val="FFB627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644384" y="2331720"/>
            <a:ext cx="1417320" cy="1143000"/>
          </a:xfrm>
          <a:prstGeom prst="roundRect">
            <a:avLst>
              <a:gd name="adj" fmla="val 9600"/>
            </a:avLst>
          </a:prstGeom>
          <a:solidFill>
            <a:srgbClr val="7C5BDC"/>
          </a:solidFill>
          <a:ln w="12700">
            <a:solidFill>
              <a:srgbClr val="2CC9D2">
                <a:alpha val="5500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754112" y="2560320"/>
            <a:ext cx="119786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Action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7754112" y="2953512"/>
            <a:ext cx="119786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F5F8FC"/>
                </a:solidFill>
              </a:rPr>
              <a:t>Execute safely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9107424" y="2752344"/>
            <a:ext cx="228600" cy="274320"/>
          </a:xfrm>
          <a:prstGeom prst="chevron">
            <a:avLst/>
          </a:prstGeom>
          <a:solidFill>
            <a:srgbClr val="FFB627"/>
          </a:solidFill>
          <a:ln w="12700">
            <a:solidFill>
              <a:srgbClr val="FFB627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9400032" y="2331720"/>
            <a:ext cx="1417320" cy="1143000"/>
          </a:xfrm>
          <a:prstGeom prst="roundRect">
            <a:avLst>
              <a:gd name="adj" fmla="val 9600"/>
            </a:avLst>
          </a:prstGeom>
          <a:solidFill>
            <a:srgbClr val="2670DD"/>
          </a:solidFill>
          <a:ln w="12700">
            <a:solidFill>
              <a:srgbClr val="2CC9D2">
                <a:alpha val="55000"/>
              </a:srgbClr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9509760" y="2560320"/>
            <a:ext cx="119786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Audit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9509760" y="2953512"/>
            <a:ext cx="119786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F5F8FC"/>
                </a:solidFill>
              </a:rPr>
              <a:t>Record outcome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402336" y="6519672"/>
            <a:ext cx="65836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70" dirty="0">
                <a:solidFill>
                  <a:srgbClr val="8B93B8"/>
                </a:solidFill>
              </a:rPr>
              <a:t>Scalable Enterprise Architectural Deployments of Agentic AI Solutions</a:t>
            </a:r>
            <a:endParaRPr lang="en-US" sz="570" dirty="0"/>
          </a:p>
        </p:txBody>
      </p:sp>
      <p:sp>
        <p:nvSpPr>
          <p:cNvPr id="33" name="Text 31"/>
          <p:cNvSpPr/>
          <p:nvPr/>
        </p:nvSpPr>
        <p:spPr>
          <a:xfrm>
            <a:off x="11384280" y="6473952"/>
            <a:ext cx="2926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50" dirty="0">
                <a:solidFill>
                  <a:srgbClr val="8B93B8"/>
                </a:solidFill>
              </a:rPr>
              <a:t>8</a:t>
            </a:r>
            <a:endParaRPr lang="en-US" sz="6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41B4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Shape 0"/>
          <p:cNvSpPr/>
          <p:nvPr/>
        </p:nvSpPr>
        <p:spPr>
          <a:xfrm>
            <a:off x="10241280" y="228600"/>
            <a:ext cx="1417320" cy="1417320"/>
          </a:xfrm>
          <a:prstGeom prst="ellipse">
            <a:avLst/>
          </a:prstGeom>
          <a:solidFill>
            <a:srgbClr val="2B4388">
              <a:alpha val="44000"/>
            </a:srgbClr>
          </a:solidFill>
          <a:ln w="7620">
            <a:solidFill>
              <a:srgbClr val="FFB627">
                <a:alpha val="52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46304" y="5257800"/>
            <a:ext cx="1143000" cy="1143000"/>
          </a:xfrm>
          <a:prstGeom prst="ellipse">
            <a:avLst/>
          </a:prstGeom>
          <a:solidFill>
            <a:srgbClr val="223575">
              <a:alpha val="38000"/>
            </a:srgbClr>
          </a:solidFill>
          <a:ln w="12700">
            <a:solidFill>
              <a:srgbClr val="2670DD">
                <a:alpha val="35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393192"/>
            <a:ext cx="10698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FFFFFF"/>
                </a:solidFill>
              </a:rPr>
              <a:t>Secrets Management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612648" y="877824"/>
            <a:ext cx="10607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B8C6E3"/>
                </a:solidFill>
              </a:rPr>
              <a:t>Agents reference secrets; agents should never own or expose them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94360" y="1161288"/>
            <a:ext cx="10972800" cy="1"/>
          </a:xfrm>
          <a:prstGeom prst="line">
            <a:avLst/>
          </a:prstGeom>
          <a:noFill/>
          <a:ln w="12700">
            <a:solidFill>
              <a:srgbClr val="2CC9D2">
                <a:alpha val="75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02336" y="6519672"/>
            <a:ext cx="65836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70" dirty="0">
                <a:solidFill>
                  <a:srgbClr val="8B93B8"/>
                </a:solidFill>
              </a:rPr>
              <a:t>Scalable Enterprise Architectural Deployments of Agentic AI Solutions</a:t>
            </a:r>
            <a:endParaRPr lang="en-US" sz="570" dirty="0"/>
          </a:p>
        </p:txBody>
      </p:sp>
      <p:sp>
        <p:nvSpPr>
          <p:cNvPr id="8" name="Text 6"/>
          <p:cNvSpPr/>
          <p:nvPr/>
        </p:nvSpPr>
        <p:spPr>
          <a:xfrm>
            <a:off x="11384280" y="6473952"/>
            <a:ext cx="2926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50" dirty="0">
                <a:solidFill>
                  <a:srgbClr val="8B93B8"/>
                </a:solidFill>
              </a:rPr>
              <a:t>9</a:t>
            </a:r>
            <a:endParaRPr lang="en-US" sz="650" dirty="0"/>
          </a:p>
        </p:txBody>
      </p:sp>
      <p:sp>
        <p:nvSpPr>
          <p:cNvPr id="9" name="Shape 7"/>
          <p:cNvSpPr/>
          <p:nvPr/>
        </p:nvSpPr>
        <p:spPr>
          <a:xfrm>
            <a:off x="621792" y="1417320"/>
            <a:ext cx="3486912" cy="2235708"/>
          </a:xfrm>
          <a:prstGeom prst="roundRect">
            <a:avLst>
              <a:gd name="adj" fmla="val 4908"/>
            </a:avLst>
          </a:prstGeom>
          <a:solidFill>
            <a:srgbClr val="122A52">
              <a:alpha val="95000"/>
            </a:srgbClr>
          </a:solidFill>
          <a:ln w="10160">
            <a:solidFill>
              <a:srgbClr val="2670DD">
                <a:alpha val="65000"/>
              </a:srgbClr>
            </a:solidFill>
            <a:prstDash val="solid"/>
          </a:ln>
          <a:effectLst>
            <a:outerShdw blurRad="19050" dist="762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786384" y="1554480"/>
            <a:ext cx="31577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</a:rPr>
              <a:t>Central vault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786384" y="1929384"/>
            <a:ext cx="3157728" cy="160477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r>
              <a:rPr lang="en-US" sz="1200" dirty="0">
                <a:solidFill>
                  <a:srgbClr val="F5F8FC"/>
                </a:solidFill>
              </a:rPr>
              <a:t>Store API keys, certificates and credentials outside prompts, code and images.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364736" y="1417320"/>
            <a:ext cx="3486912" cy="2235708"/>
          </a:xfrm>
          <a:prstGeom prst="roundRect">
            <a:avLst>
              <a:gd name="adj" fmla="val 4908"/>
            </a:avLst>
          </a:prstGeom>
          <a:solidFill>
            <a:srgbClr val="122A52">
              <a:alpha val="95000"/>
            </a:srgbClr>
          </a:solidFill>
          <a:ln w="10160">
            <a:solidFill>
              <a:srgbClr val="2CC9D2">
                <a:alpha val="65000"/>
              </a:srgbClr>
            </a:solidFill>
            <a:prstDash val="solid"/>
          </a:ln>
          <a:effectLst>
            <a:outerShdw blurRad="19050" dist="762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529328" y="1554480"/>
            <a:ext cx="31577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</a:rPr>
              <a:t>Workload identity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4529328" y="1929384"/>
            <a:ext cx="3157728" cy="160477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r>
              <a:rPr lang="en-US" sz="1200" dirty="0">
                <a:solidFill>
                  <a:srgbClr val="F5F8FC"/>
                </a:solidFill>
              </a:rPr>
              <a:t>Prefer identity-based access over long-lived static credentials.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8107680" y="1417320"/>
            <a:ext cx="3486912" cy="2235708"/>
          </a:xfrm>
          <a:prstGeom prst="roundRect">
            <a:avLst>
              <a:gd name="adj" fmla="val 4908"/>
            </a:avLst>
          </a:prstGeom>
          <a:solidFill>
            <a:srgbClr val="122A52">
              <a:alpha val="95000"/>
            </a:srgbClr>
          </a:solidFill>
          <a:ln w="10160">
            <a:solidFill>
              <a:srgbClr val="7C5BDC">
                <a:alpha val="65000"/>
              </a:srgbClr>
            </a:solidFill>
            <a:prstDash val="solid"/>
          </a:ln>
          <a:effectLst>
            <a:outerShdw blurRad="19050" dist="762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8272272" y="1554480"/>
            <a:ext cx="31577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</a:rPr>
              <a:t>Runtime delivery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8272272" y="1929384"/>
            <a:ext cx="3157728" cy="160477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r>
              <a:rPr lang="en-US" sz="1200" dirty="0">
                <a:solidFill>
                  <a:srgbClr val="F5F8FC"/>
                </a:solidFill>
              </a:rPr>
              <a:t>Inject secrets only to the authorized process at execution time.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21792" y="3982212"/>
            <a:ext cx="3486912" cy="2235708"/>
          </a:xfrm>
          <a:prstGeom prst="roundRect">
            <a:avLst>
              <a:gd name="adj" fmla="val 4908"/>
            </a:avLst>
          </a:prstGeom>
          <a:solidFill>
            <a:srgbClr val="122A52">
              <a:alpha val="95000"/>
            </a:srgbClr>
          </a:solidFill>
          <a:ln w="10160">
            <a:solidFill>
              <a:srgbClr val="2FBE82">
                <a:alpha val="65000"/>
              </a:srgbClr>
            </a:solidFill>
            <a:prstDash val="solid"/>
          </a:ln>
          <a:effectLst>
            <a:outerShdw blurRad="19050" dist="762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786384" y="4119372"/>
            <a:ext cx="31577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</a:rPr>
              <a:t>Rotation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786384" y="4494276"/>
            <a:ext cx="3157728" cy="160477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r>
              <a:rPr lang="en-US" sz="1200" dirty="0">
                <a:solidFill>
                  <a:srgbClr val="F5F8FC"/>
                </a:solidFill>
              </a:rPr>
              <a:t>Automate renewal, revocation and emergency replacement.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364736" y="3982212"/>
            <a:ext cx="3486912" cy="2235708"/>
          </a:xfrm>
          <a:prstGeom prst="roundRect">
            <a:avLst>
              <a:gd name="adj" fmla="val 4908"/>
            </a:avLst>
          </a:prstGeom>
          <a:solidFill>
            <a:srgbClr val="122A52">
              <a:alpha val="95000"/>
            </a:srgbClr>
          </a:solidFill>
          <a:ln w="10160">
            <a:solidFill>
              <a:srgbClr val="FFB627">
                <a:alpha val="65000"/>
              </a:srgbClr>
            </a:solidFill>
            <a:prstDash val="solid"/>
          </a:ln>
          <a:effectLst>
            <a:outerShdw blurRad="19050" dist="762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4529328" y="4119372"/>
            <a:ext cx="31577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</a:rPr>
              <a:t>Isolation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4529328" y="4494276"/>
            <a:ext cx="3157728" cy="160477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r>
              <a:rPr lang="en-US" sz="1200" dirty="0">
                <a:solidFill>
                  <a:srgbClr val="F5F8FC"/>
                </a:solidFill>
              </a:rPr>
              <a:t>Separate credentials by environment, tenant, agent and tool.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8107680" y="3982212"/>
            <a:ext cx="3486912" cy="2235708"/>
          </a:xfrm>
          <a:prstGeom prst="roundRect">
            <a:avLst>
              <a:gd name="adj" fmla="val 4908"/>
            </a:avLst>
          </a:prstGeom>
          <a:solidFill>
            <a:srgbClr val="122A52">
              <a:alpha val="95000"/>
            </a:srgbClr>
          </a:solidFill>
          <a:ln w="10160">
            <a:solidFill>
              <a:srgbClr val="E35D6A">
                <a:alpha val="65000"/>
              </a:srgbClr>
            </a:solidFill>
            <a:prstDash val="solid"/>
          </a:ln>
          <a:effectLst>
            <a:outerShdw blurRad="19050" dist="762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8272272" y="4119372"/>
            <a:ext cx="31577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</a:rPr>
              <a:t>Telemetry safety</a:t>
            </a:r>
            <a:endParaRPr lang="en-US" sz="2000" dirty="0"/>
          </a:p>
        </p:txBody>
      </p:sp>
      <p:sp>
        <p:nvSpPr>
          <p:cNvPr id="26" name="Text 24"/>
          <p:cNvSpPr/>
          <p:nvPr/>
        </p:nvSpPr>
        <p:spPr>
          <a:xfrm>
            <a:off x="8272272" y="4494276"/>
            <a:ext cx="3157728" cy="160477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r>
              <a:rPr lang="en-US" sz="1200" dirty="0">
                <a:solidFill>
                  <a:srgbClr val="F5F8FC"/>
                </a:solidFill>
              </a:rPr>
              <a:t>Redact secrets from prompts, traces, logs and error messages.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402336" y="6519672"/>
            <a:ext cx="65836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70" dirty="0">
                <a:solidFill>
                  <a:srgbClr val="8B93B8"/>
                </a:solidFill>
              </a:rPr>
              <a:t>Scalable Enterprise Architectural Deployments of Agentic AI Solutions</a:t>
            </a:r>
            <a:endParaRPr lang="en-US" sz="570" dirty="0"/>
          </a:p>
        </p:txBody>
      </p:sp>
      <p:sp>
        <p:nvSpPr>
          <p:cNvPr id="28" name="Text 26"/>
          <p:cNvSpPr/>
          <p:nvPr/>
        </p:nvSpPr>
        <p:spPr>
          <a:xfrm>
            <a:off x="11384280" y="6473952"/>
            <a:ext cx="2926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50" dirty="0">
                <a:solidFill>
                  <a:srgbClr val="8B93B8"/>
                </a:solidFill>
              </a:rPr>
              <a:t>9</a:t>
            </a:r>
            <a:endParaRPr lang="en-US" sz="6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594360" y="393192"/>
            <a:ext cx="10698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1B2340"/>
                </a:solidFill>
              </a:rPr>
              <a:t>AI Governance Operating Model</a:t>
            </a:r>
            <a:endParaRPr lang="en-US" sz="2300" dirty="0"/>
          </a:p>
        </p:txBody>
      </p:sp>
      <p:sp>
        <p:nvSpPr>
          <p:cNvPr id="3" name="Text 1"/>
          <p:cNvSpPr/>
          <p:nvPr/>
        </p:nvSpPr>
        <p:spPr>
          <a:xfrm>
            <a:off x="612648" y="877824"/>
            <a:ext cx="10607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B6785"/>
                </a:solidFill>
              </a:rPr>
              <a:t>Governance links business accountability, risk tier and technical controls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94360" y="1161288"/>
            <a:ext cx="10972800" cy="1"/>
          </a:xfrm>
          <a:prstGeom prst="line">
            <a:avLst/>
          </a:prstGeom>
          <a:noFill/>
          <a:ln w="12700">
            <a:solidFill>
              <a:srgbClr val="2670DD">
                <a:alpha val="75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02336" y="6519672"/>
            <a:ext cx="65836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70" dirty="0">
                <a:solidFill>
                  <a:srgbClr val="5B6785"/>
                </a:solidFill>
              </a:rPr>
              <a:t>Scalable Enterprise Architectural Deployments of Agentic AI Solutions</a:t>
            </a:r>
            <a:endParaRPr lang="en-US" sz="570" dirty="0"/>
          </a:p>
        </p:txBody>
      </p:sp>
      <p:sp>
        <p:nvSpPr>
          <p:cNvPr id="6" name="Text 4"/>
          <p:cNvSpPr/>
          <p:nvPr/>
        </p:nvSpPr>
        <p:spPr>
          <a:xfrm>
            <a:off x="11384280" y="6473952"/>
            <a:ext cx="2926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50" dirty="0">
                <a:solidFill>
                  <a:srgbClr val="5B6785"/>
                </a:solidFill>
              </a:rPr>
              <a:t>10</a:t>
            </a:r>
            <a:endParaRPr lang="en-US" sz="650" dirty="0"/>
          </a:p>
        </p:txBody>
      </p:sp>
      <p:sp>
        <p:nvSpPr>
          <p:cNvPr id="7" name="Shape 5"/>
          <p:cNvSpPr/>
          <p:nvPr/>
        </p:nvSpPr>
        <p:spPr>
          <a:xfrm>
            <a:off x="621792" y="1417320"/>
            <a:ext cx="3486912" cy="2235708"/>
          </a:xfrm>
          <a:prstGeom prst="roundRect">
            <a:avLst>
              <a:gd name="adj" fmla="val 4908"/>
            </a:avLst>
          </a:prstGeom>
          <a:solidFill>
            <a:srgbClr val="F0F4FC"/>
          </a:solidFill>
          <a:ln w="10160">
            <a:solidFill>
              <a:srgbClr val="2670DD">
                <a:alpha val="65000"/>
              </a:srgbClr>
            </a:solidFill>
            <a:prstDash val="solid"/>
          </a:ln>
          <a:effectLst>
            <a:outerShdw blurRad="19050" dist="762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786384" y="1554480"/>
            <a:ext cx="31577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1B2340"/>
                </a:solidFill>
              </a:rPr>
              <a:t>Business ownership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786384" y="1929384"/>
            <a:ext cx="3157728" cy="160477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r>
              <a:rPr lang="en-US" sz="1200" dirty="0">
                <a:solidFill>
                  <a:srgbClr val="5B6785"/>
                </a:solidFill>
              </a:rPr>
              <a:t>Use-case sponsor</a:t>
            </a:r>
            <a:endParaRPr lang="en-US" sz="1200" dirty="0"/>
          </a:p>
          <a:p>
            <a:r>
              <a:rPr lang="en-US" sz="1200" dirty="0">
                <a:solidFill>
                  <a:srgbClr val="5B6785"/>
                </a:solidFill>
              </a:rPr>
              <a:t>Outcome accountability</a:t>
            </a:r>
            <a:endParaRPr lang="en-US" sz="1200" dirty="0"/>
          </a:p>
          <a:p>
            <a:r>
              <a:rPr lang="en-US" sz="1200" dirty="0">
                <a:solidFill>
                  <a:srgbClr val="5B6785"/>
                </a:solidFill>
              </a:rPr>
              <a:t>Human decision owner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364736" y="1417320"/>
            <a:ext cx="3486912" cy="2235708"/>
          </a:xfrm>
          <a:prstGeom prst="roundRect">
            <a:avLst>
              <a:gd name="adj" fmla="val 4908"/>
            </a:avLst>
          </a:prstGeom>
          <a:solidFill>
            <a:srgbClr val="F0F4FC"/>
          </a:solidFill>
          <a:ln w="10160">
            <a:solidFill>
              <a:srgbClr val="2CC9D2">
                <a:alpha val="65000"/>
              </a:srgbClr>
            </a:solidFill>
            <a:prstDash val="solid"/>
          </a:ln>
          <a:effectLst>
            <a:outerShdw blurRad="19050" dist="762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529328" y="1554480"/>
            <a:ext cx="31577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1B2340"/>
                </a:solidFill>
              </a:rPr>
              <a:t>AI inventory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4529328" y="1929384"/>
            <a:ext cx="3157728" cy="160477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r>
              <a:rPr lang="en-US" sz="1200" dirty="0">
                <a:solidFill>
                  <a:srgbClr val="5B6785"/>
                </a:solidFill>
              </a:rPr>
              <a:t>Agent, model, prompt, tools, data, version and deployment record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8107680" y="1417320"/>
            <a:ext cx="3486912" cy="2235708"/>
          </a:xfrm>
          <a:prstGeom prst="roundRect">
            <a:avLst>
              <a:gd name="adj" fmla="val 4908"/>
            </a:avLst>
          </a:prstGeom>
          <a:solidFill>
            <a:srgbClr val="F0F4FC"/>
          </a:solidFill>
          <a:ln w="10160">
            <a:solidFill>
              <a:srgbClr val="7C5BDC">
                <a:alpha val="65000"/>
              </a:srgbClr>
            </a:solidFill>
            <a:prstDash val="solid"/>
          </a:ln>
          <a:effectLst>
            <a:outerShdw blurRad="19050" dist="762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8272272" y="1554480"/>
            <a:ext cx="31577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1B2340"/>
                </a:solidFill>
              </a:rPr>
              <a:t>Risk classification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8272272" y="1929384"/>
            <a:ext cx="3157728" cy="160477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r>
              <a:rPr lang="en-US" sz="1200" dirty="0">
                <a:solidFill>
                  <a:srgbClr val="5B6785"/>
                </a:solidFill>
              </a:rPr>
              <a:t>Impact</a:t>
            </a:r>
            <a:endParaRPr lang="en-US" sz="1200" dirty="0"/>
          </a:p>
          <a:p>
            <a:r>
              <a:rPr lang="en-US" sz="1200" dirty="0">
                <a:solidFill>
                  <a:srgbClr val="5B6785"/>
                </a:solidFill>
              </a:rPr>
              <a:t>Autonomy</a:t>
            </a:r>
            <a:endParaRPr lang="en-US" sz="1200" dirty="0"/>
          </a:p>
          <a:p>
            <a:r>
              <a:rPr lang="en-US" sz="1200" dirty="0">
                <a:solidFill>
                  <a:srgbClr val="5B6785"/>
                </a:solidFill>
              </a:rPr>
              <a:t>Data sensitivity</a:t>
            </a:r>
            <a:endParaRPr lang="en-US" sz="1200" dirty="0"/>
          </a:p>
          <a:p>
            <a:r>
              <a:rPr lang="en-US" sz="1200" dirty="0">
                <a:solidFill>
                  <a:srgbClr val="5B6785"/>
                </a:solidFill>
              </a:rPr>
              <a:t>Reversibility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21792" y="3982212"/>
            <a:ext cx="3486912" cy="2235708"/>
          </a:xfrm>
          <a:prstGeom prst="roundRect">
            <a:avLst>
              <a:gd name="adj" fmla="val 4908"/>
            </a:avLst>
          </a:prstGeom>
          <a:solidFill>
            <a:srgbClr val="F0F4FC"/>
          </a:solidFill>
          <a:ln w="10160">
            <a:solidFill>
              <a:srgbClr val="2FBE82">
                <a:alpha val="65000"/>
              </a:srgbClr>
            </a:solidFill>
            <a:prstDash val="solid"/>
          </a:ln>
          <a:effectLst>
            <a:outerShdw blurRad="19050" dist="762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786384" y="4119372"/>
            <a:ext cx="31577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1B2340"/>
                </a:solidFill>
              </a:rPr>
              <a:t>Lifecycle gates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786384" y="4494276"/>
            <a:ext cx="3157728" cy="160477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r>
              <a:rPr lang="en-US" sz="1200" dirty="0">
                <a:solidFill>
                  <a:srgbClr val="5B6785"/>
                </a:solidFill>
              </a:rPr>
              <a:t>Design review</a:t>
            </a:r>
            <a:endParaRPr lang="en-US" sz="1200" dirty="0"/>
          </a:p>
          <a:p>
            <a:r>
              <a:rPr lang="en-US" sz="1200" dirty="0">
                <a:solidFill>
                  <a:srgbClr val="5B6785"/>
                </a:solidFill>
              </a:rPr>
              <a:t>Evaluation</a:t>
            </a:r>
            <a:endParaRPr lang="en-US" sz="1200" dirty="0"/>
          </a:p>
          <a:p>
            <a:r>
              <a:rPr lang="en-US" sz="1200" dirty="0">
                <a:solidFill>
                  <a:srgbClr val="5B6785"/>
                </a:solidFill>
              </a:rPr>
              <a:t>Release approval</a:t>
            </a:r>
            <a:endParaRPr lang="en-US" sz="1200" dirty="0"/>
          </a:p>
          <a:p>
            <a:r>
              <a:rPr lang="en-US" sz="1200" dirty="0">
                <a:solidFill>
                  <a:srgbClr val="5B6785"/>
                </a:solidFill>
              </a:rPr>
              <a:t>Change control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364736" y="3982212"/>
            <a:ext cx="3486912" cy="2235708"/>
          </a:xfrm>
          <a:prstGeom prst="roundRect">
            <a:avLst>
              <a:gd name="adj" fmla="val 4908"/>
            </a:avLst>
          </a:prstGeom>
          <a:solidFill>
            <a:srgbClr val="F0F4FC"/>
          </a:solidFill>
          <a:ln w="10160">
            <a:solidFill>
              <a:srgbClr val="FFB627">
                <a:alpha val="65000"/>
              </a:srgbClr>
            </a:solidFill>
            <a:prstDash val="solid"/>
          </a:ln>
          <a:effectLst>
            <a:outerShdw blurRad="19050" dist="762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529328" y="4119372"/>
            <a:ext cx="31577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1B2340"/>
                </a:solidFill>
              </a:rPr>
              <a:t>Control evidence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4529328" y="4494276"/>
            <a:ext cx="3157728" cy="160477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r>
              <a:rPr lang="en-US" sz="1200" dirty="0">
                <a:solidFill>
                  <a:srgbClr val="5B6785"/>
                </a:solidFill>
              </a:rPr>
              <a:t>Test results</a:t>
            </a:r>
            <a:endParaRPr lang="en-US" sz="1200" dirty="0"/>
          </a:p>
          <a:p>
            <a:r>
              <a:rPr lang="en-US" sz="1200" dirty="0">
                <a:solidFill>
                  <a:srgbClr val="5B6785"/>
                </a:solidFill>
              </a:rPr>
              <a:t>Access review</a:t>
            </a:r>
            <a:endParaRPr lang="en-US" sz="1200" dirty="0"/>
          </a:p>
          <a:p>
            <a:r>
              <a:rPr lang="en-US" sz="1200" dirty="0">
                <a:solidFill>
                  <a:srgbClr val="5B6785"/>
                </a:solidFill>
              </a:rPr>
              <a:t>Trace samples</a:t>
            </a:r>
            <a:endParaRPr lang="en-US" sz="1200" dirty="0"/>
          </a:p>
          <a:p>
            <a:r>
              <a:rPr lang="en-US" sz="1200" dirty="0">
                <a:solidFill>
                  <a:srgbClr val="5B6785"/>
                </a:solidFill>
              </a:rPr>
              <a:t>Incident records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8107680" y="3982212"/>
            <a:ext cx="3486912" cy="2235708"/>
          </a:xfrm>
          <a:prstGeom prst="roundRect">
            <a:avLst>
              <a:gd name="adj" fmla="val 4908"/>
            </a:avLst>
          </a:prstGeom>
          <a:solidFill>
            <a:srgbClr val="F0F4FC"/>
          </a:solidFill>
          <a:ln w="10160">
            <a:solidFill>
              <a:srgbClr val="E35D6A">
                <a:alpha val="65000"/>
              </a:srgbClr>
            </a:solidFill>
            <a:prstDash val="solid"/>
          </a:ln>
          <a:effectLst>
            <a:outerShdw blurRad="19050" dist="762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8272272" y="4119372"/>
            <a:ext cx="31577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1B2340"/>
                </a:solidFill>
              </a:rPr>
              <a:t>Continuous oversight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8272272" y="4494276"/>
            <a:ext cx="3157728" cy="160477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r>
              <a:rPr lang="en-US" sz="1200" dirty="0">
                <a:solidFill>
                  <a:srgbClr val="5B6785"/>
                </a:solidFill>
              </a:rPr>
              <a:t>Monitoring</a:t>
            </a:r>
            <a:endParaRPr lang="en-US" sz="1200" dirty="0"/>
          </a:p>
          <a:p>
            <a:r>
              <a:rPr lang="en-US" sz="1200" dirty="0">
                <a:solidFill>
                  <a:srgbClr val="5B6785"/>
                </a:solidFill>
              </a:rPr>
              <a:t>Periodic review</a:t>
            </a:r>
            <a:endParaRPr lang="en-US" sz="1200" dirty="0"/>
          </a:p>
          <a:p>
            <a:r>
              <a:rPr lang="en-US" sz="1200" dirty="0">
                <a:solidFill>
                  <a:srgbClr val="5B6785"/>
                </a:solidFill>
              </a:rPr>
              <a:t>Model drift</a:t>
            </a:r>
            <a:endParaRPr lang="en-US" sz="1200" dirty="0"/>
          </a:p>
          <a:p>
            <a:r>
              <a:rPr lang="en-US" sz="1200" dirty="0">
                <a:solidFill>
                  <a:srgbClr val="5B6785"/>
                </a:solidFill>
              </a:rPr>
              <a:t>Retirement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402336" y="6519672"/>
            <a:ext cx="65836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70" dirty="0">
                <a:solidFill>
                  <a:srgbClr val="5B6785"/>
                </a:solidFill>
              </a:rPr>
              <a:t>Scalable Enterprise Architectural Deployments of Agentic AI Solutions</a:t>
            </a:r>
            <a:endParaRPr lang="en-US" sz="570" dirty="0"/>
          </a:p>
        </p:txBody>
      </p:sp>
      <p:sp>
        <p:nvSpPr>
          <p:cNvPr id="26" name="Text 24"/>
          <p:cNvSpPr/>
          <p:nvPr/>
        </p:nvSpPr>
        <p:spPr>
          <a:xfrm>
            <a:off x="11384280" y="6473952"/>
            <a:ext cx="2926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50" dirty="0">
                <a:solidFill>
                  <a:srgbClr val="5B6785"/>
                </a:solidFill>
              </a:rPr>
              <a:t>10</a:t>
            </a:r>
            <a:endParaRPr lang="en-US" sz="6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41B4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Shape 0"/>
          <p:cNvSpPr/>
          <p:nvPr/>
        </p:nvSpPr>
        <p:spPr>
          <a:xfrm>
            <a:off x="10241280" y="228600"/>
            <a:ext cx="1417320" cy="1417320"/>
          </a:xfrm>
          <a:prstGeom prst="ellipse">
            <a:avLst/>
          </a:prstGeom>
          <a:solidFill>
            <a:srgbClr val="2B4388">
              <a:alpha val="44000"/>
            </a:srgbClr>
          </a:solidFill>
          <a:ln w="7620">
            <a:solidFill>
              <a:srgbClr val="FFB627">
                <a:alpha val="52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46304" y="5257800"/>
            <a:ext cx="1143000" cy="1143000"/>
          </a:xfrm>
          <a:prstGeom prst="ellipse">
            <a:avLst/>
          </a:prstGeom>
          <a:solidFill>
            <a:srgbClr val="223575">
              <a:alpha val="38000"/>
            </a:srgbClr>
          </a:solidFill>
          <a:ln w="12700">
            <a:solidFill>
              <a:srgbClr val="2670DD">
                <a:alpha val="35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393192"/>
            <a:ext cx="10698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FFFFFF"/>
                </a:solidFill>
              </a:rPr>
              <a:t>Regulatory Compliance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612648" y="877824"/>
            <a:ext cx="10607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B8C6E3"/>
                </a:solidFill>
              </a:rPr>
              <a:t>Translate obligations into enforceable architecture controls and evidence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94360" y="1161288"/>
            <a:ext cx="10972800" cy="1"/>
          </a:xfrm>
          <a:prstGeom prst="line">
            <a:avLst/>
          </a:prstGeom>
          <a:noFill/>
          <a:ln w="12700">
            <a:solidFill>
              <a:srgbClr val="2CC9D2">
                <a:alpha val="75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02336" y="6519672"/>
            <a:ext cx="65836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70" dirty="0">
                <a:solidFill>
                  <a:srgbClr val="8B93B8"/>
                </a:solidFill>
              </a:rPr>
              <a:t>Scalable Enterprise Architectural Deployments of Agentic AI Solutions</a:t>
            </a:r>
            <a:endParaRPr lang="en-US" sz="570" dirty="0"/>
          </a:p>
        </p:txBody>
      </p:sp>
      <p:sp>
        <p:nvSpPr>
          <p:cNvPr id="8" name="Text 6"/>
          <p:cNvSpPr/>
          <p:nvPr/>
        </p:nvSpPr>
        <p:spPr>
          <a:xfrm>
            <a:off x="11384280" y="6473952"/>
            <a:ext cx="2926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50" dirty="0">
                <a:solidFill>
                  <a:srgbClr val="8B93B8"/>
                </a:solidFill>
              </a:rPr>
              <a:t>11</a:t>
            </a:r>
            <a:endParaRPr lang="en-US" sz="650" dirty="0"/>
          </a:p>
        </p:txBody>
      </p:sp>
      <p:sp>
        <p:nvSpPr>
          <p:cNvPr id="9" name="Shape 7"/>
          <p:cNvSpPr/>
          <p:nvPr/>
        </p:nvSpPr>
        <p:spPr>
          <a:xfrm>
            <a:off x="621792" y="1417320"/>
            <a:ext cx="5358384" cy="2235708"/>
          </a:xfrm>
          <a:prstGeom prst="roundRect">
            <a:avLst>
              <a:gd name="adj" fmla="val 4908"/>
            </a:avLst>
          </a:prstGeom>
          <a:solidFill>
            <a:srgbClr val="122A52">
              <a:alpha val="95000"/>
            </a:srgbClr>
          </a:solidFill>
          <a:ln w="10160">
            <a:solidFill>
              <a:srgbClr val="2670DD">
                <a:alpha val="65000"/>
              </a:srgbClr>
            </a:solidFill>
            <a:prstDash val="solid"/>
          </a:ln>
          <a:effectLst>
            <a:outerShdw blurRad="19050" dist="762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786384" y="155448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</a:rPr>
              <a:t>Obligation mapping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786384" y="1929384"/>
            <a:ext cx="5029200" cy="160477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r>
              <a:rPr lang="en-US" sz="1200" dirty="0">
                <a:solidFill>
                  <a:srgbClr val="F5F8FC"/>
                </a:solidFill>
              </a:rPr>
              <a:t>Identify applicable sector, geography, contract and organizational requirements.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236208" y="1417320"/>
            <a:ext cx="5358384" cy="2235708"/>
          </a:xfrm>
          <a:prstGeom prst="roundRect">
            <a:avLst>
              <a:gd name="adj" fmla="val 4908"/>
            </a:avLst>
          </a:prstGeom>
          <a:solidFill>
            <a:srgbClr val="122A52">
              <a:alpha val="95000"/>
            </a:srgbClr>
          </a:solidFill>
          <a:ln w="10160">
            <a:solidFill>
              <a:srgbClr val="2CC9D2">
                <a:alpha val="65000"/>
              </a:srgbClr>
            </a:solidFill>
            <a:prstDash val="solid"/>
          </a:ln>
          <a:effectLst>
            <a:outerShdw blurRad="19050" dist="762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400800" y="155448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</a:rPr>
              <a:t>Control mapping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6400800" y="1929384"/>
            <a:ext cx="5029200" cy="160477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r>
              <a:rPr lang="en-US" sz="1200" dirty="0">
                <a:solidFill>
                  <a:srgbClr val="F5F8FC"/>
                </a:solidFill>
              </a:rPr>
              <a:t>Map each obligation to identity, privacy, safety, logging, approval and retention controls.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21792" y="3982212"/>
            <a:ext cx="5358384" cy="2235708"/>
          </a:xfrm>
          <a:prstGeom prst="roundRect">
            <a:avLst>
              <a:gd name="adj" fmla="val 4908"/>
            </a:avLst>
          </a:prstGeom>
          <a:solidFill>
            <a:srgbClr val="122A52">
              <a:alpha val="95000"/>
            </a:srgbClr>
          </a:solidFill>
          <a:ln w="10160">
            <a:solidFill>
              <a:srgbClr val="7C5BDC">
                <a:alpha val="65000"/>
              </a:srgbClr>
            </a:solidFill>
            <a:prstDash val="solid"/>
          </a:ln>
          <a:effectLst>
            <a:outerShdw blurRad="19050" dist="762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786384" y="4119372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Evidence collection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786384" y="4494276"/>
            <a:ext cx="5029200" cy="160477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r>
              <a:rPr lang="en-US" sz="1200" dirty="0">
                <a:solidFill>
                  <a:srgbClr val="F5F8FC"/>
                </a:solidFill>
              </a:rPr>
              <a:t>Preserve versions, decisions, approvals, test results, traces and incidents.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236208" y="3982212"/>
            <a:ext cx="5358384" cy="2235708"/>
          </a:xfrm>
          <a:prstGeom prst="roundRect">
            <a:avLst>
              <a:gd name="adj" fmla="val 4908"/>
            </a:avLst>
          </a:prstGeom>
          <a:solidFill>
            <a:srgbClr val="122A52">
              <a:alpha val="95000"/>
            </a:srgbClr>
          </a:solidFill>
          <a:ln w="10160">
            <a:solidFill>
              <a:srgbClr val="2FBE82">
                <a:alpha val="65000"/>
              </a:srgbClr>
            </a:solidFill>
            <a:prstDash val="solid"/>
          </a:ln>
          <a:effectLst>
            <a:outerShdw blurRad="19050" dist="762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6400800" y="4119372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</a:rPr>
              <a:t>Change management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6400800" y="4494276"/>
            <a:ext cx="5029200" cy="160477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r>
              <a:rPr lang="en-US" sz="1200" dirty="0">
                <a:solidFill>
                  <a:srgbClr val="F5F8FC"/>
                </a:solidFill>
              </a:rPr>
              <a:t>Reassess when models, prompts, tools, data, autonomy or deployment regions change.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02336" y="6519672"/>
            <a:ext cx="65836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70" dirty="0">
                <a:solidFill>
                  <a:srgbClr val="8B93B8"/>
                </a:solidFill>
              </a:rPr>
              <a:t>Scalable Enterprise Architectural Deployments of Agentic AI Solutions</a:t>
            </a:r>
            <a:endParaRPr lang="en-US" sz="570" dirty="0"/>
          </a:p>
        </p:txBody>
      </p:sp>
      <p:sp>
        <p:nvSpPr>
          <p:cNvPr id="22" name="Text 20"/>
          <p:cNvSpPr/>
          <p:nvPr/>
        </p:nvSpPr>
        <p:spPr>
          <a:xfrm>
            <a:off x="11384280" y="6473952"/>
            <a:ext cx="2926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50" dirty="0">
                <a:solidFill>
                  <a:srgbClr val="8B93B8"/>
                </a:solidFill>
              </a:rPr>
              <a:t>11</a:t>
            </a:r>
            <a:endParaRPr lang="en-US" sz="6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594360" y="393192"/>
            <a:ext cx="10698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1B2340"/>
                </a:solidFill>
              </a:rPr>
              <a:t>Data Privacy &amp; Protection</a:t>
            </a:r>
            <a:endParaRPr lang="en-US" sz="2300" dirty="0"/>
          </a:p>
        </p:txBody>
      </p:sp>
      <p:sp>
        <p:nvSpPr>
          <p:cNvPr id="3" name="Text 1"/>
          <p:cNvSpPr/>
          <p:nvPr/>
        </p:nvSpPr>
        <p:spPr>
          <a:xfrm>
            <a:off x="612648" y="877824"/>
            <a:ext cx="10607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B6785"/>
                </a:solidFill>
              </a:rPr>
              <a:t>Minimize sensitive data from collection through retrieval, generation and telemetry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94360" y="1161288"/>
            <a:ext cx="10972800" cy="1"/>
          </a:xfrm>
          <a:prstGeom prst="line">
            <a:avLst/>
          </a:prstGeom>
          <a:noFill/>
          <a:ln w="12700">
            <a:solidFill>
              <a:srgbClr val="2670DD">
                <a:alpha val="75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02336" y="6519672"/>
            <a:ext cx="65836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70" dirty="0">
                <a:solidFill>
                  <a:srgbClr val="5B6785"/>
                </a:solidFill>
              </a:rPr>
              <a:t>Scalable Enterprise Architectural Deployments of Agentic AI Solutions</a:t>
            </a:r>
            <a:endParaRPr lang="en-US" sz="570" dirty="0"/>
          </a:p>
        </p:txBody>
      </p:sp>
      <p:sp>
        <p:nvSpPr>
          <p:cNvPr id="6" name="Text 4"/>
          <p:cNvSpPr/>
          <p:nvPr/>
        </p:nvSpPr>
        <p:spPr>
          <a:xfrm>
            <a:off x="11384280" y="6473952"/>
            <a:ext cx="2926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50" dirty="0">
                <a:solidFill>
                  <a:srgbClr val="5B6785"/>
                </a:solidFill>
              </a:rPr>
              <a:t>12</a:t>
            </a:r>
            <a:endParaRPr lang="en-US" sz="650" dirty="0"/>
          </a:p>
        </p:txBody>
      </p:sp>
      <p:sp>
        <p:nvSpPr>
          <p:cNvPr id="7" name="Shape 5"/>
          <p:cNvSpPr/>
          <p:nvPr/>
        </p:nvSpPr>
        <p:spPr>
          <a:xfrm>
            <a:off x="621792" y="1417320"/>
            <a:ext cx="3486912" cy="2235708"/>
          </a:xfrm>
          <a:prstGeom prst="roundRect">
            <a:avLst>
              <a:gd name="adj" fmla="val 4908"/>
            </a:avLst>
          </a:prstGeom>
          <a:solidFill>
            <a:srgbClr val="F0F4FC"/>
          </a:solidFill>
          <a:ln w="10160">
            <a:solidFill>
              <a:srgbClr val="2670DD">
                <a:alpha val="65000"/>
              </a:srgbClr>
            </a:solidFill>
            <a:prstDash val="solid"/>
          </a:ln>
          <a:effectLst>
            <a:outerShdw blurRad="19050" dist="762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786384" y="1554480"/>
            <a:ext cx="31577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1B2340"/>
                </a:solidFill>
              </a:rPr>
              <a:t>Minimize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786384" y="1929384"/>
            <a:ext cx="3157728" cy="160477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r>
              <a:rPr lang="en-US" sz="1200" dirty="0">
                <a:solidFill>
                  <a:srgbClr val="5B6785"/>
                </a:solidFill>
              </a:rPr>
              <a:t>Collect and send only the data necessary for the task.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364736" y="1417320"/>
            <a:ext cx="3486912" cy="2235708"/>
          </a:xfrm>
          <a:prstGeom prst="roundRect">
            <a:avLst>
              <a:gd name="adj" fmla="val 4908"/>
            </a:avLst>
          </a:prstGeom>
          <a:solidFill>
            <a:srgbClr val="F0F4FC"/>
          </a:solidFill>
          <a:ln w="10160">
            <a:solidFill>
              <a:srgbClr val="2CC9D2">
                <a:alpha val="65000"/>
              </a:srgbClr>
            </a:solidFill>
            <a:prstDash val="solid"/>
          </a:ln>
          <a:effectLst>
            <a:outerShdw blurRad="19050" dist="762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529328" y="1554480"/>
            <a:ext cx="31577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1B2340"/>
                </a:solidFill>
              </a:rPr>
              <a:t>Classify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4529328" y="1929384"/>
            <a:ext cx="3157728" cy="160477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r>
              <a:rPr lang="en-US" sz="1200" dirty="0">
                <a:solidFill>
                  <a:srgbClr val="5B6785"/>
                </a:solidFill>
              </a:rPr>
              <a:t>Label data and apply policy based on sensitivity.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8107680" y="1417320"/>
            <a:ext cx="3486912" cy="2235708"/>
          </a:xfrm>
          <a:prstGeom prst="roundRect">
            <a:avLst>
              <a:gd name="adj" fmla="val 4908"/>
            </a:avLst>
          </a:prstGeom>
          <a:solidFill>
            <a:srgbClr val="F0F4FC"/>
          </a:solidFill>
          <a:ln w="10160">
            <a:solidFill>
              <a:srgbClr val="7C5BDC">
                <a:alpha val="65000"/>
              </a:srgbClr>
            </a:solidFill>
            <a:prstDash val="solid"/>
          </a:ln>
          <a:effectLst>
            <a:outerShdw blurRad="19050" dist="762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8272272" y="1554480"/>
            <a:ext cx="31577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1B2340"/>
                </a:solidFill>
              </a:rPr>
              <a:t>Protect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8272272" y="1929384"/>
            <a:ext cx="3157728" cy="160477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r>
              <a:rPr lang="en-US" sz="1200" dirty="0">
                <a:solidFill>
                  <a:srgbClr val="5B6785"/>
                </a:solidFill>
              </a:rPr>
              <a:t>Encrypt in transit and at rest; isolate tenants and environments.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21792" y="3982212"/>
            <a:ext cx="3486912" cy="2235708"/>
          </a:xfrm>
          <a:prstGeom prst="roundRect">
            <a:avLst>
              <a:gd name="adj" fmla="val 4908"/>
            </a:avLst>
          </a:prstGeom>
          <a:solidFill>
            <a:srgbClr val="F0F4FC"/>
          </a:solidFill>
          <a:ln w="10160">
            <a:solidFill>
              <a:srgbClr val="2FBE82">
                <a:alpha val="65000"/>
              </a:srgbClr>
            </a:solidFill>
            <a:prstDash val="solid"/>
          </a:ln>
          <a:effectLst>
            <a:outerShdw blurRad="19050" dist="762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786384" y="4119372"/>
            <a:ext cx="31577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1B2340"/>
                </a:solidFill>
              </a:rPr>
              <a:t>Retrieve safely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786384" y="4494276"/>
            <a:ext cx="3157728" cy="160477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r>
              <a:rPr lang="en-US" sz="1200" dirty="0">
                <a:solidFill>
                  <a:srgbClr val="5B6785"/>
                </a:solidFill>
              </a:rPr>
              <a:t>Enforce document, row and field-level access before context reaches the model.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364736" y="3982212"/>
            <a:ext cx="3486912" cy="2235708"/>
          </a:xfrm>
          <a:prstGeom prst="roundRect">
            <a:avLst>
              <a:gd name="adj" fmla="val 4908"/>
            </a:avLst>
          </a:prstGeom>
          <a:solidFill>
            <a:srgbClr val="F0F4FC"/>
          </a:solidFill>
          <a:ln w="10160">
            <a:solidFill>
              <a:srgbClr val="FFB627">
                <a:alpha val="65000"/>
              </a:srgbClr>
            </a:solidFill>
            <a:prstDash val="solid"/>
          </a:ln>
          <a:effectLst>
            <a:outerShdw blurRad="19050" dist="762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529328" y="4119372"/>
            <a:ext cx="31577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1B2340"/>
                </a:solidFill>
              </a:rPr>
              <a:t>Retain intentionally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4529328" y="4494276"/>
            <a:ext cx="3157728" cy="160477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r>
              <a:rPr lang="en-US" sz="1200" dirty="0">
                <a:solidFill>
                  <a:srgbClr val="5B6785"/>
                </a:solidFill>
              </a:rPr>
              <a:t>Apply purpose, retention, deletion and legal-hold requirements.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8107680" y="3982212"/>
            <a:ext cx="3486912" cy="2235708"/>
          </a:xfrm>
          <a:prstGeom prst="roundRect">
            <a:avLst>
              <a:gd name="adj" fmla="val 4908"/>
            </a:avLst>
          </a:prstGeom>
          <a:solidFill>
            <a:srgbClr val="F0F4FC"/>
          </a:solidFill>
          <a:ln w="10160">
            <a:solidFill>
              <a:srgbClr val="E35D6A">
                <a:alpha val="65000"/>
              </a:srgbClr>
            </a:solidFill>
            <a:prstDash val="solid"/>
          </a:ln>
          <a:effectLst>
            <a:outerShdw blurRad="19050" dist="762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8272272" y="4119372"/>
            <a:ext cx="31577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1B2340"/>
                </a:solidFill>
              </a:rPr>
              <a:t>Observe safely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8272272" y="4494276"/>
            <a:ext cx="3157728" cy="160477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r>
              <a:rPr lang="en-US" sz="1200" dirty="0">
                <a:solidFill>
                  <a:srgbClr val="5B6785"/>
                </a:solidFill>
              </a:rPr>
              <a:t>Default to metadata-only telemetry; redact sensitive prompt, tool and output content.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402336" y="6519672"/>
            <a:ext cx="65836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70" dirty="0">
                <a:solidFill>
                  <a:srgbClr val="5B6785"/>
                </a:solidFill>
              </a:rPr>
              <a:t>Scalable Enterprise Architectural Deployments of Agentic AI Solutions</a:t>
            </a:r>
            <a:endParaRPr lang="en-US" sz="570" dirty="0"/>
          </a:p>
        </p:txBody>
      </p:sp>
      <p:sp>
        <p:nvSpPr>
          <p:cNvPr id="26" name="Text 24"/>
          <p:cNvSpPr/>
          <p:nvPr/>
        </p:nvSpPr>
        <p:spPr>
          <a:xfrm>
            <a:off x="11384280" y="6473952"/>
            <a:ext cx="2926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50" dirty="0">
                <a:solidFill>
                  <a:srgbClr val="5B6785"/>
                </a:solidFill>
              </a:rPr>
              <a:t>12</a:t>
            </a:r>
            <a:endParaRPr lang="en-US" sz="6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41B4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Shape 0"/>
          <p:cNvSpPr/>
          <p:nvPr/>
        </p:nvSpPr>
        <p:spPr>
          <a:xfrm>
            <a:off x="10241280" y="228600"/>
            <a:ext cx="1417320" cy="1417320"/>
          </a:xfrm>
          <a:prstGeom prst="ellipse">
            <a:avLst/>
          </a:prstGeom>
          <a:solidFill>
            <a:srgbClr val="2B4388">
              <a:alpha val="44000"/>
            </a:srgbClr>
          </a:solidFill>
          <a:ln w="7620">
            <a:solidFill>
              <a:srgbClr val="FFB627">
                <a:alpha val="52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46304" y="5257800"/>
            <a:ext cx="1143000" cy="1143000"/>
          </a:xfrm>
          <a:prstGeom prst="ellipse">
            <a:avLst/>
          </a:prstGeom>
          <a:solidFill>
            <a:srgbClr val="223575">
              <a:alpha val="38000"/>
            </a:srgbClr>
          </a:solidFill>
          <a:ln w="12700">
            <a:solidFill>
              <a:srgbClr val="2670DD">
                <a:alpha val="35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393192"/>
            <a:ext cx="10698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FFFFFF"/>
                </a:solidFill>
              </a:rPr>
              <a:t>Responsible AI Principles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612648" y="877824"/>
            <a:ext cx="10607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B8C6E3"/>
                </a:solidFill>
              </a:rPr>
              <a:t>Convert principles into measurable requirements and runtime controls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94360" y="1161288"/>
            <a:ext cx="10972800" cy="1"/>
          </a:xfrm>
          <a:prstGeom prst="line">
            <a:avLst/>
          </a:prstGeom>
          <a:noFill/>
          <a:ln w="12700">
            <a:solidFill>
              <a:srgbClr val="2CC9D2">
                <a:alpha val="75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02336" y="6519672"/>
            <a:ext cx="65836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70" dirty="0">
                <a:solidFill>
                  <a:srgbClr val="8B93B8"/>
                </a:solidFill>
              </a:rPr>
              <a:t>Scalable Enterprise Architectural Deployments of Agentic AI Solutions</a:t>
            </a:r>
            <a:endParaRPr lang="en-US" sz="570" dirty="0"/>
          </a:p>
        </p:txBody>
      </p:sp>
      <p:sp>
        <p:nvSpPr>
          <p:cNvPr id="8" name="Text 6"/>
          <p:cNvSpPr/>
          <p:nvPr/>
        </p:nvSpPr>
        <p:spPr>
          <a:xfrm>
            <a:off x="11384280" y="6473952"/>
            <a:ext cx="2926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50" dirty="0">
                <a:solidFill>
                  <a:srgbClr val="8B93B8"/>
                </a:solidFill>
              </a:rPr>
              <a:t>13</a:t>
            </a:r>
            <a:endParaRPr lang="en-US" sz="650" dirty="0"/>
          </a:p>
        </p:txBody>
      </p:sp>
      <p:sp>
        <p:nvSpPr>
          <p:cNvPr id="9" name="Shape 7"/>
          <p:cNvSpPr/>
          <p:nvPr/>
        </p:nvSpPr>
        <p:spPr>
          <a:xfrm>
            <a:off x="621792" y="1417320"/>
            <a:ext cx="3486912" cy="2235708"/>
          </a:xfrm>
          <a:prstGeom prst="roundRect">
            <a:avLst>
              <a:gd name="adj" fmla="val 4908"/>
            </a:avLst>
          </a:prstGeom>
          <a:solidFill>
            <a:srgbClr val="122A52">
              <a:alpha val="95000"/>
            </a:srgbClr>
          </a:solidFill>
          <a:ln w="10160">
            <a:solidFill>
              <a:srgbClr val="2670DD">
                <a:alpha val="65000"/>
              </a:srgbClr>
            </a:solidFill>
            <a:prstDash val="solid"/>
          </a:ln>
          <a:effectLst>
            <a:outerShdw blurRad="19050" dist="762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786384" y="1554480"/>
            <a:ext cx="31577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</a:rPr>
              <a:t>Reliability &amp; safety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786384" y="1929384"/>
            <a:ext cx="3157728" cy="160477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r>
              <a:rPr lang="en-US" sz="1200" dirty="0">
                <a:solidFill>
                  <a:srgbClr val="F5F8FC"/>
                </a:solidFill>
              </a:rPr>
              <a:t>Defined operating boundaries</a:t>
            </a:r>
            <a:endParaRPr lang="en-US" sz="1200" dirty="0"/>
          </a:p>
          <a:p>
            <a:r>
              <a:rPr lang="en-US" sz="1200" dirty="0">
                <a:solidFill>
                  <a:srgbClr val="F5F8FC"/>
                </a:solidFill>
              </a:rPr>
              <a:t>Failure testing</a:t>
            </a:r>
            <a:endParaRPr lang="en-US" sz="1200" dirty="0"/>
          </a:p>
          <a:p>
            <a:r>
              <a:rPr lang="en-US" sz="1200" dirty="0">
                <a:solidFill>
                  <a:srgbClr val="F5F8FC"/>
                </a:solidFill>
              </a:rPr>
              <a:t>Fallback and escalation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364736" y="1417320"/>
            <a:ext cx="3486912" cy="2235708"/>
          </a:xfrm>
          <a:prstGeom prst="roundRect">
            <a:avLst>
              <a:gd name="adj" fmla="val 4908"/>
            </a:avLst>
          </a:prstGeom>
          <a:solidFill>
            <a:srgbClr val="122A52">
              <a:alpha val="95000"/>
            </a:srgbClr>
          </a:solidFill>
          <a:ln w="10160">
            <a:solidFill>
              <a:srgbClr val="2CC9D2">
                <a:alpha val="65000"/>
              </a:srgbClr>
            </a:solidFill>
            <a:prstDash val="solid"/>
          </a:ln>
          <a:effectLst>
            <a:outerShdw blurRad="19050" dist="762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529328" y="1554480"/>
            <a:ext cx="31577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</a:rPr>
              <a:t>Fairness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4529328" y="1929384"/>
            <a:ext cx="3157728" cy="160477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r>
              <a:rPr lang="en-US" sz="1200" dirty="0">
                <a:solidFill>
                  <a:srgbClr val="F5F8FC"/>
                </a:solidFill>
              </a:rPr>
              <a:t>Representative evaluation</a:t>
            </a:r>
            <a:endParaRPr lang="en-US" sz="1200" dirty="0"/>
          </a:p>
          <a:p>
            <a:r>
              <a:rPr lang="en-US" sz="1200" dirty="0">
                <a:solidFill>
                  <a:srgbClr val="F5F8FC"/>
                </a:solidFill>
              </a:rPr>
              <a:t>Outcome analysis</a:t>
            </a:r>
            <a:endParaRPr lang="en-US" sz="1200" dirty="0"/>
          </a:p>
          <a:p>
            <a:r>
              <a:rPr lang="en-US" sz="1200" dirty="0">
                <a:solidFill>
                  <a:srgbClr val="F5F8FC"/>
                </a:solidFill>
              </a:rPr>
              <a:t>Bias investigation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8107680" y="1417320"/>
            <a:ext cx="3486912" cy="2235708"/>
          </a:xfrm>
          <a:prstGeom prst="roundRect">
            <a:avLst>
              <a:gd name="adj" fmla="val 4908"/>
            </a:avLst>
          </a:prstGeom>
          <a:solidFill>
            <a:srgbClr val="122A52">
              <a:alpha val="95000"/>
            </a:srgbClr>
          </a:solidFill>
          <a:ln w="10160">
            <a:solidFill>
              <a:srgbClr val="7C5BDC">
                <a:alpha val="65000"/>
              </a:srgbClr>
            </a:solidFill>
            <a:prstDash val="solid"/>
          </a:ln>
          <a:effectLst>
            <a:outerShdw blurRad="19050" dist="762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8272272" y="1554480"/>
            <a:ext cx="31577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</a:rPr>
              <a:t>Privacy &amp; security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8272272" y="1929384"/>
            <a:ext cx="3157728" cy="160477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r>
              <a:rPr lang="en-US" sz="1200" dirty="0">
                <a:solidFill>
                  <a:srgbClr val="F5F8FC"/>
                </a:solidFill>
              </a:rPr>
              <a:t>Data minimization</a:t>
            </a:r>
            <a:endParaRPr lang="en-US" sz="1200" dirty="0"/>
          </a:p>
          <a:p>
            <a:r>
              <a:rPr lang="en-US" sz="1200" dirty="0">
                <a:solidFill>
                  <a:srgbClr val="F5F8FC"/>
                </a:solidFill>
              </a:rPr>
              <a:t>Access controls</a:t>
            </a:r>
            <a:endParaRPr lang="en-US" sz="1200" dirty="0"/>
          </a:p>
          <a:p>
            <a:r>
              <a:rPr lang="en-US" sz="1200" dirty="0">
                <a:solidFill>
                  <a:srgbClr val="F5F8FC"/>
                </a:solidFill>
              </a:rPr>
              <a:t>Secure processing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21792" y="3982212"/>
            <a:ext cx="3486912" cy="2235708"/>
          </a:xfrm>
          <a:prstGeom prst="roundRect">
            <a:avLst>
              <a:gd name="adj" fmla="val 4908"/>
            </a:avLst>
          </a:prstGeom>
          <a:solidFill>
            <a:srgbClr val="122A52">
              <a:alpha val="95000"/>
            </a:srgbClr>
          </a:solidFill>
          <a:ln w="10160">
            <a:solidFill>
              <a:srgbClr val="2FBE82">
                <a:alpha val="65000"/>
              </a:srgbClr>
            </a:solidFill>
            <a:prstDash val="solid"/>
          </a:ln>
          <a:effectLst>
            <a:outerShdw blurRad="19050" dist="762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786384" y="4119372"/>
            <a:ext cx="31577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</a:rPr>
              <a:t>Transparency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786384" y="4494276"/>
            <a:ext cx="3157728" cy="160477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r>
              <a:rPr lang="en-US" sz="1200" dirty="0">
                <a:solidFill>
                  <a:srgbClr val="F5F8FC"/>
                </a:solidFill>
              </a:rPr>
              <a:t>User disclosure</a:t>
            </a:r>
            <a:endParaRPr lang="en-US" sz="1200" dirty="0"/>
          </a:p>
          <a:p>
            <a:r>
              <a:rPr lang="en-US" sz="1200" dirty="0">
                <a:solidFill>
                  <a:srgbClr val="F5F8FC"/>
                </a:solidFill>
              </a:rPr>
              <a:t>Evidence and citations</a:t>
            </a:r>
            <a:endParaRPr lang="en-US" sz="1200" dirty="0"/>
          </a:p>
          <a:p>
            <a:r>
              <a:rPr lang="en-US" sz="1200" dirty="0">
                <a:solidFill>
                  <a:srgbClr val="F5F8FC"/>
                </a:solidFill>
              </a:rPr>
              <a:t>Explainable workflow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364736" y="3982212"/>
            <a:ext cx="3486912" cy="2235708"/>
          </a:xfrm>
          <a:prstGeom prst="roundRect">
            <a:avLst>
              <a:gd name="adj" fmla="val 4908"/>
            </a:avLst>
          </a:prstGeom>
          <a:solidFill>
            <a:srgbClr val="122A52">
              <a:alpha val="95000"/>
            </a:srgbClr>
          </a:solidFill>
          <a:ln w="10160">
            <a:solidFill>
              <a:srgbClr val="FFB627">
                <a:alpha val="65000"/>
              </a:srgbClr>
            </a:solidFill>
            <a:prstDash val="solid"/>
          </a:ln>
          <a:effectLst>
            <a:outerShdw blurRad="19050" dist="762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4529328" y="4119372"/>
            <a:ext cx="31577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</a:rPr>
              <a:t>Accountability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4529328" y="4494276"/>
            <a:ext cx="3157728" cy="160477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r>
              <a:rPr lang="en-US" sz="1200" dirty="0">
                <a:solidFill>
                  <a:srgbClr val="F5F8FC"/>
                </a:solidFill>
              </a:rPr>
              <a:t>Named owners</a:t>
            </a:r>
            <a:endParaRPr lang="en-US" sz="1200" dirty="0"/>
          </a:p>
          <a:p>
            <a:r>
              <a:rPr lang="en-US" sz="1200" dirty="0">
                <a:solidFill>
                  <a:srgbClr val="F5F8FC"/>
                </a:solidFill>
              </a:rPr>
              <a:t>Human oversight</a:t>
            </a:r>
            <a:endParaRPr lang="en-US" sz="1200" dirty="0"/>
          </a:p>
          <a:p>
            <a:r>
              <a:rPr lang="en-US" sz="1200" dirty="0">
                <a:solidFill>
                  <a:srgbClr val="F5F8FC"/>
                </a:solidFill>
              </a:rPr>
              <a:t>Appeal and incident process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8107680" y="3982212"/>
            <a:ext cx="3486912" cy="2235708"/>
          </a:xfrm>
          <a:prstGeom prst="roundRect">
            <a:avLst>
              <a:gd name="adj" fmla="val 4908"/>
            </a:avLst>
          </a:prstGeom>
          <a:solidFill>
            <a:srgbClr val="122A52">
              <a:alpha val="95000"/>
            </a:srgbClr>
          </a:solidFill>
          <a:ln w="10160">
            <a:solidFill>
              <a:srgbClr val="E35D6A">
                <a:alpha val="65000"/>
              </a:srgbClr>
            </a:solidFill>
            <a:prstDash val="solid"/>
          </a:ln>
          <a:effectLst>
            <a:outerShdw blurRad="19050" dist="762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8272272" y="4119372"/>
            <a:ext cx="31577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</a:rPr>
              <a:t>Inclusiveness</a:t>
            </a:r>
            <a:endParaRPr lang="en-US" sz="2000" dirty="0"/>
          </a:p>
        </p:txBody>
      </p:sp>
      <p:sp>
        <p:nvSpPr>
          <p:cNvPr id="26" name="Text 24"/>
          <p:cNvSpPr/>
          <p:nvPr/>
        </p:nvSpPr>
        <p:spPr>
          <a:xfrm>
            <a:off x="8272272" y="4494276"/>
            <a:ext cx="3157728" cy="160477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r>
              <a:rPr lang="en-US" sz="1200" dirty="0">
                <a:solidFill>
                  <a:srgbClr val="F5F8FC"/>
                </a:solidFill>
              </a:rPr>
              <a:t>Accessible interaction</a:t>
            </a:r>
            <a:endParaRPr lang="en-US" sz="1200" dirty="0"/>
          </a:p>
          <a:p>
            <a:r>
              <a:rPr lang="en-US" sz="1200" dirty="0">
                <a:solidFill>
                  <a:srgbClr val="F5F8FC"/>
                </a:solidFill>
              </a:rPr>
              <a:t>Broader user needs</a:t>
            </a:r>
            <a:endParaRPr lang="en-US" sz="1200" dirty="0"/>
          </a:p>
          <a:p>
            <a:r>
              <a:rPr lang="en-US" sz="1200" dirty="0">
                <a:solidFill>
                  <a:srgbClr val="F5F8FC"/>
                </a:solidFill>
              </a:rPr>
              <a:t>Usability testing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402336" y="6519672"/>
            <a:ext cx="65836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70" dirty="0">
                <a:solidFill>
                  <a:srgbClr val="8B93B8"/>
                </a:solidFill>
              </a:rPr>
              <a:t>Scalable Enterprise Architectural Deployments of Agentic AI Solutions</a:t>
            </a:r>
            <a:endParaRPr lang="en-US" sz="570" dirty="0"/>
          </a:p>
        </p:txBody>
      </p:sp>
      <p:sp>
        <p:nvSpPr>
          <p:cNvPr id="28" name="Text 26"/>
          <p:cNvSpPr/>
          <p:nvPr/>
        </p:nvSpPr>
        <p:spPr>
          <a:xfrm>
            <a:off x="11384280" y="6473952"/>
            <a:ext cx="2926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50" dirty="0">
                <a:solidFill>
                  <a:srgbClr val="8B93B8"/>
                </a:solidFill>
              </a:rPr>
              <a:t>13</a:t>
            </a:r>
            <a:endParaRPr lang="en-US" sz="6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594360" y="393192"/>
            <a:ext cx="10698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1B2340"/>
                </a:solidFill>
              </a:rPr>
              <a:t>Agentic AI Risk Management</a:t>
            </a:r>
            <a:endParaRPr lang="en-US" sz="2300" dirty="0"/>
          </a:p>
        </p:txBody>
      </p:sp>
      <p:sp>
        <p:nvSpPr>
          <p:cNvPr id="3" name="Text 1"/>
          <p:cNvSpPr/>
          <p:nvPr/>
        </p:nvSpPr>
        <p:spPr>
          <a:xfrm>
            <a:off x="612648" y="877824"/>
            <a:ext cx="10607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B6785"/>
                </a:solidFill>
              </a:rPr>
              <a:t>Assess risk by threat, vulnerability, business impact and control strength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94360" y="1161288"/>
            <a:ext cx="10972800" cy="1"/>
          </a:xfrm>
          <a:prstGeom prst="line">
            <a:avLst/>
          </a:prstGeom>
          <a:noFill/>
          <a:ln w="12700">
            <a:solidFill>
              <a:srgbClr val="2670DD">
                <a:alpha val="75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02336" y="6519672"/>
            <a:ext cx="65836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70" dirty="0">
                <a:solidFill>
                  <a:srgbClr val="5B6785"/>
                </a:solidFill>
              </a:rPr>
              <a:t>Scalable Enterprise Architectural Deployments of Agentic AI Solutions</a:t>
            </a:r>
            <a:endParaRPr lang="en-US" sz="570" dirty="0"/>
          </a:p>
        </p:txBody>
      </p:sp>
      <p:sp>
        <p:nvSpPr>
          <p:cNvPr id="6" name="Text 4"/>
          <p:cNvSpPr/>
          <p:nvPr/>
        </p:nvSpPr>
        <p:spPr>
          <a:xfrm>
            <a:off x="11384280" y="6473952"/>
            <a:ext cx="2926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50" dirty="0">
                <a:solidFill>
                  <a:srgbClr val="5B6785"/>
                </a:solidFill>
              </a:rPr>
              <a:t>14</a:t>
            </a:r>
            <a:endParaRPr lang="en-US" sz="650" dirty="0"/>
          </a:p>
        </p:txBody>
      </p:sp>
      <p:sp>
        <p:nvSpPr>
          <p:cNvPr id="7" name="Shape 5"/>
          <p:cNvSpPr/>
          <p:nvPr/>
        </p:nvSpPr>
        <p:spPr>
          <a:xfrm>
            <a:off x="621792" y="1417320"/>
            <a:ext cx="3486912" cy="2235708"/>
          </a:xfrm>
          <a:prstGeom prst="roundRect">
            <a:avLst>
              <a:gd name="adj" fmla="val 4908"/>
            </a:avLst>
          </a:prstGeom>
          <a:solidFill>
            <a:srgbClr val="F0F4FC"/>
          </a:solidFill>
          <a:ln w="10160">
            <a:solidFill>
              <a:srgbClr val="2670DD">
                <a:alpha val="65000"/>
              </a:srgbClr>
            </a:solidFill>
            <a:prstDash val="solid"/>
          </a:ln>
          <a:effectLst>
            <a:outerShdw blurRad="19050" dist="762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786384" y="1554480"/>
            <a:ext cx="31577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1B2340"/>
                </a:solidFill>
              </a:rPr>
              <a:t>Threats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786384" y="1929384"/>
            <a:ext cx="3157728" cy="160477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r>
              <a:rPr lang="en-US" sz="1200" dirty="0">
                <a:solidFill>
                  <a:srgbClr val="5B6785"/>
                </a:solidFill>
              </a:rPr>
              <a:t>Prompt injection</a:t>
            </a:r>
            <a:endParaRPr lang="en-US" sz="1200" dirty="0"/>
          </a:p>
          <a:p>
            <a:r>
              <a:rPr lang="en-US" sz="1200" dirty="0">
                <a:solidFill>
                  <a:srgbClr val="5B6785"/>
                </a:solidFill>
              </a:rPr>
              <a:t>Data poisoning</a:t>
            </a:r>
            <a:endParaRPr lang="en-US" sz="1200" dirty="0"/>
          </a:p>
          <a:p>
            <a:r>
              <a:rPr lang="en-US" sz="1200" dirty="0">
                <a:solidFill>
                  <a:srgbClr val="5B6785"/>
                </a:solidFill>
              </a:rPr>
              <a:t>Tool abuse</a:t>
            </a:r>
            <a:endParaRPr lang="en-US" sz="1200" dirty="0"/>
          </a:p>
          <a:p>
            <a:r>
              <a:rPr lang="en-US" sz="1200" dirty="0">
                <a:solidFill>
                  <a:srgbClr val="5B6785"/>
                </a:solidFill>
              </a:rPr>
              <a:t>Identity compromise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364736" y="1417320"/>
            <a:ext cx="3486912" cy="2235708"/>
          </a:xfrm>
          <a:prstGeom prst="roundRect">
            <a:avLst>
              <a:gd name="adj" fmla="val 4908"/>
            </a:avLst>
          </a:prstGeom>
          <a:solidFill>
            <a:srgbClr val="F0F4FC"/>
          </a:solidFill>
          <a:ln w="10160">
            <a:solidFill>
              <a:srgbClr val="2CC9D2">
                <a:alpha val="65000"/>
              </a:srgbClr>
            </a:solidFill>
            <a:prstDash val="solid"/>
          </a:ln>
          <a:effectLst>
            <a:outerShdw blurRad="19050" dist="762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529328" y="1554480"/>
            <a:ext cx="31577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1B2340"/>
                </a:solidFill>
              </a:rPr>
              <a:t>Failure modes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4529328" y="1929384"/>
            <a:ext cx="3157728" cy="160477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r>
              <a:rPr lang="en-US" sz="1200" dirty="0">
                <a:solidFill>
                  <a:srgbClr val="5B6785"/>
                </a:solidFill>
              </a:rPr>
              <a:t>Hallucination</a:t>
            </a:r>
            <a:endParaRPr lang="en-US" sz="1200" dirty="0"/>
          </a:p>
          <a:p>
            <a:r>
              <a:rPr lang="en-US" sz="1200" dirty="0">
                <a:solidFill>
                  <a:srgbClr val="5B6785"/>
                </a:solidFill>
              </a:rPr>
              <a:t>Incorrect routing</a:t>
            </a:r>
            <a:endParaRPr lang="en-US" sz="1200" dirty="0"/>
          </a:p>
          <a:p>
            <a:r>
              <a:rPr lang="en-US" sz="1200" dirty="0">
                <a:solidFill>
                  <a:srgbClr val="5B6785"/>
                </a:solidFill>
              </a:rPr>
              <a:t>Runaway loops</a:t>
            </a:r>
            <a:endParaRPr lang="en-US" sz="1200" dirty="0"/>
          </a:p>
          <a:p>
            <a:r>
              <a:rPr lang="en-US" sz="1200" dirty="0">
                <a:solidFill>
                  <a:srgbClr val="5B6785"/>
                </a:solidFill>
              </a:rPr>
              <a:t>Duplicate actions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8107680" y="1417320"/>
            <a:ext cx="3486912" cy="2235708"/>
          </a:xfrm>
          <a:prstGeom prst="roundRect">
            <a:avLst>
              <a:gd name="adj" fmla="val 4908"/>
            </a:avLst>
          </a:prstGeom>
          <a:solidFill>
            <a:srgbClr val="F0F4FC"/>
          </a:solidFill>
          <a:ln w="10160">
            <a:solidFill>
              <a:srgbClr val="7C5BDC">
                <a:alpha val="65000"/>
              </a:srgbClr>
            </a:solidFill>
            <a:prstDash val="solid"/>
          </a:ln>
          <a:effectLst>
            <a:outerShdw blurRad="19050" dist="762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8272272" y="1554480"/>
            <a:ext cx="31577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1B2340"/>
                </a:solidFill>
              </a:rPr>
              <a:t>Impact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8272272" y="1929384"/>
            <a:ext cx="3157728" cy="160477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r>
              <a:rPr lang="en-US" sz="1200" dirty="0">
                <a:solidFill>
                  <a:srgbClr val="5B6785"/>
                </a:solidFill>
              </a:rPr>
              <a:t>Financial</a:t>
            </a:r>
            <a:endParaRPr lang="en-US" sz="1200" dirty="0"/>
          </a:p>
          <a:p>
            <a:r>
              <a:rPr lang="en-US" sz="1200" dirty="0">
                <a:solidFill>
                  <a:srgbClr val="5B6785"/>
                </a:solidFill>
              </a:rPr>
              <a:t>Privacy</a:t>
            </a:r>
            <a:endParaRPr lang="en-US" sz="1200" dirty="0"/>
          </a:p>
          <a:p>
            <a:r>
              <a:rPr lang="en-US" sz="1200" dirty="0">
                <a:solidFill>
                  <a:srgbClr val="5B6785"/>
                </a:solidFill>
              </a:rPr>
              <a:t>Safety</a:t>
            </a:r>
            <a:endParaRPr lang="en-US" sz="1200" dirty="0"/>
          </a:p>
          <a:p>
            <a:r>
              <a:rPr lang="en-US" sz="1200" dirty="0">
                <a:solidFill>
                  <a:srgbClr val="5B6785"/>
                </a:solidFill>
              </a:rPr>
              <a:t>Regulatory</a:t>
            </a:r>
            <a:endParaRPr lang="en-US" sz="1200" dirty="0"/>
          </a:p>
          <a:p>
            <a:r>
              <a:rPr lang="en-US" sz="1200" dirty="0">
                <a:solidFill>
                  <a:srgbClr val="5B6785"/>
                </a:solidFill>
              </a:rPr>
              <a:t>Reputational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21792" y="3982212"/>
            <a:ext cx="3486912" cy="2235708"/>
          </a:xfrm>
          <a:prstGeom prst="roundRect">
            <a:avLst>
              <a:gd name="adj" fmla="val 4908"/>
            </a:avLst>
          </a:prstGeom>
          <a:solidFill>
            <a:srgbClr val="F0F4FC"/>
          </a:solidFill>
          <a:ln w="10160">
            <a:solidFill>
              <a:srgbClr val="2FBE82">
                <a:alpha val="65000"/>
              </a:srgbClr>
            </a:solidFill>
            <a:prstDash val="solid"/>
          </a:ln>
          <a:effectLst>
            <a:outerShdw blurRad="19050" dist="762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786384" y="4119372"/>
            <a:ext cx="31577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1B2340"/>
                </a:solidFill>
              </a:rPr>
              <a:t>Controls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786384" y="4494276"/>
            <a:ext cx="3157728" cy="160477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r>
              <a:rPr lang="en-US" sz="1200" dirty="0">
                <a:solidFill>
                  <a:srgbClr val="5B6785"/>
                </a:solidFill>
              </a:rPr>
              <a:t>Preventive</a:t>
            </a:r>
            <a:endParaRPr lang="en-US" sz="1200" dirty="0"/>
          </a:p>
          <a:p>
            <a:r>
              <a:rPr lang="en-US" sz="1200" dirty="0">
                <a:solidFill>
                  <a:srgbClr val="5B6785"/>
                </a:solidFill>
              </a:rPr>
              <a:t>Detective</a:t>
            </a:r>
            <a:endParaRPr lang="en-US" sz="1200" dirty="0"/>
          </a:p>
          <a:p>
            <a:r>
              <a:rPr lang="en-US" sz="1200" dirty="0">
                <a:solidFill>
                  <a:srgbClr val="5B6785"/>
                </a:solidFill>
              </a:rPr>
              <a:t>Corrective</a:t>
            </a:r>
            <a:endParaRPr lang="en-US" sz="1200" dirty="0"/>
          </a:p>
          <a:p>
            <a:r>
              <a:rPr lang="en-US" sz="1200" dirty="0">
                <a:solidFill>
                  <a:srgbClr val="5B6785"/>
                </a:solidFill>
              </a:rPr>
              <a:t>Human approval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364736" y="3982212"/>
            <a:ext cx="3486912" cy="2235708"/>
          </a:xfrm>
          <a:prstGeom prst="roundRect">
            <a:avLst>
              <a:gd name="adj" fmla="val 4908"/>
            </a:avLst>
          </a:prstGeom>
          <a:solidFill>
            <a:srgbClr val="F0F4FC"/>
          </a:solidFill>
          <a:ln w="10160">
            <a:solidFill>
              <a:srgbClr val="FFB627">
                <a:alpha val="65000"/>
              </a:srgbClr>
            </a:solidFill>
            <a:prstDash val="solid"/>
          </a:ln>
          <a:effectLst>
            <a:outerShdw blurRad="19050" dist="762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529328" y="4119372"/>
            <a:ext cx="31577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1B2340"/>
                </a:solidFill>
              </a:rPr>
              <a:t>Residual risk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4529328" y="4494276"/>
            <a:ext cx="3157728" cy="160477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r>
              <a:rPr lang="en-US" sz="1200" dirty="0">
                <a:solidFill>
                  <a:srgbClr val="5B6785"/>
                </a:solidFill>
              </a:rPr>
              <a:t>Assess after controls and compare with approved tolerance.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8107680" y="3982212"/>
            <a:ext cx="3486912" cy="2235708"/>
          </a:xfrm>
          <a:prstGeom prst="roundRect">
            <a:avLst>
              <a:gd name="adj" fmla="val 4908"/>
            </a:avLst>
          </a:prstGeom>
          <a:solidFill>
            <a:srgbClr val="F0F4FC"/>
          </a:solidFill>
          <a:ln w="10160">
            <a:solidFill>
              <a:srgbClr val="E35D6A">
                <a:alpha val="65000"/>
              </a:srgbClr>
            </a:solidFill>
            <a:prstDash val="solid"/>
          </a:ln>
          <a:effectLst>
            <a:outerShdw blurRad="19050" dist="762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8272272" y="4119372"/>
            <a:ext cx="31577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1B2340"/>
                </a:solidFill>
              </a:rPr>
              <a:t>Response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8272272" y="4494276"/>
            <a:ext cx="3157728" cy="160477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r>
              <a:rPr lang="en-US" sz="1200" dirty="0">
                <a:solidFill>
                  <a:srgbClr val="5B6785"/>
                </a:solidFill>
              </a:rPr>
              <a:t>Alert</a:t>
            </a:r>
            <a:endParaRPr lang="en-US" sz="1200" dirty="0"/>
          </a:p>
          <a:p>
            <a:r>
              <a:rPr lang="en-US" sz="1200" dirty="0">
                <a:solidFill>
                  <a:srgbClr val="5B6785"/>
                </a:solidFill>
              </a:rPr>
              <a:t>Contain</a:t>
            </a:r>
            <a:endParaRPr lang="en-US" sz="1200" dirty="0"/>
          </a:p>
          <a:p>
            <a:r>
              <a:rPr lang="en-US" sz="1200" dirty="0">
                <a:solidFill>
                  <a:srgbClr val="5B6785"/>
                </a:solidFill>
              </a:rPr>
              <a:t>Revoke</a:t>
            </a:r>
            <a:endParaRPr lang="en-US" sz="1200" dirty="0"/>
          </a:p>
          <a:p>
            <a:r>
              <a:rPr lang="en-US" sz="1200" dirty="0">
                <a:solidFill>
                  <a:srgbClr val="5B6785"/>
                </a:solidFill>
              </a:rPr>
              <a:t>Compensate</a:t>
            </a:r>
            <a:endParaRPr lang="en-US" sz="1200" dirty="0"/>
          </a:p>
          <a:p>
            <a:r>
              <a:rPr lang="en-US" sz="1200" dirty="0">
                <a:solidFill>
                  <a:srgbClr val="5B6785"/>
                </a:solidFill>
              </a:rPr>
              <a:t>Investigate</a:t>
            </a:r>
            <a:endParaRPr lang="en-US" sz="1200" dirty="0"/>
          </a:p>
          <a:p>
            <a:r>
              <a:rPr lang="en-US" sz="1200" dirty="0">
                <a:solidFill>
                  <a:srgbClr val="5B6785"/>
                </a:solidFill>
              </a:rPr>
              <a:t>Improve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402336" y="6519672"/>
            <a:ext cx="65836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70" dirty="0">
                <a:solidFill>
                  <a:srgbClr val="5B6785"/>
                </a:solidFill>
              </a:rPr>
              <a:t>Scalable Enterprise Architectural Deployments of Agentic AI Solutions</a:t>
            </a:r>
            <a:endParaRPr lang="en-US" sz="570" dirty="0"/>
          </a:p>
        </p:txBody>
      </p:sp>
      <p:sp>
        <p:nvSpPr>
          <p:cNvPr id="26" name="Text 24"/>
          <p:cNvSpPr/>
          <p:nvPr/>
        </p:nvSpPr>
        <p:spPr>
          <a:xfrm>
            <a:off x="11384280" y="6473952"/>
            <a:ext cx="2926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50" dirty="0">
                <a:solidFill>
                  <a:srgbClr val="5B6785"/>
                </a:solidFill>
              </a:rPr>
              <a:t>14</a:t>
            </a:r>
            <a:endParaRPr lang="en-US" sz="6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41B4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Shape 0"/>
          <p:cNvSpPr/>
          <p:nvPr/>
        </p:nvSpPr>
        <p:spPr>
          <a:xfrm>
            <a:off x="10241280" y="228600"/>
            <a:ext cx="1417320" cy="1417320"/>
          </a:xfrm>
          <a:prstGeom prst="ellipse">
            <a:avLst/>
          </a:prstGeom>
          <a:solidFill>
            <a:srgbClr val="2B4388">
              <a:alpha val="44000"/>
            </a:srgbClr>
          </a:solidFill>
          <a:ln w="7620">
            <a:solidFill>
              <a:srgbClr val="FFB627">
                <a:alpha val="52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46304" y="5257800"/>
            <a:ext cx="1143000" cy="1143000"/>
          </a:xfrm>
          <a:prstGeom prst="ellipse">
            <a:avLst/>
          </a:prstGeom>
          <a:solidFill>
            <a:srgbClr val="223575">
              <a:alpha val="38000"/>
            </a:srgbClr>
          </a:solidFill>
          <a:ln w="12700">
            <a:solidFill>
              <a:srgbClr val="2670DD">
                <a:alpha val="35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129844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50" dirty="0">
                <a:solidFill>
                  <a:srgbClr val="FFB627"/>
                </a:solidFill>
              </a:rPr>
              <a:t>MODULE 08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874520"/>
            <a:ext cx="69951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</a:rPr>
              <a:t>Observability, Monitoring &amp;</a:t>
            </a:r>
            <a:endParaRPr lang="en-US" sz="2800" dirty="0"/>
          </a:p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</a:rPr>
              <a:t>Optimization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731520" y="3310128"/>
            <a:ext cx="1143000" cy="384048"/>
          </a:xfrm>
          <a:prstGeom prst="roundRect">
            <a:avLst>
              <a:gd name="adj" fmla="val 23810"/>
            </a:avLst>
          </a:prstGeom>
          <a:solidFill>
            <a:srgbClr val="304582"/>
          </a:solidFill>
          <a:ln w="12700">
            <a:solidFill>
              <a:srgbClr val="30458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3438144"/>
            <a:ext cx="96012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40" b="1" dirty="0">
                <a:solidFill>
                  <a:srgbClr val="B8C6E3"/>
                </a:solidFill>
              </a:rPr>
              <a:t>1 Hour</a:t>
            </a:r>
            <a:endParaRPr lang="en-US" sz="740" dirty="0"/>
          </a:p>
        </p:txBody>
      </p:sp>
      <p:sp>
        <p:nvSpPr>
          <p:cNvPr id="8" name="Text 6"/>
          <p:cNvSpPr/>
          <p:nvPr/>
        </p:nvSpPr>
        <p:spPr>
          <a:xfrm>
            <a:off x="402336" y="6519672"/>
            <a:ext cx="65836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70" dirty="0">
                <a:solidFill>
                  <a:srgbClr val="8B93B8"/>
                </a:solidFill>
              </a:rPr>
              <a:t>Scalable Enterprise Architectural Deployments of Agentic AI Solutions</a:t>
            </a:r>
            <a:endParaRPr lang="en-US" sz="570" dirty="0"/>
          </a:p>
        </p:txBody>
      </p:sp>
      <p:sp>
        <p:nvSpPr>
          <p:cNvPr id="9" name="Text 7"/>
          <p:cNvSpPr/>
          <p:nvPr/>
        </p:nvSpPr>
        <p:spPr>
          <a:xfrm>
            <a:off x="11384280" y="6473952"/>
            <a:ext cx="2926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50" dirty="0">
                <a:solidFill>
                  <a:srgbClr val="8B93B8"/>
                </a:solidFill>
              </a:rPr>
              <a:t>16</a:t>
            </a:r>
            <a:endParaRPr lang="en-US" sz="6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594360" y="393192"/>
            <a:ext cx="10698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1B2340"/>
                </a:solidFill>
              </a:rPr>
              <a:t>MODULE 08 · TOPICS COVERED</a:t>
            </a:r>
            <a:endParaRPr lang="en-US" sz="2300" dirty="0"/>
          </a:p>
        </p:txBody>
      </p:sp>
      <p:sp>
        <p:nvSpPr>
          <p:cNvPr id="3" name="Text 1"/>
          <p:cNvSpPr/>
          <p:nvPr/>
        </p:nvSpPr>
        <p:spPr>
          <a:xfrm>
            <a:off x="612648" y="877824"/>
            <a:ext cx="10607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5B6785"/>
                </a:solidFill>
              </a:rPr>
              <a:t>Observability, Monitoring &amp; Optimization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94360" y="1161288"/>
            <a:ext cx="10972800" cy="1"/>
          </a:xfrm>
          <a:prstGeom prst="line">
            <a:avLst/>
          </a:prstGeom>
          <a:noFill/>
          <a:ln w="12700">
            <a:solidFill>
              <a:srgbClr val="2670DD">
                <a:alpha val="75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02336" y="6519672"/>
            <a:ext cx="65836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70" dirty="0">
                <a:solidFill>
                  <a:srgbClr val="5B6785"/>
                </a:solidFill>
              </a:rPr>
              <a:t>Scalable Enterprise Architectural Deployments of Agentic AI Solutions</a:t>
            </a:r>
            <a:endParaRPr lang="en-US" sz="570" dirty="0"/>
          </a:p>
        </p:txBody>
      </p:sp>
      <p:sp>
        <p:nvSpPr>
          <p:cNvPr id="6" name="Text 4"/>
          <p:cNvSpPr/>
          <p:nvPr/>
        </p:nvSpPr>
        <p:spPr>
          <a:xfrm>
            <a:off x="11384280" y="6473952"/>
            <a:ext cx="2926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50" dirty="0">
                <a:solidFill>
                  <a:srgbClr val="5B6785"/>
                </a:solidFill>
              </a:rPr>
              <a:t>17</a:t>
            </a:r>
            <a:endParaRPr lang="en-US" sz="650" dirty="0"/>
          </a:p>
        </p:txBody>
      </p:sp>
      <p:sp>
        <p:nvSpPr>
          <p:cNvPr id="7" name="Shape 5"/>
          <p:cNvSpPr/>
          <p:nvPr/>
        </p:nvSpPr>
        <p:spPr>
          <a:xfrm>
            <a:off x="685800" y="1444752"/>
            <a:ext cx="347472" cy="347472"/>
          </a:xfrm>
          <a:prstGeom prst="ellipse">
            <a:avLst/>
          </a:prstGeom>
          <a:solidFill>
            <a:srgbClr val="FFB627"/>
          </a:solidFill>
          <a:ln w="12700">
            <a:solidFill>
              <a:srgbClr val="FFB62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58952" y="1540764"/>
            <a:ext cx="201168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B2340"/>
                </a:solidFill>
              </a:rPr>
              <a:t>1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188720" y="1472184"/>
            <a:ext cx="4892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1B2340"/>
                </a:solidFill>
              </a:rPr>
              <a:t>Agent Monitoring Metrics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685800" y="2468880"/>
            <a:ext cx="347472" cy="347472"/>
          </a:xfrm>
          <a:prstGeom prst="ellipse">
            <a:avLst/>
          </a:prstGeom>
          <a:solidFill>
            <a:srgbClr val="FFB627"/>
          </a:solidFill>
          <a:ln w="12700">
            <a:solidFill>
              <a:srgbClr val="FFB62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58952" y="2564892"/>
            <a:ext cx="201168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B2340"/>
                </a:solidFill>
              </a:rPr>
              <a:t>2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188720" y="2496312"/>
            <a:ext cx="4892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1B2340"/>
                </a:solidFill>
              </a:rPr>
              <a:t>Tracing Agent Actions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685800" y="3493008"/>
            <a:ext cx="347472" cy="347472"/>
          </a:xfrm>
          <a:prstGeom prst="ellipse">
            <a:avLst/>
          </a:prstGeom>
          <a:solidFill>
            <a:srgbClr val="FFB627"/>
          </a:solidFill>
          <a:ln w="12700">
            <a:solidFill>
              <a:srgbClr val="FFB62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58952" y="3589020"/>
            <a:ext cx="201168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B2340"/>
                </a:solidFill>
              </a:rPr>
              <a:t>3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188720" y="3520440"/>
            <a:ext cx="4892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1B2340"/>
                </a:solidFill>
              </a:rPr>
              <a:t>Observability Frameworks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685800" y="4517136"/>
            <a:ext cx="347472" cy="347472"/>
          </a:xfrm>
          <a:prstGeom prst="ellipse">
            <a:avLst/>
          </a:prstGeom>
          <a:solidFill>
            <a:srgbClr val="FFB627"/>
          </a:solidFill>
          <a:ln w="12700">
            <a:solidFill>
              <a:srgbClr val="FFB62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58952" y="4613148"/>
            <a:ext cx="201168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B2340"/>
                </a:solidFill>
              </a:rPr>
              <a:t>4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188720" y="4544568"/>
            <a:ext cx="4892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1B2340"/>
                </a:solidFill>
              </a:rPr>
              <a:t>Performance Benchmarking</a:t>
            </a:r>
            <a:endParaRPr lang="en-US" sz="2000" dirty="0"/>
          </a:p>
        </p:txBody>
      </p:sp>
      <p:sp>
        <p:nvSpPr>
          <p:cNvPr id="19" name="Shape 17"/>
          <p:cNvSpPr/>
          <p:nvPr/>
        </p:nvSpPr>
        <p:spPr>
          <a:xfrm>
            <a:off x="6400800" y="1444752"/>
            <a:ext cx="347472" cy="347472"/>
          </a:xfrm>
          <a:prstGeom prst="ellipse">
            <a:avLst/>
          </a:prstGeom>
          <a:solidFill>
            <a:srgbClr val="FFB627"/>
          </a:solidFill>
          <a:ln w="12700">
            <a:solidFill>
              <a:srgbClr val="FFB62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73952" y="1540764"/>
            <a:ext cx="201168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B2340"/>
                </a:solidFill>
              </a:rPr>
              <a:t>5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903720" y="1472184"/>
            <a:ext cx="4892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1B2340"/>
                </a:solidFill>
              </a:rPr>
              <a:t>Cost Monitoring</a:t>
            </a:r>
            <a:endParaRPr lang="en-US" sz="2000" dirty="0"/>
          </a:p>
        </p:txBody>
      </p:sp>
      <p:sp>
        <p:nvSpPr>
          <p:cNvPr id="22" name="Shape 20"/>
          <p:cNvSpPr/>
          <p:nvPr/>
        </p:nvSpPr>
        <p:spPr>
          <a:xfrm>
            <a:off x="6400800" y="2468880"/>
            <a:ext cx="347472" cy="347472"/>
          </a:xfrm>
          <a:prstGeom prst="ellipse">
            <a:avLst/>
          </a:prstGeom>
          <a:solidFill>
            <a:srgbClr val="FFB627"/>
          </a:solidFill>
          <a:ln w="12700">
            <a:solidFill>
              <a:srgbClr val="FFB62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473952" y="2564892"/>
            <a:ext cx="201168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B2340"/>
                </a:solidFill>
              </a:rPr>
              <a:t>6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903720" y="2496312"/>
            <a:ext cx="4892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1B2340"/>
                </a:solidFill>
              </a:rPr>
              <a:t>Agent Evaluation Techniques</a:t>
            </a:r>
            <a:endParaRPr lang="en-US" sz="2000" dirty="0"/>
          </a:p>
        </p:txBody>
      </p:sp>
      <p:sp>
        <p:nvSpPr>
          <p:cNvPr id="25" name="Shape 23"/>
          <p:cNvSpPr/>
          <p:nvPr/>
        </p:nvSpPr>
        <p:spPr>
          <a:xfrm>
            <a:off x="6400800" y="3493008"/>
            <a:ext cx="347472" cy="347472"/>
          </a:xfrm>
          <a:prstGeom prst="ellipse">
            <a:avLst/>
          </a:prstGeom>
          <a:solidFill>
            <a:srgbClr val="FFB627"/>
          </a:solidFill>
          <a:ln w="12700">
            <a:solidFill>
              <a:srgbClr val="FFB627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473952" y="3589020"/>
            <a:ext cx="201168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B2340"/>
                </a:solidFill>
              </a:rPr>
              <a:t>7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6903720" y="3520440"/>
            <a:ext cx="4892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1B2340"/>
                </a:solidFill>
              </a:rPr>
              <a:t>Continuous Improvement Loops</a:t>
            </a:r>
            <a:endParaRPr lang="en-US" sz="2000" dirty="0"/>
          </a:p>
        </p:txBody>
      </p:sp>
      <p:sp>
        <p:nvSpPr>
          <p:cNvPr id="28" name="Text 26"/>
          <p:cNvSpPr/>
          <p:nvPr/>
        </p:nvSpPr>
        <p:spPr>
          <a:xfrm>
            <a:off x="402336" y="6519672"/>
            <a:ext cx="65836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70" dirty="0">
                <a:solidFill>
                  <a:srgbClr val="5B6785"/>
                </a:solidFill>
              </a:rPr>
              <a:t>Scalable Enterprise Architectural Deployments of Agentic AI Solutions</a:t>
            </a:r>
            <a:endParaRPr lang="en-US" sz="570" dirty="0"/>
          </a:p>
        </p:txBody>
      </p:sp>
      <p:sp>
        <p:nvSpPr>
          <p:cNvPr id="29" name="Text 27"/>
          <p:cNvSpPr/>
          <p:nvPr/>
        </p:nvSpPr>
        <p:spPr>
          <a:xfrm>
            <a:off x="11384280" y="6473952"/>
            <a:ext cx="2926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50" dirty="0">
                <a:solidFill>
                  <a:srgbClr val="5B6785"/>
                </a:solidFill>
              </a:rPr>
              <a:t>17</a:t>
            </a:r>
            <a:endParaRPr lang="en-US" sz="6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pic>
        <p:nvPicPr>
          <p:cNvPr id="2" name="Image 0" descr="/mnt/data/85ced4e50a.png"/>
          <p:cNvPicPr>
            <a:picLocks noChangeAspect="1"/>
          </p:cNvPicPr>
          <p:nvPr/>
        </p:nvPicPr>
        <p:blipFill>
          <a:blip r:embed="rId3"/>
          <a:srcRect t="7811" b="7811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142E">
              <a:alpha val="55000"/>
            </a:srgbClr>
          </a:solidFill>
          <a:ln w="12700">
            <a:solidFill>
              <a:srgbClr val="08142E">
                <a:alpha val="0"/>
              </a:srgbClr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594360" y="384048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FFFFFF"/>
                </a:solidFill>
              </a:rPr>
              <a:t>End-to-End Agent Observability</a:t>
            </a:r>
            <a:endParaRPr lang="en-US" sz="2300" dirty="0"/>
          </a:p>
        </p:txBody>
      </p:sp>
      <p:sp>
        <p:nvSpPr>
          <p:cNvPr id="5" name="Text 2"/>
          <p:cNvSpPr/>
          <p:nvPr/>
        </p:nvSpPr>
        <p:spPr>
          <a:xfrm>
            <a:off x="612648" y="86868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B8C6E3"/>
                </a:solidFill>
              </a:rPr>
              <a:t>Make the entire reasoning-to-action path visible without exposing sensitive data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621792" y="4956048"/>
            <a:ext cx="10927080" cy="1051560"/>
          </a:xfrm>
          <a:prstGeom prst="roundRect">
            <a:avLst>
              <a:gd name="adj" fmla="val 10435"/>
            </a:avLst>
          </a:prstGeom>
          <a:solidFill>
            <a:srgbClr val="08142E">
              <a:alpha val="86000"/>
            </a:srgbClr>
          </a:solidFill>
          <a:ln w="12700">
            <a:solidFill>
              <a:srgbClr val="2CC9D2">
                <a:alpha val="65000"/>
              </a:srgbClr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868680" y="5248656"/>
            <a:ext cx="10378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b="1" dirty="0">
                <a:solidFill>
                  <a:srgbClr val="2CC9D2"/>
                </a:solidFill>
              </a:rPr>
              <a:t>Observe the complete task: request → agent steps → model → retrieval → tools → action → outcome.</a:t>
            </a:r>
            <a:endParaRPr lang="en-US" dirty="0"/>
          </a:p>
        </p:txBody>
      </p:sp>
      <p:sp>
        <p:nvSpPr>
          <p:cNvPr id="8" name="Text 5"/>
          <p:cNvSpPr/>
          <p:nvPr/>
        </p:nvSpPr>
        <p:spPr>
          <a:xfrm>
            <a:off x="402336" y="6519672"/>
            <a:ext cx="65836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70" dirty="0">
                <a:solidFill>
                  <a:srgbClr val="8B93B8"/>
                </a:solidFill>
              </a:rPr>
              <a:t>Scalable Enterprise Architectural Deployments of Agentic AI Solutions</a:t>
            </a:r>
            <a:endParaRPr lang="en-US" sz="570" dirty="0"/>
          </a:p>
        </p:txBody>
      </p:sp>
      <p:sp>
        <p:nvSpPr>
          <p:cNvPr id="9" name="Text 6"/>
          <p:cNvSpPr/>
          <p:nvPr/>
        </p:nvSpPr>
        <p:spPr>
          <a:xfrm>
            <a:off x="11384280" y="6473952"/>
            <a:ext cx="2926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50" dirty="0">
                <a:solidFill>
                  <a:srgbClr val="8B93B8"/>
                </a:solidFill>
              </a:rPr>
              <a:t>18</a:t>
            </a:r>
            <a:endParaRPr lang="en-US" sz="6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141B4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Shape 0"/>
          <p:cNvSpPr/>
          <p:nvPr/>
        </p:nvSpPr>
        <p:spPr>
          <a:xfrm>
            <a:off x="10241280" y="228600"/>
            <a:ext cx="1417320" cy="1417320"/>
          </a:xfrm>
          <a:prstGeom prst="ellipse">
            <a:avLst/>
          </a:prstGeom>
          <a:solidFill>
            <a:srgbClr val="2B4388">
              <a:alpha val="44000"/>
            </a:srgbClr>
          </a:solidFill>
          <a:ln w="7620">
            <a:solidFill>
              <a:srgbClr val="FFB627">
                <a:alpha val="52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46304" y="5257800"/>
            <a:ext cx="1143000" cy="1143000"/>
          </a:xfrm>
          <a:prstGeom prst="ellipse">
            <a:avLst/>
          </a:prstGeom>
          <a:solidFill>
            <a:srgbClr val="223575">
              <a:alpha val="38000"/>
            </a:srgbClr>
          </a:solidFill>
          <a:ln w="12700">
            <a:solidFill>
              <a:srgbClr val="2670DD">
                <a:alpha val="35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393192"/>
            <a:ext cx="10698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FFFFFF"/>
                </a:solidFill>
              </a:rPr>
              <a:t>Agent Monitoring Metrics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612648" y="877824"/>
            <a:ext cx="10607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B8C6E3"/>
                </a:solidFill>
              </a:rPr>
              <a:t>Measure service health, agent behavior, output quality and business outcome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94360" y="1161288"/>
            <a:ext cx="10972800" cy="1"/>
          </a:xfrm>
          <a:prstGeom prst="line">
            <a:avLst/>
          </a:prstGeom>
          <a:noFill/>
          <a:ln w="12700">
            <a:solidFill>
              <a:srgbClr val="2CC9D2">
                <a:alpha val="75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02336" y="6519672"/>
            <a:ext cx="65836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70" dirty="0">
                <a:solidFill>
                  <a:srgbClr val="8B93B8"/>
                </a:solidFill>
              </a:rPr>
              <a:t>Scalable Enterprise Architectural Deployments of Agentic AI Solutions</a:t>
            </a:r>
            <a:endParaRPr lang="en-US" sz="570" dirty="0"/>
          </a:p>
        </p:txBody>
      </p:sp>
      <p:sp>
        <p:nvSpPr>
          <p:cNvPr id="8" name="Text 6"/>
          <p:cNvSpPr/>
          <p:nvPr/>
        </p:nvSpPr>
        <p:spPr>
          <a:xfrm>
            <a:off x="11384280" y="6473952"/>
            <a:ext cx="2926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50" dirty="0">
                <a:solidFill>
                  <a:srgbClr val="8B93B8"/>
                </a:solidFill>
              </a:rPr>
              <a:t>19</a:t>
            </a:r>
            <a:endParaRPr lang="en-US" sz="650" dirty="0"/>
          </a:p>
        </p:txBody>
      </p:sp>
      <p:sp>
        <p:nvSpPr>
          <p:cNvPr id="9" name="Shape 7"/>
          <p:cNvSpPr/>
          <p:nvPr/>
        </p:nvSpPr>
        <p:spPr>
          <a:xfrm>
            <a:off x="621792" y="1417320"/>
            <a:ext cx="3486912" cy="2235708"/>
          </a:xfrm>
          <a:prstGeom prst="roundRect">
            <a:avLst>
              <a:gd name="adj" fmla="val 4908"/>
            </a:avLst>
          </a:prstGeom>
          <a:solidFill>
            <a:srgbClr val="122A52">
              <a:alpha val="95000"/>
            </a:srgbClr>
          </a:solidFill>
          <a:ln w="10160">
            <a:solidFill>
              <a:srgbClr val="2670DD">
                <a:alpha val="65000"/>
              </a:srgbClr>
            </a:solidFill>
            <a:prstDash val="solid"/>
          </a:ln>
          <a:effectLst>
            <a:outerShdw blurRad="19050" dist="762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786384" y="1554480"/>
            <a:ext cx="31577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</a:rPr>
              <a:t>Service health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786384" y="1929384"/>
            <a:ext cx="3157728" cy="160477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r>
              <a:rPr lang="en-US" sz="1200" dirty="0">
                <a:solidFill>
                  <a:srgbClr val="F5F8FC"/>
                </a:solidFill>
              </a:rPr>
              <a:t>Request volume</a:t>
            </a:r>
            <a:endParaRPr lang="en-US" sz="1200" dirty="0"/>
          </a:p>
          <a:p>
            <a:r>
              <a:rPr lang="en-US" sz="1200" dirty="0">
                <a:solidFill>
                  <a:srgbClr val="F5F8FC"/>
                </a:solidFill>
              </a:rPr>
              <a:t>Availability</a:t>
            </a:r>
            <a:endParaRPr lang="en-US" sz="1200" dirty="0"/>
          </a:p>
          <a:p>
            <a:r>
              <a:rPr lang="en-US" sz="1200" dirty="0">
                <a:solidFill>
                  <a:srgbClr val="F5F8FC"/>
                </a:solidFill>
              </a:rPr>
              <a:t>Error rate</a:t>
            </a:r>
            <a:endParaRPr lang="en-US" sz="1200" dirty="0"/>
          </a:p>
          <a:p>
            <a:r>
              <a:rPr lang="en-US" sz="1200" dirty="0">
                <a:solidFill>
                  <a:srgbClr val="F5F8FC"/>
                </a:solidFill>
              </a:rPr>
              <a:t>Latency percentiles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364736" y="1417320"/>
            <a:ext cx="3486912" cy="2235708"/>
          </a:xfrm>
          <a:prstGeom prst="roundRect">
            <a:avLst>
              <a:gd name="adj" fmla="val 4908"/>
            </a:avLst>
          </a:prstGeom>
          <a:solidFill>
            <a:srgbClr val="122A52">
              <a:alpha val="95000"/>
            </a:srgbClr>
          </a:solidFill>
          <a:ln w="10160">
            <a:solidFill>
              <a:srgbClr val="2CC9D2">
                <a:alpha val="65000"/>
              </a:srgbClr>
            </a:solidFill>
            <a:prstDash val="solid"/>
          </a:ln>
          <a:effectLst>
            <a:outerShdw blurRad="19050" dist="762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529328" y="1554480"/>
            <a:ext cx="31577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</a:rPr>
              <a:t>Agent behavior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4529328" y="1929384"/>
            <a:ext cx="3157728" cy="160477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r>
              <a:rPr lang="en-US" sz="1200" dirty="0">
                <a:solidFill>
                  <a:srgbClr val="F5F8FC"/>
                </a:solidFill>
              </a:rPr>
              <a:t>Steps per task</a:t>
            </a:r>
            <a:endParaRPr lang="en-US" sz="1200" dirty="0"/>
          </a:p>
          <a:p>
            <a:r>
              <a:rPr lang="en-US" sz="1200" dirty="0">
                <a:solidFill>
                  <a:srgbClr val="F5F8FC"/>
                </a:solidFill>
              </a:rPr>
              <a:t>Retries</a:t>
            </a:r>
            <a:endParaRPr lang="en-US" sz="1200" dirty="0"/>
          </a:p>
          <a:p>
            <a:r>
              <a:rPr lang="en-US" sz="1200" dirty="0">
                <a:solidFill>
                  <a:srgbClr val="F5F8FC"/>
                </a:solidFill>
              </a:rPr>
              <a:t>Loop depth</a:t>
            </a:r>
            <a:endParaRPr lang="en-US" sz="1200" dirty="0"/>
          </a:p>
          <a:p>
            <a:r>
              <a:rPr lang="en-US" sz="1200" dirty="0">
                <a:solidFill>
                  <a:srgbClr val="F5F8FC"/>
                </a:solidFill>
              </a:rPr>
              <a:t>Escalation rate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8107680" y="1417320"/>
            <a:ext cx="3486912" cy="2235708"/>
          </a:xfrm>
          <a:prstGeom prst="roundRect">
            <a:avLst>
              <a:gd name="adj" fmla="val 4908"/>
            </a:avLst>
          </a:prstGeom>
          <a:solidFill>
            <a:srgbClr val="122A52">
              <a:alpha val="95000"/>
            </a:srgbClr>
          </a:solidFill>
          <a:ln w="10160">
            <a:solidFill>
              <a:srgbClr val="7C5BDC">
                <a:alpha val="65000"/>
              </a:srgbClr>
            </a:solidFill>
            <a:prstDash val="solid"/>
          </a:ln>
          <a:effectLst>
            <a:outerShdw blurRad="19050" dist="762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8272272" y="1554480"/>
            <a:ext cx="31577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</a:rPr>
              <a:t>Model usage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8272272" y="1929384"/>
            <a:ext cx="3157728" cy="160477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r>
              <a:rPr lang="en-US" sz="1200" dirty="0">
                <a:solidFill>
                  <a:srgbClr val="F5F8FC"/>
                </a:solidFill>
              </a:rPr>
              <a:t>Model/version</a:t>
            </a:r>
            <a:endParaRPr lang="en-US" sz="1200" dirty="0"/>
          </a:p>
          <a:p>
            <a:r>
              <a:rPr lang="en-US" sz="1200" dirty="0">
                <a:solidFill>
                  <a:srgbClr val="F5F8FC"/>
                </a:solidFill>
              </a:rPr>
              <a:t>Input/output tokens</a:t>
            </a:r>
            <a:endParaRPr lang="en-US" sz="1200" dirty="0"/>
          </a:p>
          <a:p>
            <a:r>
              <a:rPr lang="en-US" sz="1200" dirty="0">
                <a:solidFill>
                  <a:srgbClr val="F5F8FC"/>
                </a:solidFill>
              </a:rPr>
              <a:t>Rate-limit events</a:t>
            </a:r>
            <a:endParaRPr lang="en-US" sz="1200" dirty="0"/>
          </a:p>
          <a:p>
            <a:r>
              <a:rPr lang="en-US" sz="1200" dirty="0">
                <a:solidFill>
                  <a:srgbClr val="F5F8FC"/>
                </a:solidFill>
              </a:rPr>
              <a:t>Cache usage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21792" y="3982212"/>
            <a:ext cx="3486912" cy="2235708"/>
          </a:xfrm>
          <a:prstGeom prst="roundRect">
            <a:avLst>
              <a:gd name="adj" fmla="val 4908"/>
            </a:avLst>
          </a:prstGeom>
          <a:solidFill>
            <a:srgbClr val="122A52">
              <a:alpha val="95000"/>
            </a:srgbClr>
          </a:solidFill>
          <a:ln w="10160">
            <a:solidFill>
              <a:srgbClr val="2FBE82">
                <a:alpha val="65000"/>
              </a:srgbClr>
            </a:solidFill>
            <a:prstDash val="solid"/>
          </a:ln>
          <a:effectLst>
            <a:outerShdw blurRad="19050" dist="762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786384" y="4119372"/>
            <a:ext cx="31577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</a:rPr>
              <a:t>Tool operations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786384" y="4494276"/>
            <a:ext cx="3157728" cy="160477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r>
              <a:rPr lang="en-US" sz="1200" dirty="0">
                <a:solidFill>
                  <a:srgbClr val="F5F8FC"/>
                </a:solidFill>
              </a:rPr>
              <a:t>Tool-call success</a:t>
            </a:r>
            <a:endParaRPr lang="en-US" sz="1200" dirty="0"/>
          </a:p>
          <a:p>
            <a:r>
              <a:rPr lang="en-US" sz="1200" dirty="0">
                <a:solidFill>
                  <a:srgbClr val="F5F8FC"/>
                </a:solidFill>
              </a:rPr>
              <a:t>Latency</a:t>
            </a:r>
            <a:endParaRPr lang="en-US" sz="1200" dirty="0"/>
          </a:p>
          <a:p>
            <a:r>
              <a:rPr lang="en-US" sz="1200" dirty="0">
                <a:solidFill>
                  <a:srgbClr val="F5F8FC"/>
                </a:solidFill>
              </a:rPr>
              <a:t>Authorization denials</a:t>
            </a:r>
            <a:endParaRPr lang="en-US" sz="1200" dirty="0"/>
          </a:p>
          <a:p>
            <a:r>
              <a:rPr lang="en-US" sz="1200" dirty="0">
                <a:solidFill>
                  <a:srgbClr val="F5F8FC"/>
                </a:solidFill>
              </a:rPr>
              <a:t>Duplicate actions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364736" y="3982212"/>
            <a:ext cx="3486912" cy="2235708"/>
          </a:xfrm>
          <a:prstGeom prst="roundRect">
            <a:avLst>
              <a:gd name="adj" fmla="val 4908"/>
            </a:avLst>
          </a:prstGeom>
          <a:solidFill>
            <a:srgbClr val="122A52">
              <a:alpha val="95000"/>
            </a:srgbClr>
          </a:solidFill>
          <a:ln w="10160">
            <a:solidFill>
              <a:srgbClr val="FFB627">
                <a:alpha val="65000"/>
              </a:srgbClr>
            </a:solidFill>
            <a:prstDash val="solid"/>
          </a:ln>
          <a:effectLst>
            <a:outerShdw blurRad="19050" dist="762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4529328" y="4119372"/>
            <a:ext cx="31577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</a:rPr>
              <a:t>RAG quality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4529328" y="4494276"/>
            <a:ext cx="3157728" cy="160477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r>
              <a:rPr lang="en-US" sz="1200" dirty="0">
                <a:solidFill>
                  <a:srgbClr val="F5F8FC"/>
                </a:solidFill>
              </a:rPr>
              <a:t>Retrieval latency</a:t>
            </a:r>
            <a:endParaRPr lang="en-US" sz="1200" dirty="0"/>
          </a:p>
          <a:p>
            <a:r>
              <a:rPr lang="en-US" sz="1200" dirty="0">
                <a:solidFill>
                  <a:srgbClr val="F5F8FC"/>
                </a:solidFill>
              </a:rPr>
              <a:t>Context relevance</a:t>
            </a:r>
            <a:endParaRPr lang="en-US" sz="1200" dirty="0"/>
          </a:p>
          <a:p>
            <a:r>
              <a:rPr lang="en-US" sz="1200" dirty="0">
                <a:solidFill>
                  <a:srgbClr val="F5F8FC"/>
                </a:solidFill>
              </a:rPr>
              <a:t>Groundedness</a:t>
            </a:r>
            <a:endParaRPr lang="en-US" sz="1200" dirty="0"/>
          </a:p>
          <a:p>
            <a:r>
              <a:rPr lang="en-US" sz="1200" dirty="0">
                <a:solidFill>
                  <a:srgbClr val="F5F8FC"/>
                </a:solidFill>
              </a:rPr>
              <a:t>Citation coverage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8107680" y="3982212"/>
            <a:ext cx="3486912" cy="2235708"/>
          </a:xfrm>
          <a:prstGeom prst="roundRect">
            <a:avLst>
              <a:gd name="adj" fmla="val 4908"/>
            </a:avLst>
          </a:prstGeom>
          <a:solidFill>
            <a:srgbClr val="122A52">
              <a:alpha val="95000"/>
            </a:srgbClr>
          </a:solidFill>
          <a:ln w="10160">
            <a:solidFill>
              <a:srgbClr val="E35D6A">
                <a:alpha val="65000"/>
              </a:srgbClr>
            </a:solidFill>
            <a:prstDash val="solid"/>
          </a:ln>
          <a:effectLst>
            <a:outerShdw blurRad="19050" dist="762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8272272" y="4119372"/>
            <a:ext cx="31577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</a:rPr>
              <a:t>Business outcome</a:t>
            </a:r>
            <a:endParaRPr lang="en-US" sz="2000" dirty="0"/>
          </a:p>
        </p:txBody>
      </p:sp>
      <p:sp>
        <p:nvSpPr>
          <p:cNvPr id="26" name="Text 24"/>
          <p:cNvSpPr/>
          <p:nvPr/>
        </p:nvSpPr>
        <p:spPr>
          <a:xfrm>
            <a:off x="8272272" y="4494276"/>
            <a:ext cx="3157728" cy="160477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r>
              <a:rPr lang="en-US" sz="1200" dirty="0">
                <a:solidFill>
                  <a:srgbClr val="F5F8FC"/>
                </a:solidFill>
              </a:rPr>
              <a:t>Task completion</a:t>
            </a:r>
            <a:endParaRPr lang="en-US" sz="1200" dirty="0"/>
          </a:p>
          <a:p>
            <a:r>
              <a:rPr lang="en-US" sz="1200" dirty="0">
                <a:solidFill>
                  <a:srgbClr val="F5F8FC"/>
                </a:solidFill>
              </a:rPr>
              <a:t>Human acceptance</a:t>
            </a:r>
            <a:endParaRPr lang="en-US" sz="1200" dirty="0"/>
          </a:p>
          <a:p>
            <a:r>
              <a:rPr lang="en-US" sz="1200" dirty="0">
                <a:solidFill>
                  <a:srgbClr val="F5F8FC"/>
                </a:solidFill>
              </a:rPr>
              <a:t>Resolution time</a:t>
            </a:r>
            <a:endParaRPr lang="en-US" sz="1200" dirty="0"/>
          </a:p>
          <a:p>
            <a:r>
              <a:rPr lang="en-US" sz="1200" dirty="0">
                <a:solidFill>
                  <a:srgbClr val="F5F8FC"/>
                </a:solidFill>
              </a:rPr>
              <a:t>Successful action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402336" y="6519672"/>
            <a:ext cx="65836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70" dirty="0">
                <a:solidFill>
                  <a:srgbClr val="8B93B8"/>
                </a:solidFill>
              </a:rPr>
              <a:t>Scalable Enterprise Architectural Deployments of Agentic AI Solutions</a:t>
            </a:r>
            <a:endParaRPr lang="en-US" sz="570" dirty="0"/>
          </a:p>
        </p:txBody>
      </p:sp>
      <p:sp>
        <p:nvSpPr>
          <p:cNvPr id="28" name="Text 26"/>
          <p:cNvSpPr/>
          <p:nvPr/>
        </p:nvSpPr>
        <p:spPr>
          <a:xfrm>
            <a:off x="11384280" y="6473952"/>
            <a:ext cx="2926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50" dirty="0">
                <a:solidFill>
                  <a:srgbClr val="8B93B8"/>
                </a:solidFill>
              </a:rPr>
              <a:t>19</a:t>
            </a:r>
            <a:endParaRPr lang="en-US" sz="6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141B4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Shape 0"/>
          <p:cNvSpPr/>
          <p:nvPr/>
        </p:nvSpPr>
        <p:spPr>
          <a:xfrm>
            <a:off x="10241280" y="228600"/>
            <a:ext cx="1417320" cy="1417320"/>
          </a:xfrm>
          <a:prstGeom prst="ellipse">
            <a:avLst/>
          </a:prstGeom>
          <a:solidFill>
            <a:srgbClr val="2B4388">
              <a:alpha val="44000"/>
            </a:srgbClr>
          </a:solidFill>
          <a:ln w="7620">
            <a:solidFill>
              <a:srgbClr val="FFB627">
                <a:alpha val="52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46304" y="5257800"/>
            <a:ext cx="1143000" cy="1143000"/>
          </a:xfrm>
          <a:prstGeom prst="ellipse">
            <a:avLst/>
          </a:prstGeom>
          <a:solidFill>
            <a:srgbClr val="223575">
              <a:alpha val="38000"/>
            </a:srgbClr>
          </a:solidFill>
          <a:ln w="12700">
            <a:solidFill>
              <a:srgbClr val="2670DD">
                <a:alpha val="35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393192"/>
            <a:ext cx="10698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FFFFFF"/>
                </a:solidFill>
              </a:rPr>
              <a:t>Trace Agent Actions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612648" y="877824"/>
            <a:ext cx="10607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B8C6E3"/>
                </a:solidFill>
              </a:rPr>
              <a:t>A single correlation ID should connect the user request to every model, retrieval and tool span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94360" y="1161288"/>
            <a:ext cx="10972800" cy="1"/>
          </a:xfrm>
          <a:prstGeom prst="line">
            <a:avLst/>
          </a:prstGeom>
          <a:noFill/>
          <a:ln w="12700">
            <a:solidFill>
              <a:srgbClr val="2CC9D2">
                <a:alpha val="75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02336" y="6519672"/>
            <a:ext cx="65836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70" dirty="0">
                <a:solidFill>
                  <a:srgbClr val="8B93B8"/>
                </a:solidFill>
              </a:rPr>
              <a:t>Scalable Enterprise Architectural Deployments of Agentic AI Solutions</a:t>
            </a:r>
            <a:endParaRPr lang="en-US" sz="570" dirty="0"/>
          </a:p>
        </p:txBody>
      </p:sp>
      <p:sp>
        <p:nvSpPr>
          <p:cNvPr id="8" name="Text 6"/>
          <p:cNvSpPr/>
          <p:nvPr/>
        </p:nvSpPr>
        <p:spPr>
          <a:xfrm>
            <a:off x="11384280" y="6473952"/>
            <a:ext cx="2926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50" dirty="0">
                <a:solidFill>
                  <a:srgbClr val="8B93B8"/>
                </a:solidFill>
              </a:rPr>
              <a:t>20</a:t>
            </a:r>
            <a:endParaRPr lang="en-US" sz="650" dirty="0"/>
          </a:p>
        </p:txBody>
      </p:sp>
      <p:sp>
        <p:nvSpPr>
          <p:cNvPr id="9" name="Shape 7"/>
          <p:cNvSpPr/>
          <p:nvPr/>
        </p:nvSpPr>
        <p:spPr>
          <a:xfrm>
            <a:off x="621792" y="2331720"/>
            <a:ext cx="1417320" cy="1143000"/>
          </a:xfrm>
          <a:prstGeom prst="roundRect">
            <a:avLst>
              <a:gd name="adj" fmla="val 9600"/>
            </a:avLst>
          </a:prstGeom>
          <a:solidFill>
            <a:srgbClr val="7C5BDC"/>
          </a:solidFill>
          <a:ln w="12700">
            <a:solidFill>
              <a:srgbClr val="2CC9D2">
                <a:alpha val="55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31520" y="2560320"/>
            <a:ext cx="119786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b="1" dirty="0">
                <a:solidFill>
                  <a:srgbClr val="FFFFFF"/>
                </a:solidFill>
              </a:rPr>
              <a:t>Request</a:t>
            </a: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731520" y="2953512"/>
            <a:ext cx="119786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F5F8FC"/>
                </a:solidFill>
              </a:rPr>
              <a:t>Trace root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084832" y="2752344"/>
            <a:ext cx="228600" cy="274320"/>
          </a:xfrm>
          <a:prstGeom prst="chevron">
            <a:avLst/>
          </a:prstGeom>
          <a:solidFill>
            <a:srgbClr val="FFB627"/>
          </a:solidFill>
          <a:ln w="12700">
            <a:solidFill>
              <a:srgbClr val="FFB627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377440" y="2331720"/>
            <a:ext cx="1417320" cy="1143000"/>
          </a:xfrm>
          <a:prstGeom prst="roundRect">
            <a:avLst>
              <a:gd name="adj" fmla="val 9600"/>
            </a:avLst>
          </a:prstGeom>
          <a:solidFill>
            <a:srgbClr val="2670DD"/>
          </a:solidFill>
          <a:ln w="12700">
            <a:solidFill>
              <a:srgbClr val="2CC9D2">
                <a:alpha val="55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487168" y="2560320"/>
            <a:ext cx="119786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b="1" dirty="0">
                <a:solidFill>
                  <a:srgbClr val="FFFFFF"/>
                </a:solidFill>
              </a:rPr>
              <a:t>Agent</a:t>
            </a: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2487168" y="2953512"/>
            <a:ext cx="119786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F5F8FC"/>
                </a:solidFill>
              </a:rPr>
              <a:t>Planning span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3840480" y="2752344"/>
            <a:ext cx="228600" cy="274320"/>
          </a:xfrm>
          <a:prstGeom prst="chevron">
            <a:avLst/>
          </a:prstGeom>
          <a:solidFill>
            <a:srgbClr val="FFB627"/>
          </a:solidFill>
          <a:ln w="12700">
            <a:solidFill>
              <a:srgbClr val="FFB627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133088" y="2331720"/>
            <a:ext cx="1417320" cy="1143000"/>
          </a:xfrm>
          <a:prstGeom prst="roundRect">
            <a:avLst>
              <a:gd name="adj" fmla="val 9600"/>
            </a:avLst>
          </a:prstGeom>
          <a:solidFill>
            <a:srgbClr val="7C5BDC"/>
          </a:solidFill>
          <a:ln w="12700">
            <a:solidFill>
              <a:srgbClr val="2CC9D2">
                <a:alpha val="5500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242816" y="2560320"/>
            <a:ext cx="119786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b="1" dirty="0">
                <a:solidFill>
                  <a:srgbClr val="FFFFFF"/>
                </a:solidFill>
              </a:rPr>
              <a:t>Model</a:t>
            </a: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4242816" y="2953512"/>
            <a:ext cx="119786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F5F8FC"/>
                </a:solidFill>
              </a:rPr>
              <a:t>Inference span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596128" y="2752344"/>
            <a:ext cx="228600" cy="274320"/>
          </a:xfrm>
          <a:prstGeom prst="chevron">
            <a:avLst/>
          </a:prstGeom>
          <a:solidFill>
            <a:srgbClr val="FFB627"/>
          </a:solidFill>
          <a:ln w="12700">
            <a:solidFill>
              <a:srgbClr val="FFB627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888736" y="2331720"/>
            <a:ext cx="1417320" cy="1143000"/>
          </a:xfrm>
          <a:prstGeom prst="roundRect">
            <a:avLst>
              <a:gd name="adj" fmla="val 9600"/>
            </a:avLst>
          </a:prstGeom>
          <a:solidFill>
            <a:srgbClr val="2670DD"/>
          </a:solidFill>
          <a:ln w="12700">
            <a:solidFill>
              <a:srgbClr val="2CC9D2">
                <a:alpha val="5500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998464" y="2560320"/>
            <a:ext cx="119786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b="1" dirty="0">
                <a:solidFill>
                  <a:srgbClr val="FFFFFF"/>
                </a:solidFill>
              </a:rPr>
              <a:t>RAG</a:t>
            </a: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5998464" y="2953512"/>
            <a:ext cx="119786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F5F8FC"/>
                </a:solidFill>
              </a:rPr>
              <a:t>Retrieval span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7351776" y="2752344"/>
            <a:ext cx="228600" cy="274320"/>
          </a:xfrm>
          <a:prstGeom prst="chevron">
            <a:avLst/>
          </a:prstGeom>
          <a:solidFill>
            <a:srgbClr val="FFB627"/>
          </a:solidFill>
          <a:ln w="12700">
            <a:solidFill>
              <a:srgbClr val="FFB627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644384" y="2331720"/>
            <a:ext cx="1417320" cy="1143000"/>
          </a:xfrm>
          <a:prstGeom prst="roundRect">
            <a:avLst>
              <a:gd name="adj" fmla="val 9600"/>
            </a:avLst>
          </a:prstGeom>
          <a:solidFill>
            <a:srgbClr val="7C5BDC"/>
          </a:solidFill>
          <a:ln w="12700">
            <a:solidFill>
              <a:srgbClr val="2CC9D2">
                <a:alpha val="5500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754112" y="2560320"/>
            <a:ext cx="119786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b="1" dirty="0">
                <a:solidFill>
                  <a:srgbClr val="FFFFFF"/>
                </a:solidFill>
              </a:rPr>
              <a:t>Tool</a:t>
            </a:r>
            <a:endParaRPr lang="en-US" dirty="0"/>
          </a:p>
        </p:txBody>
      </p:sp>
      <p:sp>
        <p:nvSpPr>
          <p:cNvPr id="27" name="Text 25"/>
          <p:cNvSpPr/>
          <p:nvPr/>
        </p:nvSpPr>
        <p:spPr>
          <a:xfrm>
            <a:off x="7754112" y="2953512"/>
            <a:ext cx="119786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F5F8FC"/>
                </a:solidFill>
              </a:rPr>
              <a:t>Action span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9107424" y="2752344"/>
            <a:ext cx="228600" cy="274320"/>
          </a:xfrm>
          <a:prstGeom prst="chevron">
            <a:avLst/>
          </a:prstGeom>
          <a:solidFill>
            <a:srgbClr val="FFB627"/>
          </a:solidFill>
          <a:ln w="12700">
            <a:solidFill>
              <a:srgbClr val="FFB627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9400032" y="2331720"/>
            <a:ext cx="1417320" cy="1143000"/>
          </a:xfrm>
          <a:prstGeom prst="roundRect">
            <a:avLst>
              <a:gd name="adj" fmla="val 9600"/>
            </a:avLst>
          </a:prstGeom>
          <a:solidFill>
            <a:srgbClr val="2670DD"/>
          </a:solidFill>
          <a:ln w="12700">
            <a:solidFill>
              <a:srgbClr val="2CC9D2">
                <a:alpha val="55000"/>
              </a:srgbClr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9509760" y="2560320"/>
            <a:ext cx="119786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b="1" dirty="0">
                <a:solidFill>
                  <a:srgbClr val="FFFFFF"/>
                </a:solidFill>
              </a:rPr>
              <a:t>Outcome</a:t>
            </a:r>
            <a:endParaRPr lang="en-US" dirty="0"/>
          </a:p>
        </p:txBody>
      </p:sp>
      <p:sp>
        <p:nvSpPr>
          <p:cNvPr id="31" name="Text 29"/>
          <p:cNvSpPr/>
          <p:nvPr/>
        </p:nvSpPr>
        <p:spPr>
          <a:xfrm>
            <a:off x="9509760" y="2953512"/>
            <a:ext cx="119786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F5F8FC"/>
                </a:solidFill>
              </a:rPr>
              <a:t>Result + status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402336" y="6519672"/>
            <a:ext cx="65836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70" dirty="0">
                <a:solidFill>
                  <a:srgbClr val="8B93B8"/>
                </a:solidFill>
              </a:rPr>
              <a:t>Scalable Enterprise Architectural Deployments of Agentic AI Solutions</a:t>
            </a:r>
            <a:endParaRPr lang="en-US" sz="570" dirty="0"/>
          </a:p>
        </p:txBody>
      </p:sp>
      <p:sp>
        <p:nvSpPr>
          <p:cNvPr id="33" name="Text 31"/>
          <p:cNvSpPr/>
          <p:nvPr/>
        </p:nvSpPr>
        <p:spPr>
          <a:xfrm>
            <a:off x="11384280" y="6473952"/>
            <a:ext cx="2926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50" dirty="0">
                <a:solidFill>
                  <a:srgbClr val="8B93B8"/>
                </a:solidFill>
              </a:rPr>
              <a:t>20</a:t>
            </a:r>
            <a:endParaRPr lang="en-US" sz="6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594360" y="393192"/>
            <a:ext cx="10698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1B2340"/>
                </a:solidFill>
              </a:rPr>
              <a:t>Observability Architecture</a:t>
            </a:r>
            <a:endParaRPr lang="en-US" sz="2300" dirty="0"/>
          </a:p>
        </p:txBody>
      </p:sp>
      <p:sp>
        <p:nvSpPr>
          <p:cNvPr id="3" name="Text 1"/>
          <p:cNvSpPr/>
          <p:nvPr/>
        </p:nvSpPr>
        <p:spPr>
          <a:xfrm>
            <a:off x="612648" y="877824"/>
            <a:ext cx="10607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B6785"/>
                </a:solidFill>
              </a:rPr>
              <a:t>Collect once, correlate consistently, route safely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94360" y="1161288"/>
            <a:ext cx="10972800" cy="1"/>
          </a:xfrm>
          <a:prstGeom prst="line">
            <a:avLst/>
          </a:prstGeom>
          <a:noFill/>
          <a:ln w="12700">
            <a:solidFill>
              <a:srgbClr val="2670DD">
                <a:alpha val="75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02336" y="6519672"/>
            <a:ext cx="65836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70" dirty="0">
                <a:solidFill>
                  <a:srgbClr val="5B6785"/>
                </a:solidFill>
              </a:rPr>
              <a:t>Scalable Enterprise Architectural Deployments of Agentic AI Solutions</a:t>
            </a:r>
            <a:endParaRPr lang="en-US" sz="570" dirty="0"/>
          </a:p>
        </p:txBody>
      </p:sp>
      <p:sp>
        <p:nvSpPr>
          <p:cNvPr id="6" name="Text 4"/>
          <p:cNvSpPr/>
          <p:nvPr/>
        </p:nvSpPr>
        <p:spPr>
          <a:xfrm>
            <a:off x="11384280" y="6473952"/>
            <a:ext cx="2926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50" dirty="0">
                <a:solidFill>
                  <a:srgbClr val="5B6785"/>
                </a:solidFill>
              </a:rPr>
              <a:t>21</a:t>
            </a:r>
            <a:endParaRPr lang="en-US" sz="650" dirty="0"/>
          </a:p>
        </p:txBody>
      </p:sp>
      <p:sp>
        <p:nvSpPr>
          <p:cNvPr id="7" name="Shape 5"/>
          <p:cNvSpPr/>
          <p:nvPr/>
        </p:nvSpPr>
        <p:spPr>
          <a:xfrm>
            <a:off x="621792" y="1417320"/>
            <a:ext cx="3486912" cy="2235708"/>
          </a:xfrm>
          <a:prstGeom prst="roundRect">
            <a:avLst>
              <a:gd name="adj" fmla="val 4908"/>
            </a:avLst>
          </a:prstGeom>
          <a:solidFill>
            <a:srgbClr val="F0F4FC"/>
          </a:solidFill>
          <a:ln w="10160">
            <a:solidFill>
              <a:srgbClr val="2670DD">
                <a:alpha val="65000"/>
              </a:srgbClr>
            </a:solidFill>
            <a:prstDash val="solid"/>
          </a:ln>
          <a:effectLst>
            <a:outerShdw blurRad="19050" dist="762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786384" y="1554480"/>
            <a:ext cx="31577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1B2340"/>
                </a:solidFill>
              </a:rPr>
              <a:t>Instrumentation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786384" y="1929384"/>
            <a:ext cx="3157728" cy="160477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r>
              <a:rPr lang="en-US" sz="1200" dirty="0">
                <a:solidFill>
                  <a:srgbClr val="5B6785"/>
                </a:solidFill>
              </a:rPr>
              <a:t>Agent SDK</a:t>
            </a:r>
            <a:endParaRPr lang="en-US" sz="1200" dirty="0"/>
          </a:p>
          <a:p>
            <a:r>
              <a:rPr lang="en-US" sz="1200" dirty="0">
                <a:solidFill>
                  <a:srgbClr val="5B6785"/>
                </a:solidFill>
              </a:rPr>
              <a:t>Model client</a:t>
            </a:r>
            <a:endParaRPr lang="en-US" sz="1200" dirty="0"/>
          </a:p>
          <a:p>
            <a:r>
              <a:rPr lang="en-US" sz="1200" dirty="0">
                <a:solidFill>
                  <a:srgbClr val="5B6785"/>
                </a:solidFill>
              </a:rPr>
              <a:t>RAG pipeline</a:t>
            </a:r>
            <a:endParaRPr lang="en-US" sz="1200" dirty="0"/>
          </a:p>
          <a:p>
            <a:r>
              <a:rPr lang="en-US" sz="1200" dirty="0">
                <a:solidFill>
                  <a:srgbClr val="5B6785"/>
                </a:solidFill>
              </a:rPr>
              <a:t>Tool adapters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364736" y="1417320"/>
            <a:ext cx="3486912" cy="2235708"/>
          </a:xfrm>
          <a:prstGeom prst="roundRect">
            <a:avLst>
              <a:gd name="adj" fmla="val 4908"/>
            </a:avLst>
          </a:prstGeom>
          <a:solidFill>
            <a:srgbClr val="F0F4FC"/>
          </a:solidFill>
          <a:ln w="10160">
            <a:solidFill>
              <a:srgbClr val="2CC9D2">
                <a:alpha val="65000"/>
              </a:srgbClr>
            </a:solidFill>
            <a:prstDash val="solid"/>
          </a:ln>
          <a:effectLst>
            <a:outerShdw blurRad="19050" dist="762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529328" y="1554480"/>
            <a:ext cx="31577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1B2340"/>
                </a:solidFill>
              </a:rPr>
              <a:t>Telemetry types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4529328" y="1929384"/>
            <a:ext cx="3157728" cy="160477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r>
              <a:rPr lang="en-US" sz="1200" dirty="0">
                <a:solidFill>
                  <a:srgbClr val="5B6785"/>
                </a:solidFill>
              </a:rPr>
              <a:t>Traces</a:t>
            </a:r>
            <a:endParaRPr lang="en-US" sz="1200" dirty="0"/>
          </a:p>
          <a:p>
            <a:r>
              <a:rPr lang="en-US" sz="1200" dirty="0">
                <a:solidFill>
                  <a:srgbClr val="5B6785"/>
                </a:solidFill>
              </a:rPr>
              <a:t>Metrics</a:t>
            </a:r>
            <a:endParaRPr lang="en-US" sz="1200" dirty="0"/>
          </a:p>
          <a:p>
            <a:r>
              <a:rPr lang="en-US" sz="1200" dirty="0">
                <a:solidFill>
                  <a:srgbClr val="5B6785"/>
                </a:solidFill>
              </a:rPr>
              <a:t>Structured logs</a:t>
            </a:r>
            <a:endParaRPr lang="en-US" sz="1200" dirty="0"/>
          </a:p>
          <a:p>
            <a:r>
              <a:rPr lang="en-US" sz="1200" dirty="0">
                <a:solidFill>
                  <a:srgbClr val="5B6785"/>
                </a:solidFill>
              </a:rPr>
              <a:t>Evaluation events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8107680" y="1417320"/>
            <a:ext cx="3486912" cy="2235708"/>
          </a:xfrm>
          <a:prstGeom prst="roundRect">
            <a:avLst>
              <a:gd name="adj" fmla="val 4908"/>
            </a:avLst>
          </a:prstGeom>
          <a:solidFill>
            <a:srgbClr val="F0F4FC"/>
          </a:solidFill>
          <a:ln w="10160">
            <a:solidFill>
              <a:srgbClr val="7C5BDC">
                <a:alpha val="65000"/>
              </a:srgbClr>
            </a:solidFill>
            <a:prstDash val="solid"/>
          </a:ln>
          <a:effectLst>
            <a:outerShdw blurRad="19050" dist="762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8272272" y="1554480"/>
            <a:ext cx="31577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1B2340"/>
                </a:solidFill>
              </a:rPr>
              <a:t>Collector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8272272" y="1929384"/>
            <a:ext cx="3157728" cy="160477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r>
              <a:rPr lang="en-US" sz="1200" dirty="0">
                <a:solidFill>
                  <a:srgbClr val="5B6785"/>
                </a:solidFill>
              </a:rPr>
              <a:t>Validation</a:t>
            </a:r>
            <a:endParaRPr lang="en-US" sz="1200" dirty="0"/>
          </a:p>
          <a:p>
            <a:r>
              <a:rPr lang="en-US" sz="1200" dirty="0">
                <a:solidFill>
                  <a:srgbClr val="5B6785"/>
                </a:solidFill>
              </a:rPr>
              <a:t>Redaction</a:t>
            </a:r>
            <a:endParaRPr lang="en-US" sz="1200" dirty="0"/>
          </a:p>
          <a:p>
            <a:r>
              <a:rPr lang="en-US" sz="1200" dirty="0">
                <a:solidFill>
                  <a:srgbClr val="5B6785"/>
                </a:solidFill>
              </a:rPr>
              <a:t>Sampling</a:t>
            </a:r>
            <a:endParaRPr lang="en-US" sz="1200" dirty="0"/>
          </a:p>
          <a:p>
            <a:r>
              <a:rPr lang="en-US" sz="1200" dirty="0">
                <a:solidFill>
                  <a:srgbClr val="5B6785"/>
                </a:solidFill>
              </a:rPr>
              <a:t>Enrichment</a:t>
            </a:r>
            <a:endParaRPr lang="en-US" sz="1200" dirty="0"/>
          </a:p>
          <a:p>
            <a:r>
              <a:rPr lang="en-US" sz="1200" dirty="0">
                <a:solidFill>
                  <a:srgbClr val="5B6785"/>
                </a:solidFill>
              </a:rPr>
              <a:t>Routing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21792" y="3982212"/>
            <a:ext cx="3486912" cy="2235708"/>
          </a:xfrm>
          <a:prstGeom prst="roundRect">
            <a:avLst>
              <a:gd name="adj" fmla="val 4908"/>
            </a:avLst>
          </a:prstGeom>
          <a:solidFill>
            <a:srgbClr val="F0F4FC"/>
          </a:solidFill>
          <a:ln w="10160">
            <a:solidFill>
              <a:srgbClr val="2FBE82">
                <a:alpha val="65000"/>
              </a:srgbClr>
            </a:solidFill>
            <a:prstDash val="solid"/>
          </a:ln>
          <a:effectLst>
            <a:outerShdw blurRad="19050" dist="762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786384" y="4119372"/>
            <a:ext cx="31577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1B2340"/>
                </a:solidFill>
              </a:rPr>
              <a:t>Backends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786384" y="4494276"/>
            <a:ext cx="3157728" cy="160477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r>
              <a:rPr lang="en-US" sz="1200" dirty="0">
                <a:solidFill>
                  <a:srgbClr val="5B6785"/>
                </a:solidFill>
              </a:rPr>
              <a:t>Trace store</a:t>
            </a:r>
            <a:endParaRPr lang="en-US" sz="1200" dirty="0"/>
          </a:p>
          <a:p>
            <a:r>
              <a:rPr lang="en-US" sz="1200" dirty="0">
                <a:solidFill>
                  <a:srgbClr val="5B6785"/>
                </a:solidFill>
              </a:rPr>
              <a:t>Metrics store</a:t>
            </a:r>
            <a:endParaRPr lang="en-US" sz="1200" dirty="0"/>
          </a:p>
          <a:p>
            <a:r>
              <a:rPr lang="en-US" sz="1200" dirty="0">
                <a:solidFill>
                  <a:srgbClr val="5B6785"/>
                </a:solidFill>
              </a:rPr>
              <a:t>Log analytics</a:t>
            </a:r>
            <a:endParaRPr lang="en-US" sz="1200" dirty="0"/>
          </a:p>
          <a:p>
            <a:r>
              <a:rPr lang="en-US" sz="1200" dirty="0">
                <a:solidFill>
                  <a:srgbClr val="5B6785"/>
                </a:solidFill>
              </a:rPr>
              <a:t>Evaluation repository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364736" y="3982212"/>
            <a:ext cx="3486912" cy="2235708"/>
          </a:xfrm>
          <a:prstGeom prst="roundRect">
            <a:avLst>
              <a:gd name="adj" fmla="val 4908"/>
            </a:avLst>
          </a:prstGeom>
          <a:solidFill>
            <a:srgbClr val="F0F4FC"/>
          </a:solidFill>
          <a:ln w="10160">
            <a:solidFill>
              <a:srgbClr val="FFB627">
                <a:alpha val="65000"/>
              </a:srgbClr>
            </a:solidFill>
            <a:prstDash val="solid"/>
          </a:ln>
          <a:effectLst>
            <a:outerShdw blurRad="19050" dist="762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529328" y="4119372"/>
            <a:ext cx="31577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1B2340"/>
                </a:solidFill>
              </a:rPr>
              <a:t>Dashboards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4529328" y="4494276"/>
            <a:ext cx="3157728" cy="160477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r>
              <a:rPr lang="en-US" sz="1200" dirty="0">
                <a:solidFill>
                  <a:srgbClr val="5B6785"/>
                </a:solidFill>
              </a:rPr>
              <a:t>Operations</a:t>
            </a:r>
            <a:endParaRPr lang="en-US" sz="1200" dirty="0"/>
          </a:p>
          <a:p>
            <a:r>
              <a:rPr lang="en-US" sz="1200" dirty="0">
                <a:solidFill>
                  <a:srgbClr val="5B6785"/>
                </a:solidFill>
              </a:rPr>
              <a:t>Quality</a:t>
            </a:r>
            <a:endParaRPr lang="en-US" sz="1200" dirty="0"/>
          </a:p>
          <a:p>
            <a:r>
              <a:rPr lang="en-US" sz="1200" dirty="0">
                <a:solidFill>
                  <a:srgbClr val="5B6785"/>
                </a:solidFill>
              </a:rPr>
              <a:t>Safety</a:t>
            </a:r>
            <a:endParaRPr lang="en-US" sz="1200" dirty="0"/>
          </a:p>
          <a:p>
            <a:r>
              <a:rPr lang="en-US" sz="1200" dirty="0">
                <a:solidFill>
                  <a:srgbClr val="5B6785"/>
                </a:solidFill>
              </a:rPr>
              <a:t>Cost</a:t>
            </a:r>
            <a:endParaRPr lang="en-US" sz="1200" dirty="0"/>
          </a:p>
          <a:p>
            <a:r>
              <a:rPr lang="en-US" sz="1200" dirty="0">
                <a:solidFill>
                  <a:srgbClr val="5B6785"/>
                </a:solidFill>
              </a:rPr>
              <a:t>Business outcomes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8107680" y="3982212"/>
            <a:ext cx="3486912" cy="2235708"/>
          </a:xfrm>
          <a:prstGeom prst="roundRect">
            <a:avLst>
              <a:gd name="adj" fmla="val 4908"/>
            </a:avLst>
          </a:prstGeom>
          <a:solidFill>
            <a:srgbClr val="F0F4FC"/>
          </a:solidFill>
          <a:ln w="10160">
            <a:solidFill>
              <a:srgbClr val="E35D6A">
                <a:alpha val="65000"/>
              </a:srgbClr>
            </a:solidFill>
            <a:prstDash val="solid"/>
          </a:ln>
          <a:effectLst>
            <a:outerShdw blurRad="19050" dist="762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8272272" y="4119372"/>
            <a:ext cx="31577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1B2340"/>
                </a:solidFill>
              </a:rPr>
              <a:t>Alerts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8272272" y="4494276"/>
            <a:ext cx="3157728" cy="160477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r>
              <a:rPr lang="en-US" sz="1200" dirty="0">
                <a:solidFill>
                  <a:srgbClr val="5B6785"/>
                </a:solidFill>
              </a:rPr>
              <a:t>SLO breach</a:t>
            </a:r>
            <a:endParaRPr lang="en-US" sz="1200" dirty="0"/>
          </a:p>
          <a:p>
            <a:r>
              <a:rPr lang="en-US" sz="1200" dirty="0">
                <a:solidFill>
                  <a:srgbClr val="5B6785"/>
                </a:solidFill>
              </a:rPr>
              <a:t>Loop anomaly</a:t>
            </a:r>
            <a:endParaRPr lang="en-US" sz="1200" dirty="0"/>
          </a:p>
          <a:p>
            <a:r>
              <a:rPr lang="en-US" sz="1200" dirty="0">
                <a:solidFill>
                  <a:srgbClr val="5B6785"/>
                </a:solidFill>
              </a:rPr>
              <a:t>Cost spike</a:t>
            </a:r>
            <a:endParaRPr lang="en-US" sz="1200" dirty="0"/>
          </a:p>
          <a:p>
            <a:r>
              <a:rPr lang="en-US" sz="1200" dirty="0">
                <a:solidFill>
                  <a:srgbClr val="5B6785"/>
                </a:solidFill>
              </a:rPr>
              <a:t>Policy violation</a:t>
            </a:r>
            <a:endParaRPr lang="en-US" sz="1200" dirty="0"/>
          </a:p>
          <a:p>
            <a:r>
              <a:rPr lang="en-US" sz="1200" dirty="0">
                <a:solidFill>
                  <a:srgbClr val="5B6785"/>
                </a:solidFill>
              </a:rPr>
              <a:t>Tool failure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402336" y="6519672"/>
            <a:ext cx="65836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70" dirty="0">
                <a:solidFill>
                  <a:srgbClr val="5B6785"/>
                </a:solidFill>
              </a:rPr>
              <a:t>Scalable Enterprise Architectural Deployments of Agentic AI Solutions</a:t>
            </a:r>
            <a:endParaRPr lang="en-US" sz="570" dirty="0"/>
          </a:p>
        </p:txBody>
      </p:sp>
      <p:sp>
        <p:nvSpPr>
          <p:cNvPr id="26" name="Text 24"/>
          <p:cNvSpPr/>
          <p:nvPr/>
        </p:nvSpPr>
        <p:spPr>
          <a:xfrm>
            <a:off x="11384280" y="6473952"/>
            <a:ext cx="2926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50" dirty="0">
                <a:solidFill>
                  <a:srgbClr val="5B6785"/>
                </a:solidFill>
              </a:rPr>
              <a:t>21</a:t>
            </a:r>
            <a:endParaRPr lang="en-US" sz="6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141B4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Shape 0"/>
          <p:cNvSpPr/>
          <p:nvPr/>
        </p:nvSpPr>
        <p:spPr>
          <a:xfrm>
            <a:off x="10241280" y="228600"/>
            <a:ext cx="1417320" cy="1417320"/>
          </a:xfrm>
          <a:prstGeom prst="ellipse">
            <a:avLst/>
          </a:prstGeom>
          <a:solidFill>
            <a:srgbClr val="2B4388">
              <a:alpha val="44000"/>
            </a:srgbClr>
          </a:solidFill>
          <a:ln w="7620">
            <a:solidFill>
              <a:srgbClr val="FFB627">
                <a:alpha val="52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46304" y="5257800"/>
            <a:ext cx="1143000" cy="1143000"/>
          </a:xfrm>
          <a:prstGeom prst="ellipse">
            <a:avLst/>
          </a:prstGeom>
          <a:solidFill>
            <a:srgbClr val="223575">
              <a:alpha val="38000"/>
            </a:srgbClr>
          </a:solidFill>
          <a:ln w="12700">
            <a:solidFill>
              <a:srgbClr val="2670DD">
                <a:alpha val="35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393192"/>
            <a:ext cx="10698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FFFFFF"/>
                </a:solidFill>
              </a:rPr>
              <a:t>Performance Benchmarking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612648" y="877824"/>
            <a:ext cx="10607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B8C6E3"/>
                </a:solidFill>
              </a:rPr>
              <a:t>Benchmark complete workflows with representative load and realistic dependencies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94360" y="1161288"/>
            <a:ext cx="10972800" cy="1"/>
          </a:xfrm>
          <a:prstGeom prst="line">
            <a:avLst/>
          </a:prstGeom>
          <a:noFill/>
          <a:ln w="12700">
            <a:solidFill>
              <a:srgbClr val="2CC9D2">
                <a:alpha val="75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02336" y="6519672"/>
            <a:ext cx="65836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70" dirty="0">
                <a:solidFill>
                  <a:srgbClr val="8B93B8"/>
                </a:solidFill>
              </a:rPr>
              <a:t>Scalable Enterprise Architectural Deployments of Agentic AI Solutions</a:t>
            </a:r>
            <a:endParaRPr lang="en-US" sz="570" dirty="0"/>
          </a:p>
        </p:txBody>
      </p:sp>
      <p:sp>
        <p:nvSpPr>
          <p:cNvPr id="8" name="Text 6"/>
          <p:cNvSpPr/>
          <p:nvPr/>
        </p:nvSpPr>
        <p:spPr>
          <a:xfrm>
            <a:off x="11384280" y="6473952"/>
            <a:ext cx="2926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50" dirty="0">
                <a:solidFill>
                  <a:srgbClr val="8B93B8"/>
                </a:solidFill>
              </a:rPr>
              <a:t>22</a:t>
            </a:r>
            <a:endParaRPr lang="en-US" sz="650" dirty="0"/>
          </a:p>
        </p:txBody>
      </p:sp>
      <p:sp>
        <p:nvSpPr>
          <p:cNvPr id="9" name="Shape 7"/>
          <p:cNvSpPr/>
          <p:nvPr/>
        </p:nvSpPr>
        <p:spPr>
          <a:xfrm>
            <a:off x="621792" y="1417320"/>
            <a:ext cx="3486912" cy="2235708"/>
          </a:xfrm>
          <a:prstGeom prst="roundRect">
            <a:avLst>
              <a:gd name="adj" fmla="val 4908"/>
            </a:avLst>
          </a:prstGeom>
          <a:solidFill>
            <a:srgbClr val="122A52">
              <a:alpha val="95000"/>
            </a:srgbClr>
          </a:solidFill>
          <a:ln w="10160">
            <a:solidFill>
              <a:srgbClr val="2670DD">
                <a:alpha val="65000"/>
              </a:srgbClr>
            </a:solidFill>
            <a:prstDash val="solid"/>
          </a:ln>
          <a:effectLst>
            <a:outerShdw blurRad="19050" dist="762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786384" y="1554480"/>
            <a:ext cx="31577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</a:rPr>
              <a:t>Latency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786384" y="1929384"/>
            <a:ext cx="3157728" cy="160477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r>
              <a:rPr lang="en-US" sz="1200" dirty="0">
                <a:solidFill>
                  <a:srgbClr val="F5F8FC"/>
                </a:solidFill>
              </a:rPr>
              <a:t>End-to-end</a:t>
            </a:r>
            <a:endParaRPr lang="en-US" sz="1200" dirty="0"/>
          </a:p>
          <a:p>
            <a:r>
              <a:rPr lang="en-US" sz="1200" dirty="0">
                <a:solidFill>
                  <a:srgbClr val="F5F8FC"/>
                </a:solidFill>
              </a:rPr>
              <a:t>Time to first token</a:t>
            </a:r>
            <a:endParaRPr lang="en-US" sz="1200" dirty="0"/>
          </a:p>
          <a:p>
            <a:r>
              <a:rPr lang="en-US" sz="1200" dirty="0">
                <a:solidFill>
                  <a:srgbClr val="F5F8FC"/>
                </a:solidFill>
              </a:rPr>
              <a:t>Tool and retrieval latency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364736" y="1417320"/>
            <a:ext cx="3486912" cy="2235708"/>
          </a:xfrm>
          <a:prstGeom prst="roundRect">
            <a:avLst>
              <a:gd name="adj" fmla="val 4908"/>
            </a:avLst>
          </a:prstGeom>
          <a:solidFill>
            <a:srgbClr val="122A52">
              <a:alpha val="95000"/>
            </a:srgbClr>
          </a:solidFill>
          <a:ln w="10160">
            <a:solidFill>
              <a:srgbClr val="2CC9D2">
                <a:alpha val="65000"/>
              </a:srgbClr>
            </a:solidFill>
            <a:prstDash val="solid"/>
          </a:ln>
          <a:effectLst>
            <a:outerShdw blurRad="19050" dist="762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529328" y="1554480"/>
            <a:ext cx="31577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</a:rPr>
              <a:t>Throughput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4529328" y="1929384"/>
            <a:ext cx="3157728" cy="160477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r>
              <a:rPr lang="en-US" sz="1200" dirty="0">
                <a:solidFill>
                  <a:srgbClr val="F5F8FC"/>
                </a:solidFill>
              </a:rPr>
              <a:t>Concurrent tasks</a:t>
            </a:r>
            <a:endParaRPr lang="en-US" sz="1200" dirty="0"/>
          </a:p>
          <a:p>
            <a:r>
              <a:rPr lang="en-US" sz="1200" dirty="0">
                <a:solidFill>
                  <a:srgbClr val="F5F8FC"/>
                </a:solidFill>
              </a:rPr>
              <a:t>Requests per minute</a:t>
            </a:r>
            <a:endParaRPr lang="en-US" sz="1200" dirty="0"/>
          </a:p>
          <a:p>
            <a:r>
              <a:rPr lang="en-US" sz="1200" dirty="0">
                <a:solidFill>
                  <a:srgbClr val="F5F8FC"/>
                </a:solidFill>
              </a:rPr>
              <a:t>Tokens per second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8107680" y="1417320"/>
            <a:ext cx="3486912" cy="2235708"/>
          </a:xfrm>
          <a:prstGeom prst="roundRect">
            <a:avLst>
              <a:gd name="adj" fmla="val 4908"/>
            </a:avLst>
          </a:prstGeom>
          <a:solidFill>
            <a:srgbClr val="122A52">
              <a:alpha val="95000"/>
            </a:srgbClr>
          </a:solidFill>
          <a:ln w="10160">
            <a:solidFill>
              <a:srgbClr val="7C5BDC">
                <a:alpha val="65000"/>
              </a:srgbClr>
            </a:solidFill>
            <a:prstDash val="solid"/>
          </a:ln>
          <a:effectLst>
            <a:outerShdw blurRad="19050" dist="762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8272272" y="1554480"/>
            <a:ext cx="31577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</a:rPr>
              <a:t>Reliability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8272272" y="1929384"/>
            <a:ext cx="3157728" cy="160477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r>
              <a:rPr lang="en-US" sz="1200" dirty="0">
                <a:solidFill>
                  <a:srgbClr val="F5F8FC"/>
                </a:solidFill>
              </a:rPr>
              <a:t>Task success</a:t>
            </a:r>
            <a:endParaRPr lang="en-US" sz="1200" dirty="0"/>
          </a:p>
          <a:p>
            <a:r>
              <a:rPr lang="en-US" sz="1200" dirty="0">
                <a:solidFill>
                  <a:srgbClr val="F5F8FC"/>
                </a:solidFill>
              </a:rPr>
              <a:t>Timeouts</a:t>
            </a:r>
            <a:endParaRPr lang="en-US" sz="1200" dirty="0"/>
          </a:p>
          <a:p>
            <a:r>
              <a:rPr lang="en-US" sz="1200" dirty="0">
                <a:solidFill>
                  <a:srgbClr val="F5F8FC"/>
                </a:solidFill>
              </a:rPr>
              <a:t>Retry impact</a:t>
            </a:r>
            <a:endParaRPr lang="en-US" sz="1200" dirty="0"/>
          </a:p>
          <a:p>
            <a:r>
              <a:rPr lang="en-US" sz="1200" dirty="0">
                <a:solidFill>
                  <a:srgbClr val="F5F8FC"/>
                </a:solidFill>
              </a:rPr>
              <a:t>Degraded-mode success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21792" y="3982212"/>
            <a:ext cx="3486912" cy="2235708"/>
          </a:xfrm>
          <a:prstGeom prst="roundRect">
            <a:avLst>
              <a:gd name="adj" fmla="val 4908"/>
            </a:avLst>
          </a:prstGeom>
          <a:solidFill>
            <a:srgbClr val="122A52">
              <a:alpha val="95000"/>
            </a:srgbClr>
          </a:solidFill>
          <a:ln w="10160">
            <a:solidFill>
              <a:srgbClr val="2FBE82">
                <a:alpha val="65000"/>
              </a:srgbClr>
            </a:solidFill>
            <a:prstDash val="solid"/>
          </a:ln>
          <a:effectLst>
            <a:outerShdw blurRad="19050" dist="762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786384" y="4119372"/>
            <a:ext cx="31577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</a:rPr>
              <a:t>Quality under load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786384" y="4494276"/>
            <a:ext cx="3157728" cy="160477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r>
              <a:rPr lang="en-US" sz="1200" dirty="0">
                <a:solidFill>
                  <a:srgbClr val="F5F8FC"/>
                </a:solidFill>
              </a:rPr>
              <a:t>Groundedness</a:t>
            </a:r>
            <a:endParaRPr lang="en-US" sz="1200" dirty="0"/>
          </a:p>
          <a:p>
            <a:r>
              <a:rPr lang="en-US" sz="1200" dirty="0">
                <a:solidFill>
                  <a:srgbClr val="F5F8FC"/>
                </a:solidFill>
              </a:rPr>
              <a:t>Tool correctness</a:t>
            </a:r>
            <a:endParaRPr lang="en-US" sz="1200" dirty="0"/>
          </a:p>
          <a:p>
            <a:r>
              <a:rPr lang="en-US" sz="1200" dirty="0">
                <a:solidFill>
                  <a:srgbClr val="F5F8FC"/>
                </a:solidFill>
              </a:rPr>
              <a:t>Schema adherence</a:t>
            </a:r>
            <a:endParaRPr lang="en-US" sz="1200" dirty="0"/>
          </a:p>
          <a:p>
            <a:r>
              <a:rPr lang="en-US" sz="1200" dirty="0">
                <a:solidFill>
                  <a:srgbClr val="F5F8FC"/>
                </a:solidFill>
              </a:rPr>
              <a:t>Output stability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364736" y="3982212"/>
            <a:ext cx="3486912" cy="2235708"/>
          </a:xfrm>
          <a:prstGeom prst="roundRect">
            <a:avLst>
              <a:gd name="adj" fmla="val 4908"/>
            </a:avLst>
          </a:prstGeom>
          <a:solidFill>
            <a:srgbClr val="122A52">
              <a:alpha val="95000"/>
            </a:srgbClr>
          </a:solidFill>
          <a:ln w="10160">
            <a:solidFill>
              <a:srgbClr val="FFB627">
                <a:alpha val="65000"/>
              </a:srgbClr>
            </a:solidFill>
            <a:prstDash val="solid"/>
          </a:ln>
          <a:effectLst>
            <a:outerShdw blurRad="19050" dist="762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4529328" y="4119372"/>
            <a:ext cx="31577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</a:rPr>
              <a:t>Test profiles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4529328" y="4494276"/>
            <a:ext cx="3157728" cy="160477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r>
              <a:rPr lang="en-US" sz="1200" dirty="0">
                <a:solidFill>
                  <a:srgbClr val="F5F8FC"/>
                </a:solidFill>
              </a:rPr>
              <a:t>Baseline</a:t>
            </a:r>
            <a:endParaRPr lang="en-US" sz="1200" dirty="0"/>
          </a:p>
          <a:p>
            <a:r>
              <a:rPr lang="en-US" sz="1200" dirty="0">
                <a:solidFill>
                  <a:srgbClr val="F5F8FC"/>
                </a:solidFill>
              </a:rPr>
              <a:t>Peak</a:t>
            </a:r>
            <a:endParaRPr lang="en-US" sz="1200" dirty="0"/>
          </a:p>
          <a:p>
            <a:r>
              <a:rPr lang="en-US" sz="1200" dirty="0">
                <a:solidFill>
                  <a:srgbClr val="F5F8FC"/>
                </a:solidFill>
              </a:rPr>
              <a:t>Soak</a:t>
            </a:r>
            <a:endParaRPr lang="en-US" sz="1200" dirty="0"/>
          </a:p>
          <a:p>
            <a:r>
              <a:rPr lang="en-US" sz="1200" dirty="0">
                <a:solidFill>
                  <a:srgbClr val="F5F8FC"/>
                </a:solidFill>
              </a:rPr>
              <a:t>Failure injection</a:t>
            </a:r>
            <a:endParaRPr lang="en-US" sz="1200" dirty="0"/>
          </a:p>
          <a:p>
            <a:r>
              <a:rPr lang="en-US" sz="1200" dirty="0">
                <a:solidFill>
                  <a:srgbClr val="F5F8FC"/>
                </a:solidFill>
              </a:rPr>
              <a:t>Provider throttling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8107680" y="3982212"/>
            <a:ext cx="3486912" cy="2235708"/>
          </a:xfrm>
          <a:prstGeom prst="roundRect">
            <a:avLst>
              <a:gd name="adj" fmla="val 4908"/>
            </a:avLst>
          </a:prstGeom>
          <a:solidFill>
            <a:srgbClr val="122A52">
              <a:alpha val="95000"/>
            </a:srgbClr>
          </a:solidFill>
          <a:ln w="10160">
            <a:solidFill>
              <a:srgbClr val="E35D6A">
                <a:alpha val="65000"/>
              </a:srgbClr>
            </a:solidFill>
            <a:prstDash val="solid"/>
          </a:ln>
          <a:effectLst>
            <a:outerShdw blurRad="19050" dist="762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8272272" y="4119372"/>
            <a:ext cx="31577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</a:rPr>
              <a:t>Compare fairly</a:t>
            </a:r>
            <a:endParaRPr lang="en-US" sz="2000" dirty="0"/>
          </a:p>
        </p:txBody>
      </p:sp>
      <p:sp>
        <p:nvSpPr>
          <p:cNvPr id="26" name="Text 24"/>
          <p:cNvSpPr/>
          <p:nvPr/>
        </p:nvSpPr>
        <p:spPr>
          <a:xfrm>
            <a:off x="8272272" y="4494276"/>
            <a:ext cx="3157728" cy="160477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r>
              <a:rPr lang="en-US" sz="1200" dirty="0">
                <a:solidFill>
                  <a:srgbClr val="F5F8FC"/>
                </a:solidFill>
              </a:rPr>
              <a:t>Pin data, prompts, model versions, tools and test conditions.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402336" y="6519672"/>
            <a:ext cx="65836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70" dirty="0">
                <a:solidFill>
                  <a:srgbClr val="8B93B8"/>
                </a:solidFill>
              </a:rPr>
              <a:t>Scalable Enterprise Architectural Deployments of Agentic AI Solutions</a:t>
            </a:r>
            <a:endParaRPr lang="en-US" sz="570" dirty="0"/>
          </a:p>
        </p:txBody>
      </p:sp>
      <p:sp>
        <p:nvSpPr>
          <p:cNvPr id="28" name="Text 26"/>
          <p:cNvSpPr/>
          <p:nvPr/>
        </p:nvSpPr>
        <p:spPr>
          <a:xfrm>
            <a:off x="11384280" y="6473952"/>
            <a:ext cx="2926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50" dirty="0">
                <a:solidFill>
                  <a:srgbClr val="8B93B8"/>
                </a:solidFill>
              </a:rPr>
              <a:t>22</a:t>
            </a:r>
            <a:endParaRPr lang="en-US" sz="6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594360" y="393192"/>
            <a:ext cx="10698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1B2340"/>
                </a:solidFill>
              </a:rPr>
              <a:t>Cost Monitoring &amp; Optimization</a:t>
            </a:r>
            <a:endParaRPr lang="en-US" sz="2300" dirty="0"/>
          </a:p>
        </p:txBody>
      </p:sp>
      <p:sp>
        <p:nvSpPr>
          <p:cNvPr id="3" name="Text 1"/>
          <p:cNvSpPr/>
          <p:nvPr/>
        </p:nvSpPr>
        <p:spPr>
          <a:xfrm>
            <a:off x="612648" y="877824"/>
            <a:ext cx="10607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B6785"/>
                </a:solidFill>
              </a:rPr>
              <a:t>Attribute cost to the task, tenant, agent, model, tool and outcome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94360" y="1161288"/>
            <a:ext cx="10972800" cy="1"/>
          </a:xfrm>
          <a:prstGeom prst="line">
            <a:avLst/>
          </a:prstGeom>
          <a:noFill/>
          <a:ln w="12700">
            <a:solidFill>
              <a:srgbClr val="2670DD">
                <a:alpha val="75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02336" y="6519672"/>
            <a:ext cx="65836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70" dirty="0">
                <a:solidFill>
                  <a:srgbClr val="5B6785"/>
                </a:solidFill>
              </a:rPr>
              <a:t>Scalable Enterprise Architectural Deployments of Agentic AI Solutions</a:t>
            </a:r>
            <a:endParaRPr lang="en-US" sz="570" dirty="0"/>
          </a:p>
        </p:txBody>
      </p:sp>
      <p:sp>
        <p:nvSpPr>
          <p:cNvPr id="6" name="Text 4"/>
          <p:cNvSpPr/>
          <p:nvPr/>
        </p:nvSpPr>
        <p:spPr>
          <a:xfrm>
            <a:off x="11384280" y="6473952"/>
            <a:ext cx="2926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50" dirty="0">
                <a:solidFill>
                  <a:srgbClr val="5B6785"/>
                </a:solidFill>
              </a:rPr>
              <a:t>23</a:t>
            </a:r>
            <a:endParaRPr lang="en-US" sz="650" dirty="0"/>
          </a:p>
        </p:txBody>
      </p:sp>
      <p:sp>
        <p:nvSpPr>
          <p:cNvPr id="7" name="Shape 5"/>
          <p:cNvSpPr/>
          <p:nvPr/>
        </p:nvSpPr>
        <p:spPr>
          <a:xfrm>
            <a:off x="621792" y="1417320"/>
            <a:ext cx="3486912" cy="2235708"/>
          </a:xfrm>
          <a:prstGeom prst="roundRect">
            <a:avLst>
              <a:gd name="adj" fmla="val 4908"/>
            </a:avLst>
          </a:prstGeom>
          <a:solidFill>
            <a:srgbClr val="F0F4FC"/>
          </a:solidFill>
          <a:ln w="10160">
            <a:solidFill>
              <a:srgbClr val="2670DD">
                <a:alpha val="65000"/>
              </a:srgbClr>
            </a:solidFill>
            <a:prstDash val="solid"/>
          </a:ln>
          <a:effectLst>
            <a:outerShdw blurRad="19050" dist="762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786384" y="1554480"/>
            <a:ext cx="31577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1B2340"/>
                </a:solidFill>
              </a:rPr>
              <a:t>Capture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786384" y="1929384"/>
            <a:ext cx="3157728" cy="160477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r>
              <a:rPr lang="en-US" sz="1200" dirty="0">
                <a:solidFill>
                  <a:srgbClr val="5B6785"/>
                </a:solidFill>
              </a:rPr>
              <a:t>Input/output tokens</a:t>
            </a:r>
            <a:endParaRPr lang="en-US" sz="1200" dirty="0"/>
          </a:p>
          <a:p>
            <a:r>
              <a:rPr lang="en-US" sz="1200" dirty="0">
                <a:solidFill>
                  <a:srgbClr val="5B6785"/>
                </a:solidFill>
              </a:rPr>
              <a:t>Model pricing</a:t>
            </a:r>
            <a:endParaRPr lang="en-US" sz="1200" dirty="0"/>
          </a:p>
          <a:p>
            <a:r>
              <a:rPr lang="en-US" sz="1200" dirty="0">
                <a:solidFill>
                  <a:srgbClr val="5B6785"/>
                </a:solidFill>
              </a:rPr>
              <a:t>Embedding calls</a:t>
            </a:r>
            <a:endParaRPr lang="en-US" sz="1200" dirty="0"/>
          </a:p>
          <a:p>
            <a:r>
              <a:rPr lang="en-US" sz="1200" dirty="0">
                <a:solidFill>
                  <a:srgbClr val="5B6785"/>
                </a:solidFill>
              </a:rPr>
              <a:t>Tool/API cost</a:t>
            </a:r>
            <a:endParaRPr lang="en-US" sz="1200" dirty="0"/>
          </a:p>
          <a:p>
            <a:r>
              <a:rPr lang="en-US" sz="1200" dirty="0">
                <a:solidFill>
                  <a:srgbClr val="5B6785"/>
                </a:solidFill>
              </a:rPr>
              <a:t>Compute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364736" y="1417320"/>
            <a:ext cx="3486912" cy="2235708"/>
          </a:xfrm>
          <a:prstGeom prst="roundRect">
            <a:avLst>
              <a:gd name="adj" fmla="val 4908"/>
            </a:avLst>
          </a:prstGeom>
          <a:solidFill>
            <a:srgbClr val="F0F4FC"/>
          </a:solidFill>
          <a:ln w="10160">
            <a:solidFill>
              <a:srgbClr val="2CC9D2">
                <a:alpha val="65000"/>
              </a:srgbClr>
            </a:solidFill>
            <a:prstDash val="solid"/>
          </a:ln>
          <a:effectLst>
            <a:outerShdw blurRad="19050" dist="762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529328" y="1554480"/>
            <a:ext cx="31577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1B2340"/>
                </a:solidFill>
              </a:rPr>
              <a:t>Attribute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4529328" y="1929384"/>
            <a:ext cx="3157728" cy="160477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r>
              <a:rPr lang="en-US" sz="1200" dirty="0">
                <a:solidFill>
                  <a:srgbClr val="5B6785"/>
                </a:solidFill>
              </a:rPr>
              <a:t>Tenant</a:t>
            </a:r>
            <a:endParaRPr lang="en-US" sz="1200" dirty="0"/>
          </a:p>
          <a:p>
            <a:r>
              <a:rPr lang="en-US" sz="1200" dirty="0">
                <a:solidFill>
                  <a:srgbClr val="5B6785"/>
                </a:solidFill>
              </a:rPr>
              <a:t>Use case</a:t>
            </a:r>
            <a:endParaRPr lang="en-US" sz="1200" dirty="0"/>
          </a:p>
          <a:p>
            <a:r>
              <a:rPr lang="en-US" sz="1200" dirty="0">
                <a:solidFill>
                  <a:srgbClr val="5B6785"/>
                </a:solidFill>
              </a:rPr>
              <a:t>Prompt version</a:t>
            </a:r>
            <a:endParaRPr lang="en-US" sz="1200" dirty="0"/>
          </a:p>
          <a:p>
            <a:r>
              <a:rPr lang="en-US" sz="1200" dirty="0">
                <a:solidFill>
                  <a:srgbClr val="5B6785"/>
                </a:solidFill>
              </a:rPr>
              <a:t>Agent</a:t>
            </a:r>
            <a:endParaRPr lang="en-US" sz="1200" dirty="0"/>
          </a:p>
          <a:p>
            <a:r>
              <a:rPr lang="en-US" sz="1200" dirty="0">
                <a:solidFill>
                  <a:srgbClr val="5B6785"/>
                </a:solidFill>
              </a:rPr>
              <a:t>Workflow step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8107680" y="1417320"/>
            <a:ext cx="3486912" cy="2235708"/>
          </a:xfrm>
          <a:prstGeom prst="roundRect">
            <a:avLst>
              <a:gd name="adj" fmla="val 4908"/>
            </a:avLst>
          </a:prstGeom>
          <a:solidFill>
            <a:srgbClr val="F0F4FC"/>
          </a:solidFill>
          <a:ln w="10160">
            <a:solidFill>
              <a:srgbClr val="7C5BDC">
                <a:alpha val="65000"/>
              </a:srgbClr>
            </a:solidFill>
            <a:prstDash val="solid"/>
          </a:ln>
          <a:effectLst>
            <a:outerShdw blurRad="19050" dist="762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8272272" y="1554480"/>
            <a:ext cx="31577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1B2340"/>
                </a:solidFill>
              </a:rPr>
              <a:t>Optimize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8272272" y="1929384"/>
            <a:ext cx="3157728" cy="160477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r>
              <a:rPr lang="en-US" sz="1200" dirty="0">
                <a:solidFill>
                  <a:srgbClr val="5B6785"/>
                </a:solidFill>
              </a:rPr>
              <a:t>Model routing</a:t>
            </a:r>
            <a:endParaRPr lang="en-US" sz="1200" dirty="0"/>
          </a:p>
          <a:p>
            <a:r>
              <a:rPr lang="en-US" sz="1200" dirty="0">
                <a:solidFill>
                  <a:srgbClr val="5B6785"/>
                </a:solidFill>
              </a:rPr>
              <a:t>Context reduction</a:t>
            </a:r>
            <a:endParaRPr lang="en-US" sz="1200" dirty="0"/>
          </a:p>
          <a:p>
            <a:r>
              <a:rPr lang="en-US" sz="1200" dirty="0">
                <a:solidFill>
                  <a:srgbClr val="5B6785"/>
                </a:solidFill>
              </a:rPr>
              <a:t>Caching</a:t>
            </a:r>
            <a:endParaRPr lang="en-US" sz="1200" dirty="0"/>
          </a:p>
          <a:p>
            <a:r>
              <a:rPr lang="en-US" sz="1200" dirty="0">
                <a:solidFill>
                  <a:srgbClr val="5B6785"/>
                </a:solidFill>
              </a:rPr>
              <a:t>Batching</a:t>
            </a:r>
            <a:endParaRPr lang="en-US" sz="1200" dirty="0"/>
          </a:p>
          <a:p>
            <a:r>
              <a:rPr lang="en-US" sz="1200" dirty="0">
                <a:solidFill>
                  <a:srgbClr val="5B6785"/>
                </a:solidFill>
              </a:rPr>
              <a:t>Iteration limits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21792" y="3982212"/>
            <a:ext cx="3486912" cy="2235708"/>
          </a:xfrm>
          <a:prstGeom prst="roundRect">
            <a:avLst>
              <a:gd name="adj" fmla="val 4908"/>
            </a:avLst>
          </a:prstGeom>
          <a:solidFill>
            <a:srgbClr val="F0F4FC"/>
          </a:solidFill>
          <a:ln w="10160">
            <a:solidFill>
              <a:srgbClr val="2FBE82">
                <a:alpha val="65000"/>
              </a:srgbClr>
            </a:solidFill>
            <a:prstDash val="solid"/>
          </a:ln>
          <a:effectLst>
            <a:outerShdw blurRad="19050" dist="762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786384" y="4119372"/>
            <a:ext cx="31577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1B2340"/>
                </a:solidFill>
              </a:rPr>
              <a:t>Guard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786384" y="4494276"/>
            <a:ext cx="3157728" cy="160477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r>
              <a:rPr lang="en-US" sz="1200" dirty="0">
                <a:solidFill>
                  <a:srgbClr val="5B6785"/>
                </a:solidFill>
              </a:rPr>
              <a:t>Budgets</a:t>
            </a:r>
            <a:endParaRPr lang="en-US" sz="1200" dirty="0"/>
          </a:p>
          <a:p>
            <a:r>
              <a:rPr lang="en-US" sz="1200" dirty="0">
                <a:solidFill>
                  <a:srgbClr val="5B6785"/>
                </a:solidFill>
              </a:rPr>
              <a:t>Quotas</a:t>
            </a:r>
            <a:endParaRPr lang="en-US" sz="1200" dirty="0"/>
          </a:p>
          <a:p>
            <a:r>
              <a:rPr lang="en-US" sz="1200" dirty="0">
                <a:solidFill>
                  <a:srgbClr val="5B6785"/>
                </a:solidFill>
              </a:rPr>
              <a:t>Alerts</a:t>
            </a:r>
            <a:endParaRPr lang="en-US" sz="1200" dirty="0"/>
          </a:p>
          <a:p>
            <a:r>
              <a:rPr lang="en-US" sz="1200" dirty="0">
                <a:solidFill>
                  <a:srgbClr val="5B6785"/>
                </a:solidFill>
              </a:rPr>
              <a:t>Circuit breakers</a:t>
            </a:r>
            <a:endParaRPr lang="en-US" sz="1200" dirty="0"/>
          </a:p>
          <a:p>
            <a:r>
              <a:rPr lang="en-US" sz="1200" dirty="0">
                <a:solidFill>
                  <a:srgbClr val="5B6785"/>
                </a:solidFill>
              </a:rPr>
              <a:t>Graceful fallback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364736" y="3982212"/>
            <a:ext cx="3486912" cy="2235708"/>
          </a:xfrm>
          <a:prstGeom prst="roundRect">
            <a:avLst>
              <a:gd name="adj" fmla="val 4908"/>
            </a:avLst>
          </a:prstGeom>
          <a:solidFill>
            <a:srgbClr val="F0F4FC"/>
          </a:solidFill>
          <a:ln w="10160">
            <a:solidFill>
              <a:srgbClr val="FFB627">
                <a:alpha val="65000"/>
              </a:srgbClr>
            </a:solidFill>
            <a:prstDash val="solid"/>
          </a:ln>
          <a:effectLst>
            <a:outerShdw blurRad="19050" dist="762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529328" y="4119372"/>
            <a:ext cx="31577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1B2340"/>
                </a:solidFill>
              </a:rPr>
              <a:t>Evaluate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4529328" y="4494276"/>
            <a:ext cx="3157728" cy="160477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r>
              <a:rPr lang="en-US" sz="1200" dirty="0">
                <a:solidFill>
                  <a:srgbClr val="5B6785"/>
                </a:solidFill>
              </a:rPr>
              <a:t>Cost per task</a:t>
            </a:r>
            <a:endParaRPr lang="en-US" sz="1200" dirty="0"/>
          </a:p>
          <a:p>
            <a:r>
              <a:rPr lang="en-US" sz="1200" dirty="0">
                <a:solidFill>
                  <a:srgbClr val="5B6785"/>
                </a:solidFill>
              </a:rPr>
              <a:t>Cost per successful action</a:t>
            </a:r>
            <a:endParaRPr lang="en-US" sz="1200" dirty="0"/>
          </a:p>
          <a:p>
            <a:r>
              <a:rPr lang="en-US" sz="1200" dirty="0">
                <a:solidFill>
                  <a:srgbClr val="5B6785"/>
                </a:solidFill>
              </a:rPr>
              <a:t>Cost-quality frontier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8107680" y="3982212"/>
            <a:ext cx="3486912" cy="2235708"/>
          </a:xfrm>
          <a:prstGeom prst="roundRect">
            <a:avLst>
              <a:gd name="adj" fmla="val 4908"/>
            </a:avLst>
          </a:prstGeom>
          <a:solidFill>
            <a:srgbClr val="F0F4FC"/>
          </a:solidFill>
          <a:ln w="10160">
            <a:solidFill>
              <a:srgbClr val="E35D6A">
                <a:alpha val="65000"/>
              </a:srgbClr>
            </a:solidFill>
            <a:prstDash val="solid"/>
          </a:ln>
          <a:effectLst>
            <a:outerShdw blurRad="19050" dist="762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8272272" y="4119372"/>
            <a:ext cx="31577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1B2340"/>
                </a:solidFill>
              </a:rPr>
              <a:t>Investigate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8272272" y="4494276"/>
            <a:ext cx="3157728" cy="160477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r>
              <a:rPr lang="en-US" sz="1200" dirty="0">
                <a:solidFill>
                  <a:srgbClr val="5B6785"/>
                </a:solidFill>
              </a:rPr>
              <a:t>Expanded prompts</a:t>
            </a:r>
            <a:endParaRPr lang="en-US" sz="1200" dirty="0"/>
          </a:p>
          <a:p>
            <a:r>
              <a:rPr lang="en-US" sz="1200" dirty="0">
                <a:solidFill>
                  <a:srgbClr val="5B6785"/>
                </a:solidFill>
              </a:rPr>
              <a:t>Agent loops</a:t>
            </a:r>
            <a:endParaRPr lang="en-US" sz="1200" dirty="0"/>
          </a:p>
          <a:p>
            <a:r>
              <a:rPr lang="en-US" sz="1200" dirty="0">
                <a:solidFill>
                  <a:srgbClr val="5B6785"/>
                </a:solidFill>
              </a:rPr>
              <a:t>Low cache hit</a:t>
            </a:r>
            <a:endParaRPr lang="en-US" sz="1200" dirty="0"/>
          </a:p>
          <a:p>
            <a:r>
              <a:rPr lang="en-US" sz="1200" dirty="0">
                <a:solidFill>
                  <a:srgbClr val="5B6785"/>
                </a:solidFill>
              </a:rPr>
              <a:t>Repeated retrieval</a:t>
            </a:r>
            <a:endParaRPr lang="en-US" sz="1200" dirty="0"/>
          </a:p>
          <a:p>
            <a:r>
              <a:rPr lang="en-US" sz="1200" dirty="0">
                <a:solidFill>
                  <a:srgbClr val="5B6785"/>
                </a:solidFill>
              </a:rPr>
              <a:t>Failed tools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402336" y="6519672"/>
            <a:ext cx="65836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70" dirty="0">
                <a:solidFill>
                  <a:srgbClr val="5B6785"/>
                </a:solidFill>
              </a:rPr>
              <a:t>Scalable Enterprise Architectural Deployments of Agentic AI Solutions</a:t>
            </a:r>
            <a:endParaRPr lang="en-US" sz="570" dirty="0"/>
          </a:p>
        </p:txBody>
      </p:sp>
      <p:sp>
        <p:nvSpPr>
          <p:cNvPr id="26" name="Text 24"/>
          <p:cNvSpPr/>
          <p:nvPr/>
        </p:nvSpPr>
        <p:spPr>
          <a:xfrm>
            <a:off x="11384280" y="6473952"/>
            <a:ext cx="2926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50" dirty="0">
                <a:solidFill>
                  <a:srgbClr val="5B6785"/>
                </a:solidFill>
              </a:rPr>
              <a:t>23</a:t>
            </a:r>
            <a:endParaRPr lang="en-US" sz="65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141B4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Shape 0"/>
          <p:cNvSpPr/>
          <p:nvPr/>
        </p:nvSpPr>
        <p:spPr>
          <a:xfrm>
            <a:off x="10241280" y="228600"/>
            <a:ext cx="1417320" cy="1417320"/>
          </a:xfrm>
          <a:prstGeom prst="ellipse">
            <a:avLst/>
          </a:prstGeom>
          <a:solidFill>
            <a:srgbClr val="2B4388">
              <a:alpha val="44000"/>
            </a:srgbClr>
          </a:solidFill>
          <a:ln w="7620">
            <a:solidFill>
              <a:srgbClr val="FFB627">
                <a:alpha val="52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46304" y="5257800"/>
            <a:ext cx="1143000" cy="1143000"/>
          </a:xfrm>
          <a:prstGeom prst="ellipse">
            <a:avLst/>
          </a:prstGeom>
          <a:solidFill>
            <a:srgbClr val="223575">
              <a:alpha val="38000"/>
            </a:srgbClr>
          </a:solidFill>
          <a:ln w="12700">
            <a:solidFill>
              <a:srgbClr val="2670DD">
                <a:alpha val="35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393192"/>
            <a:ext cx="10698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FFFFFF"/>
                </a:solidFill>
              </a:rPr>
              <a:t>Agent Evaluation Techniques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612648" y="877824"/>
            <a:ext cx="10607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B8C6E3"/>
                </a:solidFill>
              </a:rPr>
              <a:t>Evaluate each component and the complete business task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94360" y="1161288"/>
            <a:ext cx="10972800" cy="1"/>
          </a:xfrm>
          <a:prstGeom prst="line">
            <a:avLst/>
          </a:prstGeom>
          <a:noFill/>
          <a:ln w="12700">
            <a:solidFill>
              <a:srgbClr val="2CC9D2">
                <a:alpha val="75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02336" y="6519672"/>
            <a:ext cx="65836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70" dirty="0">
                <a:solidFill>
                  <a:srgbClr val="8B93B8"/>
                </a:solidFill>
              </a:rPr>
              <a:t>Scalable Enterprise Architectural Deployments of Agentic AI Solutions</a:t>
            </a:r>
            <a:endParaRPr lang="en-US" sz="570" dirty="0"/>
          </a:p>
        </p:txBody>
      </p:sp>
      <p:sp>
        <p:nvSpPr>
          <p:cNvPr id="8" name="Text 6"/>
          <p:cNvSpPr/>
          <p:nvPr/>
        </p:nvSpPr>
        <p:spPr>
          <a:xfrm>
            <a:off x="11384280" y="6473952"/>
            <a:ext cx="2926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50" dirty="0">
                <a:solidFill>
                  <a:srgbClr val="8B93B8"/>
                </a:solidFill>
              </a:rPr>
              <a:t>24</a:t>
            </a:r>
            <a:endParaRPr lang="en-US" sz="650" dirty="0"/>
          </a:p>
        </p:txBody>
      </p:sp>
      <p:sp>
        <p:nvSpPr>
          <p:cNvPr id="9" name="Shape 7"/>
          <p:cNvSpPr/>
          <p:nvPr/>
        </p:nvSpPr>
        <p:spPr>
          <a:xfrm>
            <a:off x="621792" y="1417320"/>
            <a:ext cx="3486912" cy="2235708"/>
          </a:xfrm>
          <a:prstGeom prst="roundRect">
            <a:avLst>
              <a:gd name="adj" fmla="val 4908"/>
            </a:avLst>
          </a:prstGeom>
          <a:solidFill>
            <a:srgbClr val="122A52">
              <a:alpha val="95000"/>
            </a:srgbClr>
          </a:solidFill>
          <a:ln w="10160">
            <a:solidFill>
              <a:srgbClr val="2670DD">
                <a:alpha val="65000"/>
              </a:srgbClr>
            </a:solidFill>
            <a:prstDash val="solid"/>
          </a:ln>
          <a:effectLst>
            <a:outerShdw blurRad="19050" dist="762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786384" y="1554480"/>
            <a:ext cx="31577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Deterministic checks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786384" y="1929384"/>
            <a:ext cx="3157728" cy="160477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r>
              <a:rPr lang="en-US" sz="1200" dirty="0">
                <a:solidFill>
                  <a:srgbClr val="F5F8FC"/>
                </a:solidFill>
              </a:rPr>
              <a:t>Schema validity</a:t>
            </a:r>
            <a:endParaRPr lang="en-US" sz="1200" dirty="0"/>
          </a:p>
          <a:p>
            <a:r>
              <a:rPr lang="en-US" sz="1200" dirty="0">
                <a:solidFill>
                  <a:srgbClr val="F5F8FC"/>
                </a:solidFill>
              </a:rPr>
              <a:t>Required fields</a:t>
            </a:r>
            <a:endParaRPr lang="en-US" sz="1200" dirty="0"/>
          </a:p>
          <a:p>
            <a:r>
              <a:rPr lang="en-US" sz="1200" dirty="0">
                <a:solidFill>
                  <a:srgbClr val="F5F8FC"/>
                </a:solidFill>
              </a:rPr>
              <a:t>Tool arguments</a:t>
            </a:r>
            <a:endParaRPr lang="en-US" sz="1200" dirty="0"/>
          </a:p>
          <a:p>
            <a:r>
              <a:rPr lang="en-US" sz="1200" dirty="0">
                <a:solidFill>
                  <a:srgbClr val="F5F8FC"/>
                </a:solidFill>
              </a:rPr>
              <a:t>Policy rules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364736" y="1417320"/>
            <a:ext cx="3486912" cy="2235708"/>
          </a:xfrm>
          <a:prstGeom prst="roundRect">
            <a:avLst>
              <a:gd name="adj" fmla="val 4908"/>
            </a:avLst>
          </a:prstGeom>
          <a:solidFill>
            <a:srgbClr val="122A52">
              <a:alpha val="95000"/>
            </a:srgbClr>
          </a:solidFill>
          <a:ln w="10160">
            <a:solidFill>
              <a:srgbClr val="2CC9D2">
                <a:alpha val="65000"/>
              </a:srgbClr>
            </a:solidFill>
            <a:prstDash val="solid"/>
          </a:ln>
          <a:effectLst>
            <a:outerShdw blurRad="19050" dist="762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529328" y="1554480"/>
            <a:ext cx="31577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</a:rPr>
              <a:t>Retrieval evaluation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4529328" y="1929384"/>
            <a:ext cx="3157728" cy="160477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r>
              <a:rPr lang="en-US" sz="1200" dirty="0">
                <a:solidFill>
                  <a:srgbClr val="F5F8FC"/>
                </a:solidFill>
              </a:rPr>
              <a:t>Recall</a:t>
            </a:r>
            <a:endParaRPr lang="en-US" sz="1200" dirty="0"/>
          </a:p>
          <a:p>
            <a:r>
              <a:rPr lang="en-US" sz="1200" dirty="0">
                <a:solidFill>
                  <a:srgbClr val="F5F8FC"/>
                </a:solidFill>
              </a:rPr>
              <a:t>Precision</a:t>
            </a:r>
            <a:endParaRPr lang="en-US" sz="1200" dirty="0"/>
          </a:p>
          <a:p>
            <a:r>
              <a:rPr lang="en-US" sz="1200" dirty="0">
                <a:solidFill>
                  <a:srgbClr val="F5F8FC"/>
                </a:solidFill>
              </a:rPr>
              <a:t>Context relevance</a:t>
            </a:r>
            <a:endParaRPr lang="en-US" sz="1200" dirty="0"/>
          </a:p>
          <a:p>
            <a:r>
              <a:rPr lang="en-US" sz="1200" dirty="0">
                <a:solidFill>
                  <a:srgbClr val="F5F8FC"/>
                </a:solidFill>
              </a:rPr>
              <a:t>Citation correctness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8107680" y="1417320"/>
            <a:ext cx="3486912" cy="2235708"/>
          </a:xfrm>
          <a:prstGeom prst="roundRect">
            <a:avLst>
              <a:gd name="adj" fmla="val 4908"/>
            </a:avLst>
          </a:prstGeom>
          <a:solidFill>
            <a:srgbClr val="122A52">
              <a:alpha val="95000"/>
            </a:srgbClr>
          </a:solidFill>
          <a:ln w="10160">
            <a:solidFill>
              <a:srgbClr val="7C5BDC">
                <a:alpha val="65000"/>
              </a:srgbClr>
            </a:solidFill>
            <a:prstDash val="solid"/>
          </a:ln>
          <a:effectLst>
            <a:outerShdw blurRad="19050" dist="762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8272272" y="1554480"/>
            <a:ext cx="31577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</a:rPr>
              <a:t>Model evaluation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8272272" y="1929384"/>
            <a:ext cx="3157728" cy="160477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r>
              <a:rPr lang="en-US" sz="1200" dirty="0">
                <a:solidFill>
                  <a:srgbClr val="F5F8FC"/>
                </a:solidFill>
              </a:rPr>
              <a:t>Relevance</a:t>
            </a:r>
            <a:endParaRPr lang="en-US" sz="1200" dirty="0"/>
          </a:p>
          <a:p>
            <a:r>
              <a:rPr lang="en-US" sz="1200" dirty="0">
                <a:solidFill>
                  <a:srgbClr val="F5F8FC"/>
                </a:solidFill>
              </a:rPr>
              <a:t>Groundedness</a:t>
            </a:r>
            <a:endParaRPr lang="en-US" sz="1200" dirty="0"/>
          </a:p>
          <a:p>
            <a:r>
              <a:rPr lang="en-US" sz="1200" dirty="0">
                <a:solidFill>
                  <a:srgbClr val="F5F8FC"/>
                </a:solidFill>
              </a:rPr>
              <a:t>Coherence</a:t>
            </a:r>
            <a:endParaRPr lang="en-US" sz="1200" dirty="0"/>
          </a:p>
          <a:p>
            <a:r>
              <a:rPr lang="en-US" sz="1200" dirty="0">
                <a:solidFill>
                  <a:srgbClr val="F5F8FC"/>
                </a:solidFill>
              </a:rPr>
              <a:t>Safety</a:t>
            </a:r>
            <a:endParaRPr lang="en-US" sz="1200" dirty="0"/>
          </a:p>
          <a:p>
            <a:r>
              <a:rPr lang="en-US" sz="1200" dirty="0">
                <a:solidFill>
                  <a:srgbClr val="F5F8FC"/>
                </a:solidFill>
              </a:rPr>
              <a:t>Instruction adherence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21792" y="3982212"/>
            <a:ext cx="3486912" cy="2235708"/>
          </a:xfrm>
          <a:prstGeom prst="roundRect">
            <a:avLst>
              <a:gd name="adj" fmla="val 4908"/>
            </a:avLst>
          </a:prstGeom>
          <a:solidFill>
            <a:srgbClr val="122A52">
              <a:alpha val="95000"/>
            </a:srgbClr>
          </a:solidFill>
          <a:ln w="10160">
            <a:solidFill>
              <a:srgbClr val="2FBE82">
                <a:alpha val="65000"/>
              </a:srgbClr>
            </a:solidFill>
            <a:prstDash val="solid"/>
          </a:ln>
          <a:effectLst>
            <a:outerShdw blurRad="19050" dist="762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786384" y="4119372"/>
            <a:ext cx="31577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</a:rPr>
              <a:t>Agent evaluation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786384" y="4494276"/>
            <a:ext cx="3157728" cy="160477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r>
              <a:rPr lang="en-US" sz="1200" dirty="0">
                <a:solidFill>
                  <a:srgbClr val="F5F8FC"/>
                </a:solidFill>
              </a:rPr>
              <a:t>Plan quality</a:t>
            </a:r>
            <a:endParaRPr lang="en-US" sz="1200" dirty="0"/>
          </a:p>
          <a:p>
            <a:r>
              <a:rPr lang="en-US" sz="1200" dirty="0">
                <a:solidFill>
                  <a:srgbClr val="F5F8FC"/>
                </a:solidFill>
              </a:rPr>
              <a:t>Tool selection</a:t>
            </a:r>
            <a:endParaRPr lang="en-US" sz="1200" dirty="0"/>
          </a:p>
          <a:p>
            <a:r>
              <a:rPr lang="en-US" sz="1200" dirty="0">
                <a:solidFill>
                  <a:srgbClr val="F5F8FC"/>
                </a:solidFill>
              </a:rPr>
              <a:t>Task completion</a:t>
            </a:r>
            <a:endParaRPr lang="en-US" sz="1200" dirty="0"/>
          </a:p>
          <a:p>
            <a:r>
              <a:rPr lang="en-US" sz="1200" dirty="0">
                <a:solidFill>
                  <a:srgbClr val="F5F8FC"/>
                </a:solidFill>
              </a:rPr>
              <a:t>Loop efficiency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364736" y="3982212"/>
            <a:ext cx="3486912" cy="2235708"/>
          </a:xfrm>
          <a:prstGeom prst="roundRect">
            <a:avLst>
              <a:gd name="adj" fmla="val 4908"/>
            </a:avLst>
          </a:prstGeom>
          <a:solidFill>
            <a:srgbClr val="122A52">
              <a:alpha val="95000"/>
            </a:srgbClr>
          </a:solidFill>
          <a:ln w="10160">
            <a:solidFill>
              <a:srgbClr val="FFB627">
                <a:alpha val="65000"/>
              </a:srgbClr>
            </a:solidFill>
            <a:prstDash val="solid"/>
          </a:ln>
          <a:effectLst>
            <a:outerShdw blurRad="19050" dist="762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4529328" y="4119372"/>
            <a:ext cx="31577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</a:rPr>
              <a:t>Human evaluation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4529328" y="4494276"/>
            <a:ext cx="3157728" cy="160477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r>
              <a:rPr lang="en-US" sz="1200" dirty="0">
                <a:solidFill>
                  <a:srgbClr val="F5F8FC"/>
                </a:solidFill>
              </a:rPr>
              <a:t>Expert review</a:t>
            </a:r>
            <a:endParaRPr lang="en-US" sz="1200" dirty="0"/>
          </a:p>
          <a:p>
            <a:r>
              <a:rPr lang="en-US" sz="1200" dirty="0">
                <a:solidFill>
                  <a:srgbClr val="F5F8FC"/>
                </a:solidFill>
              </a:rPr>
              <a:t>Pairwise comparison</a:t>
            </a:r>
            <a:endParaRPr lang="en-US" sz="1200" dirty="0"/>
          </a:p>
          <a:p>
            <a:r>
              <a:rPr lang="en-US" sz="1200" dirty="0">
                <a:solidFill>
                  <a:srgbClr val="F5F8FC"/>
                </a:solidFill>
              </a:rPr>
              <a:t>Acceptance and override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8107680" y="3982212"/>
            <a:ext cx="3486912" cy="2235708"/>
          </a:xfrm>
          <a:prstGeom prst="roundRect">
            <a:avLst>
              <a:gd name="adj" fmla="val 4908"/>
            </a:avLst>
          </a:prstGeom>
          <a:solidFill>
            <a:srgbClr val="122A52">
              <a:alpha val="95000"/>
            </a:srgbClr>
          </a:solidFill>
          <a:ln w="10160">
            <a:solidFill>
              <a:srgbClr val="E35D6A">
                <a:alpha val="65000"/>
              </a:srgbClr>
            </a:solidFill>
            <a:prstDash val="solid"/>
          </a:ln>
          <a:effectLst>
            <a:outerShdw blurRad="19050" dist="762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8272272" y="4119372"/>
            <a:ext cx="31577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</a:rPr>
              <a:t>Production evaluation</a:t>
            </a:r>
            <a:endParaRPr lang="en-US" sz="2000" dirty="0"/>
          </a:p>
        </p:txBody>
      </p:sp>
      <p:sp>
        <p:nvSpPr>
          <p:cNvPr id="26" name="Text 24"/>
          <p:cNvSpPr/>
          <p:nvPr/>
        </p:nvSpPr>
        <p:spPr>
          <a:xfrm>
            <a:off x="8272272" y="4494276"/>
            <a:ext cx="3157728" cy="160477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r>
              <a:rPr lang="en-US" sz="1200" dirty="0">
                <a:solidFill>
                  <a:srgbClr val="F5F8FC"/>
                </a:solidFill>
              </a:rPr>
              <a:t>Sampling</a:t>
            </a:r>
            <a:endParaRPr lang="en-US" sz="1200" dirty="0"/>
          </a:p>
          <a:p>
            <a:r>
              <a:rPr lang="en-US" sz="1200" dirty="0">
                <a:solidFill>
                  <a:srgbClr val="F5F8FC"/>
                </a:solidFill>
              </a:rPr>
              <a:t>Shadow tests</a:t>
            </a:r>
            <a:endParaRPr lang="en-US" sz="1200" dirty="0"/>
          </a:p>
          <a:p>
            <a:r>
              <a:rPr lang="en-US" sz="1200" dirty="0">
                <a:solidFill>
                  <a:srgbClr val="F5F8FC"/>
                </a:solidFill>
              </a:rPr>
              <a:t>A/B tests</a:t>
            </a:r>
            <a:endParaRPr lang="en-US" sz="1200" dirty="0"/>
          </a:p>
          <a:p>
            <a:r>
              <a:rPr lang="en-US" sz="1200" dirty="0">
                <a:solidFill>
                  <a:srgbClr val="F5F8FC"/>
                </a:solidFill>
              </a:rPr>
              <a:t>Incident-driven regression cases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402336" y="6519672"/>
            <a:ext cx="65836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70" dirty="0">
                <a:solidFill>
                  <a:srgbClr val="8B93B8"/>
                </a:solidFill>
              </a:rPr>
              <a:t>Scalable Enterprise Architectural Deployments of Agentic AI Solutions</a:t>
            </a:r>
            <a:endParaRPr lang="en-US" sz="570" dirty="0"/>
          </a:p>
        </p:txBody>
      </p:sp>
      <p:sp>
        <p:nvSpPr>
          <p:cNvPr id="28" name="Text 26"/>
          <p:cNvSpPr/>
          <p:nvPr/>
        </p:nvSpPr>
        <p:spPr>
          <a:xfrm>
            <a:off x="11384280" y="6473952"/>
            <a:ext cx="2926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50" dirty="0">
                <a:solidFill>
                  <a:srgbClr val="8B93B8"/>
                </a:solidFill>
              </a:rPr>
              <a:t>24</a:t>
            </a:r>
            <a:endParaRPr lang="en-US" sz="65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141B4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Shape 0"/>
          <p:cNvSpPr/>
          <p:nvPr/>
        </p:nvSpPr>
        <p:spPr>
          <a:xfrm>
            <a:off x="10241280" y="228600"/>
            <a:ext cx="1417320" cy="1417320"/>
          </a:xfrm>
          <a:prstGeom prst="ellipse">
            <a:avLst/>
          </a:prstGeom>
          <a:solidFill>
            <a:srgbClr val="2B4388">
              <a:alpha val="44000"/>
            </a:srgbClr>
          </a:solidFill>
          <a:ln w="7620">
            <a:solidFill>
              <a:srgbClr val="FFB627">
                <a:alpha val="52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46304" y="5257800"/>
            <a:ext cx="1143000" cy="1143000"/>
          </a:xfrm>
          <a:prstGeom prst="ellipse">
            <a:avLst/>
          </a:prstGeom>
          <a:solidFill>
            <a:srgbClr val="223575">
              <a:alpha val="38000"/>
            </a:srgbClr>
          </a:solidFill>
          <a:ln w="12700">
            <a:solidFill>
              <a:srgbClr val="2670DD">
                <a:alpha val="35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393192"/>
            <a:ext cx="10698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FFFFFF"/>
                </a:solidFill>
              </a:rPr>
              <a:t>Continuous Improvement Loop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612648" y="877824"/>
            <a:ext cx="10607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B8C6E3"/>
                </a:solidFill>
              </a:rPr>
              <a:t>Treat production feedback as governed evidence for controlled updates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94360" y="1161288"/>
            <a:ext cx="10972800" cy="1"/>
          </a:xfrm>
          <a:prstGeom prst="line">
            <a:avLst/>
          </a:prstGeom>
          <a:noFill/>
          <a:ln w="12700">
            <a:solidFill>
              <a:srgbClr val="2CC9D2">
                <a:alpha val="75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02336" y="6519672"/>
            <a:ext cx="65836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70" dirty="0">
                <a:solidFill>
                  <a:srgbClr val="8B93B8"/>
                </a:solidFill>
              </a:rPr>
              <a:t>Scalable Enterprise Architectural Deployments of Agentic AI Solutions</a:t>
            </a:r>
            <a:endParaRPr lang="en-US" sz="570" dirty="0"/>
          </a:p>
        </p:txBody>
      </p:sp>
      <p:sp>
        <p:nvSpPr>
          <p:cNvPr id="8" name="Text 6"/>
          <p:cNvSpPr/>
          <p:nvPr/>
        </p:nvSpPr>
        <p:spPr>
          <a:xfrm>
            <a:off x="11384280" y="6473952"/>
            <a:ext cx="2926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50" dirty="0">
                <a:solidFill>
                  <a:srgbClr val="8B93B8"/>
                </a:solidFill>
              </a:rPr>
              <a:t>25</a:t>
            </a:r>
            <a:endParaRPr lang="en-US" sz="650" dirty="0"/>
          </a:p>
        </p:txBody>
      </p:sp>
      <p:sp>
        <p:nvSpPr>
          <p:cNvPr id="9" name="Shape 7"/>
          <p:cNvSpPr/>
          <p:nvPr/>
        </p:nvSpPr>
        <p:spPr>
          <a:xfrm>
            <a:off x="621792" y="2331720"/>
            <a:ext cx="1417320" cy="1143000"/>
          </a:xfrm>
          <a:prstGeom prst="roundRect">
            <a:avLst>
              <a:gd name="adj" fmla="val 9600"/>
            </a:avLst>
          </a:prstGeom>
          <a:solidFill>
            <a:srgbClr val="7C5BDC"/>
          </a:solidFill>
          <a:ln w="12700">
            <a:solidFill>
              <a:srgbClr val="2CC9D2">
                <a:alpha val="55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31520" y="2560320"/>
            <a:ext cx="119786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b="1" dirty="0">
                <a:solidFill>
                  <a:srgbClr val="FFFFFF"/>
                </a:solidFill>
              </a:rPr>
              <a:t>Observe</a:t>
            </a: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731520" y="2953512"/>
            <a:ext cx="119786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F5F8FC"/>
                </a:solidFill>
              </a:rPr>
              <a:t>Metrics + traces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084832" y="2752344"/>
            <a:ext cx="228600" cy="274320"/>
          </a:xfrm>
          <a:prstGeom prst="chevron">
            <a:avLst/>
          </a:prstGeom>
          <a:solidFill>
            <a:srgbClr val="FFB627"/>
          </a:solidFill>
          <a:ln w="12700">
            <a:solidFill>
              <a:srgbClr val="FFB627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377440" y="2331720"/>
            <a:ext cx="1417320" cy="1143000"/>
          </a:xfrm>
          <a:prstGeom prst="roundRect">
            <a:avLst>
              <a:gd name="adj" fmla="val 9600"/>
            </a:avLst>
          </a:prstGeom>
          <a:solidFill>
            <a:srgbClr val="2670DD"/>
          </a:solidFill>
          <a:ln w="12700">
            <a:solidFill>
              <a:srgbClr val="2CC9D2">
                <a:alpha val="55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487168" y="2560320"/>
            <a:ext cx="119786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b="1" dirty="0">
                <a:solidFill>
                  <a:srgbClr val="FFFFFF"/>
                </a:solidFill>
              </a:rPr>
              <a:t>Detect</a:t>
            </a: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2487168" y="2953512"/>
            <a:ext cx="119786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F5F8FC"/>
                </a:solidFill>
              </a:rPr>
              <a:t>Quality / risk gap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3840480" y="2752344"/>
            <a:ext cx="228600" cy="274320"/>
          </a:xfrm>
          <a:prstGeom prst="chevron">
            <a:avLst/>
          </a:prstGeom>
          <a:solidFill>
            <a:srgbClr val="FFB627"/>
          </a:solidFill>
          <a:ln w="12700">
            <a:solidFill>
              <a:srgbClr val="FFB627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133088" y="2331720"/>
            <a:ext cx="1417320" cy="1143000"/>
          </a:xfrm>
          <a:prstGeom prst="roundRect">
            <a:avLst>
              <a:gd name="adj" fmla="val 9600"/>
            </a:avLst>
          </a:prstGeom>
          <a:solidFill>
            <a:srgbClr val="7C5BDC"/>
          </a:solidFill>
          <a:ln w="12700">
            <a:solidFill>
              <a:srgbClr val="2CC9D2">
                <a:alpha val="5500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242816" y="2560320"/>
            <a:ext cx="119786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b="1" dirty="0">
                <a:solidFill>
                  <a:srgbClr val="FFFFFF"/>
                </a:solidFill>
              </a:rPr>
              <a:t>Diagnose</a:t>
            </a: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4242816" y="2953512"/>
            <a:ext cx="119786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F5F8FC"/>
                </a:solidFill>
              </a:rPr>
              <a:t>Root cause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596128" y="2752344"/>
            <a:ext cx="228600" cy="274320"/>
          </a:xfrm>
          <a:prstGeom prst="chevron">
            <a:avLst/>
          </a:prstGeom>
          <a:solidFill>
            <a:srgbClr val="FFB627"/>
          </a:solidFill>
          <a:ln w="12700">
            <a:solidFill>
              <a:srgbClr val="FFB627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888736" y="2331720"/>
            <a:ext cx="1417320" cy="1143000"/>
          </a:xfrm>
          <a:prstGeom prst="roundRect">
            <a:avLst>
              <a:gd name="adj" fmla="val 9600"/>
            </a:avLst>
          </a:prstGeom>
          <a:solidFill>
            <a:srgbClr val="2670DD"/>
          </a:solidFill>
          <a:ln w="12700">
            <a:solidFill>
              <a:srgbClr val="2CC9D2">
                <a:alpha val="5500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998464" y="2560320"/>
            <a:ext cx="119786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b="1" dirty="0">
                <a:solidFill>
                  <a:srgbClr val="FFFFFF"/>
                </a:solidFill>
              </a:rPr>
              <a:t>Improve</a:t>
            </a: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5998464" y="2953512"/>
            <a:ext cx="119786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F5F8FC"/>
                </a:solidFill>
              </a:rPr>
              <a:t>Prompt / data / tool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7351776" y="2752344"/>
            <a:ext cx="228600" cy="274320"/>
          </a:xfrm>
          <a:prstGeom prst="chevron">
            <a:avLst/>
          </a:prstGeom>
          <a:solidFill>
            <a:srgbClr val="FFB627"/>
          </a:solidFill>
          <a:ln w="12700">
            <a:solidFill>
              <a:srgbClr val="FFB627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644384" y="2331720"/>
            <a:ext cx="1417320" cy="1143000"/>
          </a:xfrm>
          <a:prstGeom prst="roundRect">
            <a:avLst>
              <a:gd name="adj" fmla="val 9600"/>
            </a:avLst>
          </a:prstGeom>
          <a:solidFill>
            <a:srgbClr val="7C5BDC"/>
          </a:solidFill>
          <a:ln w="12700">
            <a:solidFill>
              <a:srgbClr val="2CC9D2">
                <a:alpha val="5500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754112" y="2560320"/>
            <a:ext cx="119786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b="1" dirty="0">
                <a:solidFill>
                  <a:srgbClr val="FFFFFF"/>
                </a:solidFill>
              </a:rPr>
              <a:t>Evaluate</a:t>
            </a:r>
            <a:endParaRPr lang="en-US" dirty="0"/>
          </a:p>
        </p:txBody>
      </p:sp>
      <p:sp>
        <p:nvSpPr>
          <p:cNvPr id="27" name="Text 25"/>
          <p:cNvSpPr/>
          <p:nvPr/>
        </p:nvSpPr>
        <p:spPr>
          <a:xfrm>
            <a:off x="7754112" y="2953512"/>
            <a:ext cx="119786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F5F8FC"/>
                </a:solidFill>
              </a:rPr>
              <a:t>Regression suite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9107424" y="2752344"/>
            <a:ext cx="228600" cy="274320"/>
          </a:xfrm>
          <a:prstGeom prst="chevron">
            <a:avLst/>
          </a:prstGeom>
          <a:solidFill>
            <a:srgbClr val="FFB627"/>
          </a:solidFill>
          <a:ln w="12700">
            <a:solidFill>
              <a:srgbClr val="FFB627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9400032" y="2331720"/>
            <a:ext cx="1417320" cy="1143000"/>
          </a:xfrm>
          <a:prstGeom prst="roundRect">
            <a:avLst>
              <a:gd name="adj" fmla="val 9600"/>
            </a:avLst>
          </a:prstGeom>
          <a:solidFill>
            <a:srgbClr val="2670DD"/>
          </a:solidFill>
          <a:ln w="12700">
            <a:solidFill>
              <a:srgbClr val="2CC9D2">
                <a:alpha val="55000"/>
              </a:srgbClr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9509760" y="2560320"/>
            <a:ext cx="119786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b="1" dirty="0">
                <a:solidFill>
                  <a:srgbClr val="FFFFFF"/>
                </a:solidFill>
              </a:rPr>
              <a:t>Release</a:t>
            </a:r>
            <a:endParaRPr lang="en-US" dirty="0"/>
          </a:p>
        </p:txBody>
      </p:sp>
      <p:sp>
        <p:nvSpPr>
          <p:cNvPr id="31" name="Text 29"/>
          <p:cNvSpPr/>
          <p:nvPr/>
        </p:nvSpPr>
        <p:spPr>
          <a:xfrm>
            <a:off x="9509760" y="2953512"/>
            <a:ext cx="119786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F5F8FC"/>
                </a:solidFill>
              </a:rPr>
              <a:t>Controlled rollout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402336" y="6519672"/>
            <a:ext cx="65836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70" dirty="0">
                <a:solidFill>
                  <a:srgbClr val="8B93B8"/>
                </a:solidFill>
              </a:rPr>
              <a:t>Scalable Enterprise Architectural Deployments of Agentic AI Solutions</a:t>
            </a:r>
            <a:endParaRPr lang="en-US" sz="570" dirty="0"/>
          </a:p>
        </p:txBody>
      </p:sp>
      <p:sp>
        <p:nvSpPr>
          <p:cNvPr id="33" name="Text 31"/>
          <p:cNvSpPr/>
          <p:nvPr/>
        </p:nvSpPr>
        <p:spPr>
          <a:xfrm>
            <a:off x="11384280" y="6473952"/>
            <a:ext cx="2926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50" dirty="0">
                <a:solidFill>
                  <a:srgbClr val="8B93B8"/>
                </a:solidFill>
              </a:rPr>
              <a:t>25</a:t>
            </a:r>
            <a:endParaRPr lang="en-US" sz="65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141B4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Shape 0"/>
          <p:cNvSpPr/>
          <p:nvPr/>
        </p:nvSpPr>
        <p:spPr>
          <a:xfrm>
            <a:off x="10241280" y="228600"/>
            <a:ext cx="1417320" cy="1417320"/>
          </a:xfrm>
          <a:prstGeom prst="ellipse">
            <a:avLst/>
          </a:prstGeom>
          <a:solidFill>
            <a:srgbClr val="2B4388">
              <a:alpha val="44000"/>
            </a:srgbClr>
          </a:solidFill>
          <a:ln w="7620">
            <a:solidFill>
              <a:srgbClr val="FFB627">
                <a:alpha val="52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46304" y="5257800"/>
            <a:ext cx="1143000" cy="1143000"/>
          </a:xfrm>
          <a:prstGeom prst="ellipse">
            <a:avLst/>
          </a:prstGeom>
          <a:solidFill>
            <a:srgbClr val="223575">
              <a:alpha val="38000"/>
            </a:srgbClr>
          </a:solidFill>
          <a:ln w="12700">
            <a:solidFill>
              <a:srgbClr val="2670DD">
                <a:alpha val="35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393192"/>
            <a:ext cx="10698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FFFFFF"/>
                </a:solidFill>
              </a:rPr>
              <a:t>Hands-on: Build an Agent Monitoring Dashboard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612648" y="877824"/>
            <a:ext cx="10607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8C6E3"/>
                </a:solidFill>
              </a:rPr>
              <a:t>Dashboard should connect operational health to quality, safety, cost and business outcome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594360" y="1161288"/>
            <a:ext cx="10972800" cy="1"/>
          </a:xfrm>
          <a:prstGeom prst="line">
            <a:avLst/>
          </a:prstGeom>
          <a:noFill/>
          <a:ln w="12700">
            <a:solidFill>
              <a:srgbClr val="2CC9D2">
                <a:alpha val="75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02336" y="6519672"/>
            <a:ext cx="65836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70" dirty="0">
                <a:solidFill>
                  <a:srgbClr val="8B93B8"/>
                </a:solidFill>
              </a:rPr>
              <a:t>Scalable Enterprise Architectural Deployments of Agentic AI Solutions</a:t>
            </a:r>
            <a:endParaRPr lang="en-US" sz="570" dirty="0"/>
          </a:p>
        </p:txBody>
      </p:sp>
      <p:sp>
        <p:nvSpPr>
          <p:cNvPr id="8" name="Text 6"/>
          <p:cNvSpPr/>
          <p:nvPr/>
        </p:nvSpPr>
        <p:spPr>
          <a:xfrm>
            <a:off x="11384280" y="6473952"/>
            <a:ext cx="2926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50" dirty="0">
                <a:solidFill>
                  <a:srgbClr val="8B93B8"/>
                </a:solidFill>
              </a:rPr>
              <a:t>26</a:t>
            </a:r>
            <a:endParaRPr lang="en-US" sz="650" dirty="0"/>
          </a:p>
        </p:txBody>
      </p:sp>
      <p:sp>
        <p:nvSpPr>
          <p:cNvPr id="9" name="Shape 7"/>
          <p:cNvSpPr/>
          <p:nvPr/>
        </p:nvSpPr>
        <p:spPr>
          <a:xfrm>
            <a:off x="640080" y="1417320"/>
            <a:ext cx="2514600" cy="960120"/>
          </a:xfrm>
          <a:prstGeom prst="roundRect">
            <a:avLst>
              <a:gd name="adj" fmla="val 9524"/>
            </a:avLst>
          </a:prstGeom>
          <a:solidFill>
            <a:srgbClr val="122A52"/>
          </a:solidFill>
          <a:ln w="12700">
            <a:solidFill>
              <a:srgbClr val="2FBE82">
                <a:alpha val="75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04672" y="1627632"/>
            <a:ext cx="21945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b="1" dirty="0">
                <a:solidFill>
                  <a:srgbClr val="B8C6E3"/>
                </a:solidFill>
              </a:rPr>
              <a:t>TASK SUCCESS</a:t>
            </a:r>
            <a:endParaRPr lang="en-US" sz="700" dirty="0"/>
          </a:p>
        </p:txBody>
      </p:sp>
      <p:sp>
        <p:nvSpPr>
          <p:cNvPr id="11" name="Text 9"/>
          <p:cNvSpPr/>
          <p:nvPr/>
        </p:nvSpPr>
        <p:spPr>
          <a:xfrm>
            <a:off x="804672" y="1901952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2FBE82"/>
                </a:solidFill>
              </a:rPr>
              <a:t>94.6%</a:t>
            </a:r>
            <a:endParaRPr lang="en-US" sz="1900" dirty="0"/>
          </a:p>
        </p:txBody>
      </p:sp>
      <p:sp>
        <p:nvSpPr>
          <p:cNvPr id="12" name="Shape 10"/>
          <p:cNvSpPr/>
          <p:nvPr/>
        </p:nvSpPr>
        <p:spPr>
          <a:xfrm>
            <a:off x="3474720" y="1417320"/>
            <a:ext cx="2514600" cy="960120"/>
          </a:xfrm>
          <a:prstGeom prst="roundRect">
            <a:avLst>
              <a:gd name="adj" fmla="val 9524"/>
            </a:avLst>
          </a:prstGeom>
          <a:solidFill>
            <a:srgbClr val="122A52"/>
          </a:solidFill>
          <a:ln w="12700">
            <a:solidFill>
              <a:srgbClr val="FFB627">
                <a:alpha val="75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39312" y="1627632"/>
            <a:ext cx="21945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b="1" dirty="0">
                <a:solidFill>
                  <a:srgbClr val="B8C6E3"/>
                </a:solidFill>
              </a:rPr>
              <a:t>P95 LATENCY</a:t>
            </a:r>
            <a:endParaRPr lang="en-US" sz="700" dirty="0"/>
          </a:p>
        </p:txBody>
      </p:sp>
      <p:sp>
        <p:nvSpPr>
          <p:cNvPr id="14" name="Text 12"/>
          <p:cNvSpPr/>
          <p:nvPr/>
        </p:nvSpPr>
        <p:spPr>
          <a:xfrm>
            <a:off x="3639312" y="1901952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B627"/>
                </a:solidFill>
              </a:rPr>
              <a:t>6.8 s</a:t>
            </a:r>
            <a:endParaRPr lang="en-US" sz="1900" dirty="0"/>
          </a:p>
        </p:txBody>
      </p:sp>
      <p:sp>
        <p:nvSpPr>
          <p:cNvPr id="15" name="Shape 13"/>
          <p:cNvSpPr/>
          <p:nvPr/>
        </p:nvSpPr>
        <p:spPr>
          <a:xfrm>
            <a:off x="6309360" y="1417320"/>
            <a:ext cx="2514600" cy="960120"/>
          </a:xfrm>
          <a:prstGeom prst="roundRect">
            <a:avLst>
              <a:gd name="adj" fmla="val 9524"/>
            </a:avLst>
          </a:prstGeom>
          <a:solidFill>
            <a:srgbClr val="122A52"/>
          </a:solidFill>
          <a:ln w="12700">
            <a:solidFill>
              <a:srgbClr val="2CC9D2">
                <a:alpha val="7500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73952" y="1627632"/>
            <a:ext cx="21945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b="1" dirty="0">
                <a:solidFill>
                  <a:srgbClr val="B8C6E3"/>
                </a:solidFill>
              </a:rPr>
              <a:t>TOOL SUCCESS</a:t>
            </a:r>
            <a:endParaRPr lang="en-US" sz="700" dirty="0"/>
          </a:p>
        </p:txBody>
      </p:sp>
      <p:sp>
        <p:nvSpPr>
          <p:cNvPr id="17" name="Text 15"/>
          <p:cNvSpPr/>
          <p:nvPr/>
        </p:nvSpPr>
        <p:spPr>
          <a:xfrm>
            <a:off x="6473952" y="1901952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2CC9D2"/>
                </a:solidFill>
              </a:rPr>
              <a:t>97.3%</a:t>
            </a:r>
            <a:endParaRPr lang="en-US" sz="1900" dirty="0"/>
          </a:p>
        </p:txBody>
      </p:sp>
      <p:sp>
        <p:nvSpPr>
          <p:cNvPr id="18" name="Shape 16"/>
          <p:cNvSpPr/>
          <p:nvPr/>
        </p:nvSpPr>
        <p:spPr>
          <a:xfrm>
            <a:off x="9144000" y="1417320"/>
            <a:ext cx="2514600" cy="960120"/>
          </a:xfrm>
          <a:prstGeom prst="roundRect">
            <a:avLst>
              <a:gd name="adj" fmla="val 9524"/>
            </a:avLst>
          </a:prstGeom>
          <a:solidFill>
            <a:srgbClr val="122A52"/>
          </a:solidFill>
          <a:ln w="12700">
            <a:solidFill>
              <a:srgbClr val="7C5BDC">
                <a:alpha val="7500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308592" y="1627632"/>
            <a:ext cx="21945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b="1" dirty="0">
                <a:solidFill>
                  <a:srgbClr val="B8C6E3"/>
                </a:solidFill>
              </a:rPr>
              <a:t>COST / TASK</a:t>
            </a:r>
            <a:endParaRPr lang="en-US" sz="700" dirty="0"/>
          </a:p>
        </p:txBody>
      </p:sp>
      <p:sp>
        <p:nvSpPr>
          <p:cNvPr id="20" name="Text 18"/>
          <p:cNvSpPr/>
          <p:nvPr/>
        </p:nvSpPr>
        <p:spPr>
          <a:xfrm>
            <a:off x="9308592" y="1901952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7C5BDC"/>
                </a:solidFill>
              </a:rPr>
              <a:t>$0.18</a:t>
            </a:r>
            <a:endParaRPr lang="en-US" sz="1900" dirty="0"/>
          </a:p>
        </p:txBody>
      </p:sp>
      <p:sp>
        <p:nvSpPr>
          <p:cNvPr id="21" name="Shape 19"/>
          <p:cNvSpPr/>
          <p:nvPr/>
        </p:nvSpPr>
        <p:spPr>
          <a:xfrm>
            <a:off x="640080" y="2788920"/>
            <a:ext cx="3429000" cy="2286000"/>
          </a:xfrm>
          <a:prstGeom prst="roundRect">
            <a:avLst>
              <a:gd name="adj" fmla="val 4800"/>
            </a:avLst>
          </a:prstGeom>
          <a:solidFill>
            <a:srgbClr val="122A52">
              <a:alpha val="95000"/>
            </a:srgbClr>
          </a:solidFill>
          <a:ln w="10160">
            <a:solidFill>
              <a:srgbClr val="2670DD">
                <a:alpha val="65000"/>
              </a:srgbClr>
            </a:solidFill>
            <a:prstDash val="solid"/>
          </a:ln>
          <a:effectLst>
            <a:outerShdw blurRad="19050" dist="762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804672" y="2926080"/>
            <a:ext cx="30998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</a:rPr>
              <a:t>Operations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804672" y="3300984"/>
            <a:ext cx="3099816" cy="165506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r>
              <a:rPr lang="en-US" sz="840" dirty="0">
                <a:solidFill>
                  <a:srgbClr val="F5F8FC"/>
                </a:solidFill>
              </a:rPr>
              <a:t>Request rate</a:t>
            </a:r>
            <a:endParaRPr lang="en-US" sz="840" dirty="0"/>
          </a:p>
          <a:p>
            <a:r>
              <a:rPr lang="en-US" sz="840" dirty="0">
                <a:solidFill>
                  <a:srgbClr val="F5F8FC"/>
                </a:solidFill>
              </a:rPr>
              <a:t>Error rate</a:t>
            </a:r>
            <a:endParaRPr lang="en-US" sz="840" dirty="0"/>
          </a:p>
          <a:p>
            <a:r>
              <a:rPr lang="en-US" sz="840" dirty="0">
                <a:solidFill>
                  <a:srgbClr val="F5F8FC"/>
                </a:solidFill>
              </a:rPr>
              <a:t>P50 / P95 / P99 latency</a:t>
            </a:r>
            <a:endParaRPr lang="en-US" sz="840" dirty="0"/>
          </a:p>
          <a:p>
            <a:r>
              <a:rPr lang="en-US" sz="840" dirty="0">
                <a:solidFill>
                  <a:srgbClr val="F5F8FC"/>
                </a:solidFill>
              </a:rPr>
              <a:t>Queue depth</a:t>
            </a:r>
            <a:endParaRPr lang="en-US" sz="840" dirty="0"/>
          </a:p>
          <a:p>
            <a:r>
              <a:rPr lang="en-US" sz="840" dirty="0">
                <a:solidFill>
                  <a:srgbClr val="F5F8FC"/>
                </a:solidFill>
              </a:rPr>
              <a:t>Dependency health</a:t>
            </a:r>
            <a:endParaRPr lang="en-US" sz="840" dirty="0"/>
          </a:p>
        </p:txBody>
      </p:sp>
      <p:sp>
        <p:nvSpPr>
          <p:cNvPr id="24" name="Shape 22"/>
          <p:cNvSpPr/>
          <p:nvPr/>
        </p:nvSpPr>
        <p:spPr>
          <a:xfrm>
            <a:off x="4389120" y="2788920"/>
            <a:ext cx="3429000" cy="2286000"/>
          </a:xfrm>
          <a:prstGeom prst="roundRect">
            <a:avLst>
              <a:gd name="adj" fmla="val 4800"/>
            </a:avLst>
          </a:prstGeom>
          <a:solidFill>
            <a:srgbClr val="122A52">
              <a:alpha val="95000"/>
            </a:srgbClr>
          </a:solidFill>
          <a:ln w="10160">
            <a:solidFill>
              <a:srgbClr val="2CC9D2">
                <a:alpha val="65000"/>
              </a:srgbClr>
            </a:solidFill>
            <a:prstDash val="solid"/>
          </a:ln>
          <a:effectLst>
            <a:outerShdw blurRad="19050" dist="762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4553712" y="2926080"/>
            <a:ext cx="30998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</a:rPr>
              <a:t>AI Quality &amp; Safety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4553712" y="3300984"/>
            <a:ext cx="3099816" cy="165506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r>
              <a:rPr lang="en-US" sz="840" dirty="0">
                <a:solidFill>
                  <a:srgbClr val="F5F8FC"/>
                </a:solidFill>
              </a:rPr>
              <a:t>Groundedness</a:t>
            </a:r>
            <a:endParaRPr lang="en-US" sz="840" dirty="0"/>
          </a:p>
          <a:p>
            <a:r>
              <a:rPr lang="en-US" sz="840" dirty="0">
                <a:solidFill>
                  <a:srgbClr val="F5F8FC"/>
                </a:solidFill>
              </a:rPr>
              <a:t>Relevance</a:t>
            </a:r>
            <a:endParaRPr lang="en-US" sz="840" dirty="0"/>
          </a:p>
          <a:p>
            <a:r>
              <a:rPr lang="en-US" sz="840" dirty="0">
                <a:solidFill>
                  <a:srgbClr val="F5F8FC"/>
                </a:solidFill>
              </a:rPr>
              <a:t>Citation coverage</a:t>
            </a:r>
            <a:endParaRPr lang="en-US" sz="840" dirty="0"/>
          </a:p>
          <a:p>
            <a:r>
              <a:rPr lang="en-US" sz="840" dirty="0">
                <a:solidFill>
                  <a:srgbClr val="F5F8FC"/>
                </a:solidFill>
              </a:rPr>
              <a:t>Policy violations</a:t>
            </a:r>
            <a:endParaRPr lang="en-US" sz="840" dirty="0"/>
          </a:p>
          <a:p>
            <a:r>
              <a:rPr lang="en-US" sz="840" dirty="0">
                <a:solidFill>
                  <a:srgbClr val="F5F8FC"/>
                </a:solidFill>
              </a:rPr>
              <a:t>Human overrides</a:t>
            </a:r>
            <a:endParaRPr lang="en-US" sz="840" dirty="0"/>
          </a:p>
        </p:txBody>
      </p:sp>
      <p:sp>
        <p:nvSpPr>
          <p:cNvPr id="27" name="Shape 25"/>
          <p:cNvSpPr/>
          <p:nvPr/>
        </p:nvSpPr>
        <p:spPr>
          <a:xfrm>
            <a:off x="8138160" y="2788920"/>
            <a:ext cx="3429000" cy="2286000"/>
          </a:xfrm>
          <a:prstGeom prst="roundRect">
            <a:avLst>
              <a:gd name="adj" fmla="val 4800"/>
            </a:avLst>
          </a:prstGeom>
          <a:solidFill>
            <a:srgbClr val="122A52">
              <a:alpha val="95000"/>
            </a:srgbClr>
          </a:solidFill>
          <a:ln w="10160">
            <a:solidFill>
              <a:srgbClr val="FFB627">
                <a:alpha val="65000"/>
              </a:srgbClr>
            </a:solidFill>
            <a:prstDash val="solid"/>
          </a:ln>
          <a:effectLst>
            <a:outerShdw blurRad="19050" dist="762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8302752" y="2926080"/>
            <a:ext cx="30998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</a:rPr>
              <a:t>Cost &amp; Outcomes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8302752" y="3300984"/>
            <a:ext cx="3099816" cy="165506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r>
              <a:rPr lang="en-US" sz="840" dirty="0">
                <a:solidFill>
                  <a:srgbClr val="F5F8FC"/>
                </a:solidFill>
              </a:rPr>
              <a:t>Tokens by model</a:t>
            </a:r>
            <a:endParaRPr lang="en-US" sz="840" dirty="0"/>
          </a:p>
          <a:p>
            <a:r>
              <a:rPr lang="en-US" sz="840" dirty="0">
                <a:solidFill>
                  <a:srgbClr val="F5F8FC"/>
                </a:solidFill>
              </a:rPr>
              <a:t>Cost by tenant</a:t>
            </a:r>
            <a:endParaRPr lang="en-US" sz="840" dirty="0"/>
          </a:p>
          <a:p>
            <a:r>
              <a:rPr lang="en-US" sz="840" dirty="0">
                <a:solidFill>
                  <a:srgbClr val="F5F8FC"/>
                </a:solidFill>
              </a:rPr>
              <a:t>Cost per task</a:t>
            </a:r>
            <a:endParaRPr lang="en-US" sz="840" dirty="0"/>
          </a:p>
          <a:p>
            <a:r>
              <a:rPr lang="en-US" sz="840" dirty="0">
                <a:solidFill>
                  <a:srgbClr val="F5F8FC"/>
                </a:solidFill>
              </a:rPr>
              <a:t>Successful actions</a:t>
            </a:r>
            <a:endParaRPr lang="en-US" sz="840" dirty="0"/>
          </a:p>
          <a:p>
            <a:r>
              <a:rPr lang="en-US" sz="840" dirty="0">
                <a:solidFill>
                  <a:srgbClr val="F5F8FC"/>
                </a:solidFill>
              </a:rPr>
              <a:t>Resolution time</a:t>
            </a:r>
            <a:endParaRPr lang="en-US" sz="840" dirty="0"/>
          </a:p>
        </p:txBody>
      </p:sp>
      <p:sp>
        <p:nvSpPr>
          <p:cNvPr id="30" name="Text 28"/>
          <p:cNvSpPr/>
          <p:nvPr/>
        </p:nvSpPr>
        <p:spPr>
          <a:xfrm>
            <a:off x="1097280" y="5577840"/>
            <a:ext cx="9966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Lab: instrument one workflow, send traces and metrics, build four KPI tiles, three drill-down panels and two alerts.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402336" y="6519672"/>
            <a:ext cx="65836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70" dirty="0">
                <a:solidFill>
                  <a:srgbClr val="8B93B8"/>
                </a:solidFill>
              </a:rPr>
              <a:t>Scalable Enterprise Architectural Deployments of Agentic AI Solutions</a:t>
            </a:r>
            <a:endParaRPr lang="en-US" sz="570" dirty="0"/>
          </a:p>
        </p:txBody>
      </p:sp>
      <p:sp>
        <p:nvSpPr>
          <p:cNvPr id="32" name="Text 30"/>
          <p:cNvSpPr/>
          <p:nvPr/>
        </p:nvSpPr>
        <p:spPr>
          <a:xfrm>
            <a:off x="11384280" y="6473952"/>
            <a:ext cx="2926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50" dirty="0">
                <a:solidFill>
                  <a:srgbClr val="8B93B8"/>
                </a:solidFill>
              </a:rPr>
              <a:t>26</a:t>
            </a:r>
            <a:endParaRPr lang="en-US" sz="65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141B4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Shape 0"/>
          <p:cNvSpPr/>
          <p:nvPr/>
        </p:nvSpPr>
        <p:spPr>
          <a:xfrm>
            <a:off x="10241280" y="228600"/>
            <a:ext cx="1417320" cy="1417320"/>
          </a:xfrm>
          <a:prstGeom prst="ellipse">
            <a:avLst/>
          </a:prstGeom>
          <a:solidFill>
            <a:srgbClr val="2B4388">
              <a:alpha val="44000"/>
            </a:srgbClr>
          </a:solidFill>
          <a:ln w="7620">
            <a:solidFill>
              <a:srgbClr val="FFB627">
                <a:alpha val="52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46304" y="5257800"/>
            <a:ext cx="1143000" cy="1143000"/>
          </a:xfrm>
          <a:prstGeom prst="ellipse">
            <a:avLst/>
          </a:prstGeom>
          <a:solidFill>
            <a:srgbClr val="223575">
              <a:alpha val="38000"/>
            </a:srgbClr>
          </a:solidFill>
          <a:ln w="12700">
            <a:solidFill>
              <a:srgbClr val="2670DD">
                <a:alpha val="35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129844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50" dirty="0">
                <a:solidFill>
                  <a:srgbClr val="FFB627"/>
                </a:solidFill>
              </a:rPr>
              <a:t>MODULE 09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874520"/>
            <a:ext cx="69951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</a:rPr>
              <a:t>Capstone Project – Enterprise</a:t>
            </a:r>
            <a:endParaRPr lang="en-US" sz="2800" dirty="0"/>
          </a:p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</a:rPr>
              <a:t>Agentic AI Deployment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731520" y="3310128"/>
            <a:ext cx="1143000" cy="384048"/>
          </a:xfrm>
          <a:prstGeom prst="roundRect">
            <a:avLst>
              <a:gd name="adj" fmla="val 23810"/>
            </a:avLst>
          </a:prstGeom>
          <a:solidFill>
            <a:srgbClr val="304582"/>
          </a:solidFill>
          <a:ln w="12700">
            <a:solidFill>
              <a:srgbClr val="30458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3438144"/>
            <a:ext cx="96012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40" b="1" dirty="0">
                <a:solidFill>
                  <a:srgbClr val="B8C6E3"/>
                </a:solidFill>
              </a:rPr>
              <a:t>0.5 Hour</a:t>
            </a:r>
            <a:endParaRPr lang="en-US" sz="740" dirty="0"/>
          </a:p>
        </p:txBody>
      </p:sp>
      <p:sp>
        <p:nvSpPr>
          <p:cNvPr id="8" name="Text 6"/>
          <p:cNvSpPr/>
          <p:nvPr/>
        </p:nvSpPr>
        <p:spPr>
          <a:xfrm>
            <a:off x="402336" y="6519672"/>
            <a:ext cx="65836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70" dirty="0">
                <a:solidFill>
                  <a:srgbClr val="8B93B8"/>
                </a:solidFill>
              </a:rPr>
              <a:t>Scalable Enterprise Architectural Deployments of Agentic AI Solutions</a:t>
            </a:r>
            <a:endParaRPr lang="en-US" sz="570" dirty="0"/>
          </a:p>
        </p:txBody>
      </p:sp>
      <p:sp>
        <p:nvSpPr>
          <p:cNvPr id="9" name="Text 7"/>
          <p:cNvSpPr/>
          <p:nvPr/>
        </p:nvSpPr>
        <p:spPr>
          <a:xfrm>
            <a:off x="11384280" y="6473952"/>
            <a:ext cx="2926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50" dirty="0">
                <a:solidFill>
                  <a:srgbClr val="8B93B8"/>
                </a:solidFill>
              </a:rPr>
              <a:t>27</a:t>
            </a:r>
            <a:endParaRPr lang="en-US" sz="65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pic>
        <p:nvPicPr>
          <p:cNvPr id="2" name="Image 0" descr="/mnt/data/e1eb93480b.png"/>
          <p:cNvPicPr>
            <a:picLocks noChangeAspect="1"/>
          </p:cNvPicPr>
          <p:nvPr/>
        </p:nvPicPr>
        <p:blipFill>
          <a:blip r:embed="rId3"/>
          <a:srcRect t="7811" b="7811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142E">
              <a:alpha val="55000"/>
            </a:srgbClr>
          </a:solidFill>
          <a:ln w="12700">
            <a:solidFill>
              <a:srgbClr val="08142E">
                <a:alpha val="0"/>
              </a:srgbClr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594360" y="384048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FFFFFF"/>
                </a:solidFill>
              </a:rPr>
              <a:t>Capstone: Enterprise AI Copilot for Operations Management</a:t>
            </a:r>
            <a:endParaRPr lang="en-US" sz="2300" dirty="0"/>
          </a:p>
        </p:txBody>
      </p:sp>
      <p:sp>
        <p:nvSpPr>
          <p:cNvPr id="5" name="Text 2"/>
          <p:cNvSpPr/>
          <p:nvPr/>
        </p:nvSpPr>
        <p:spPr>
          <a:xfrm>
            <a:off x="612648" y="86868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8C6E3"/>
                </a:solidFill>
              </a:rPr>
              <a:t>Integrate natural-language interaction, enterprise knowledge, collaborating agents, governance and cloud operations</a:t>
            </a:r>
            <a:endParaRPr lang="en-US" sz="950" dirty="0"/>
          </a:p>
        </p:txBody>
      </p:sp>
      <p:sp>
        <p:nvSpPr>
          <p:cNvPr id="6" name="Shape 3"/>
          <p:cNvSpPr/>
          <p:nvPr/>
        </p:nvSpPr>
        <p:spPr>
          <a:xfrm>
            <a:off x="621792" y="4956048"/>
            <a:ext cx="10927080" cy="1051560"/>
          </a:xfrm>
          <a:prstGeom prst="roundRect">
            <a:avLst>
              <a:gd name="adj" fmla="val 10435"/>
            </a:avLst>
          </a:prstGeom>
          <a:solidFill>
            <a:srgbClr val="08142E">
              <a:alpha val="86000"/>
            </a:srgbClr>
          </a:solidFill>
          <a:ln w="12700">
            <a:solidFill>
              <a:srgbClr val="2CC9D2">
                <a:alpha val="65000"/>
              </a:srgbClr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868680" y="5248656"/>
            <a:ext cx="10378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CC9D2"/>
                </a:solidFill>
              </a:rPr>
              <a:t>Capstone goal: demonstrate one governed, observable, cloud-native workflow from business question to verified outcome.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402336" y="6519672"/>
            <a:ext cx="65836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70" dirty="0">
                <a:solidFill>
                  <a:srgbClr val="8B93B8"/>
                </a:solidFill>
              </a:rPr>
              <a:t>Scalable Enterprise Architectural Deployments of Agentic AI Solutions</a:t>
            </a:r>
            <a:endParaRPr lang="en-US" sz="570" dirty="0"/>
          </a:p>
        </p:txBody>
      </p:sp>
      <p:sp>
        <p:nvSpPr>
          <p:cNvPr id="9" name="Text 6"/>
          <p:cNvSpPr/>
          <p:nvPr/>
        </p:nvSpPr>
        <p:spPr>
          <a:xfrm>
            <a:off x="11384280" y="6473952"/>
            <a:ext cx="2926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50" dirty="0">
                <a:solidFill>
                  <a:srgbClr val="8B93B8"/>
                </a:solidFill>
              </a:rPr>
              <a:t>28</a:t>
            </a:r>
            <a:endParaRPr lang="en-US" sz="65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141B4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Shape 0"/>
          <p:cNvSpPr/>
          <p:nvPr/>
        </p:nvSpPr>
        <p:spPr>
          <a:xfrm>
            <a:off x="10241280" y="228600"/>
            <a:ext cx="1417320" cy="1417320"/>
          </a:xfrm>
          <a:prstGeom prst="ellipse">
            <a:avLst/>
          </a:prstGeom>
          <a:solidFill>
            <a:srgbClr val="2B4388">
              <a:alpha val="44000"/>
            </a:srgbClr>
          </a:solidFill>
          <a:ln w="7620">
            <a:solidFill>
              <a:srgbClr val="FFB627">
                <a:alpha val="52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46304" y="5257800"/>
            <a:ext cx="1143000" cy="1143000"/>
          </a:xfrm>
          <a:prstGeom prst="ellipse">
            <a:avLst/>
          </a:prstGeom>
          <a:solidFill>
            <a:srgbClr val="223575">
              <a:alpha val="38000"/>
            </a:srgbClr>
          </a:solidFill>
          <a:ln w="12700">
            <a:solidFill>
              <a:srgbClr val="2670DD">
                <a:alpha val="35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393192"/>
            <a:ext cx="10698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FFFFFF"/>
                </a:solidFill>
              </a:rPr>
              <a:t>Capstone Functional Scope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612648" y="877824"/>
            <a:ext cx="10607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B8C6E3"/>
                </a:solidFill>
              </a:rPr>
              <a:t>Participants will build a scalable enterprise operations copilot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94360" y="1161288"/>
            <a:ext cx="10972800" cy="1"/>
          </a:xfrm>
          <a:prstGeom prst="line">
            <a:avLst/>
          </a:prstGeom>
          <a:noFill/>
          <a:ln w="12700">
            <a:solidFill>
              <a:srgbClr val="2CC9D2">
                <a:alpha val="75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02336" y="6519672"/>
            <a:ext cx="65836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70" dirty="0">
                <a:solidFill>
                  <a:srgbClr val="8B93B8"/>
                </a:solidFill>
              </a:rPr>
              <a:t>Scalable Enterprise Architectural Deployments of Agentic AI Solutions</a:t>
            </a:r>
            <a:endParaRPr lang="en-US" sz="570" dirty="0"/>
          </a:p>
        </p:txBody>
      </p:sp>
      <p:sp>
        <p:nvSpPr>
          <p:cNvPr id="8" name="Text 6"/>
          <p:cNvSpPr/>
          <p:nvPr/>
        </p:nvSpPr>
        <p:spPr>
          <a:xfrm>
            <a:off x="11384280" y="6473952"/>
            <a:ext cx="2926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50" dirty="0">
                <a:solidFill>
                  <a:srgbClr val="8B93B8"/>
                </a:solidFill>
              </a:rPr>
              <a:t>29</a:t>
            </a:r>
            <a:endParaRPr lang="en-US" sz="650" dirty="0"/>
          </a:p>
        </p:txBody>
      </p:sp>
      <p:sp>
        <p:nvSpPr>
          <p:cNvPr id="9" name="Shape 7"/>
          <p:cNvSpPr/>
          <p:nvPr/>
        </p:nvSpPr>
        <p:spPr>
          <a:xfrm>
            <a:off x="621792" y="1417320"/>
            <a:ext cx="3486912" cy="2235708"/>
          </a:xfrm>
          <a:prstGeom prst="roundRect">
            <a:avLst>
              <a:gd name="adj" fmla="val 4908"/>
            </a:avLst>
          </a:prstGeom>
          <a:solidFill>
            <a:srgbClr val="122A52">
              <a:alpha val="95000"/>
            </a:srgbClr>
          </a:solidFill>
          <a:ln w="10160">
            <a:solidFill>
              <a:srgbClr val="2670DD">
                <a:alpha val="65000"/>
              </a:srgbClr>
            </a:solidFill>
            <a:prstDash val="solid"/>
          </a:ln>
          <a:effectLst>
            <a:outerShdw blurRad="19050" dist="762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786384" y="1554479"/>
            <a:ext cx="3157728" cy="71285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</a:rPr>
              <a:t>Natural-language business queries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786384" y="1929384"/>
            <a:ext cx="3157728" cy="160477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r>
              <a:rPr lang="en-US" sz="1200" dirty="0">
                <a:solidFill>
                  <a:srgbClr val="F5F8FC"/>
                </a:solidFill>
              </a:rPr>
              <a:t>Accept operational questions, goals and follow-up requests.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364736" y="1417320"/>
            <a:ext cx="3486912" cy="2235708"/>
          </a:xfrm>
          <a:prstGeom prst="roundRect">
            <a:avLst>
              <a:gd name="adj" fmla="val 4908"/>
            </a:avLst>
          </a:prstGeom>
          <a:solidFill>
            <a:srgbClr val="122A52">
              <a:alpha val="95000"/>
            </a:srgbClr>
          </a:solidFill>
          <a:ln w="10160">
            <a:solidFill>
              <a:srgbClr val="2CC9D2">
                <a:alpha val="65000"/>
              </a:srgbClr>
            </a:solidFill>
            <a:prstDash val="solid"/>
          </a:ln>
          <a:effectLst>
            <a:outerShdw blurRad="19050" dist="762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529328" y="1554480"/>
            <a:ext cx="31577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Enterprise data retrieval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4529328" y="1929384"/>
            <a:ext cx="3157728" cy="160477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r>
              <a:rPr lang="en-US" sz="1200" dirty="0">
                <a:solidFill>
                  <a:srgbClr val="F5F8FC"/>
                </a:solidFill>
              </a:rPr>
              <a:t>Ground responses in approved databases and knowledge repositories.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8107680" y="1417320"/>
            <a:ext cx="3486912" cy="2235708"/>
          </a:xfrm>
          <a:prstGeom prst="roundRect">
            <a:avLst>
              <a:gd name="adj" fmla="val 4908"/>
            </a:avLst>
          </a:prstGeom>
          <a:solidFill>
            <a:srgbClr val="122A52">
              <a:alpha val="95000"/>
            </a:srgbClr>
          </a:solidFill>
          <a:ln w="10160">
            <a:solidFill>
              <a:srgbClr val="7C5BDC">
                <a:alpha val="65000"/>
              </a:srgbClr>
            </a:solidFill>
            <a:prstDash val="solid"/>
          </a:ln>
          <a:effectLst>
            <a:outerShdw blurRad="19050" dist="762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8272272" y="1554480"/>
            <a:ext cx="31577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</a:rPr>
              <a:t>Collaborating agents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8272272" y="1929384"/>
            <a:ext cx="3157728" cy="160477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r>
              <a:rPr lang="en-US" sz="1200" dirty="0">
                <a:solidFill>
                  <a:srgbClr val="F5F8FC"/>
                </a:solidFill>
              </a:rPr>
              <a:t>Use a supervisor and specialized agents for analysis, operations and compliance.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21792" y="3982212"/>
            <a:ext cx="3486912" cy="2235708"/>
          </a:xfrm>
          <a:prstGeom prst="roundRect">
            <a:avLst>
              <a:gd name="adj" fmla="val 4908"/>
            </a:avLst>
          </a:prstGeom>
          <a:solidFill>
            <a:srgbClr val="122A52">
              <a:alpha val="95000"/>
            </a:srgbClr>
          </a:solidFill>
          <a:ln w="10160">
            <a:solidFill>
              <a:srgbClr val="2FBE82">
                <a:alpha val="65000"/>
              </a:srgbClr>
            </a:solidFill>
            <a:prstDash val="solid"/>
          </a:ln>
          <a:effectLst>
            <a:outerShdw blurRad="19050" dist="762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786384" y="4119372"/>
            <a:ext cx="3157728" cy="6903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</a:rPr>
              <a:t>Insights &amp; recommendations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786384" y="4494276"/>
            <a:ext cx="3157728" cy="160477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r>
              <a:rPr lang="en-US" sz="1200" dirty="0">
                <a:solidFill>
                  <a:srgbClr val="F5F8FC"/>
                </a:solidFill>
              </a:rPr>
              <a:t>Generate evidence-based findings, options and next actions.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364736" y="3982212"/>
            <a:ext cx="3486912" cy="2235708"/>
          </a:xfrm>
          <a:prstGeom prst="roundRect">
            <a:avLst>
              <a:gd name="adj" fmla="val 4908"/>
            </a:avLst>
          </a:prstGeom>
          <a:solidFill>
            <a:srgbClr val="122A52">
              <a:alpha val="95000"/>
            </a:srgbClr>
          </a:solidFill>
          <a:ln w="10160">
            <a:solidFill>
              <a:srgbClr val="FFB627">
                <a:alpha val="65000"/>
              </a:srgbClr>
            </a:solidFill>
            <a:prstDash val="solid"/>
          </a:ln>
          <a:effectLst>
            <a:outerShdw blurRad="19050" dist="762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4529328" y="4119372"/>
            <a:ext cx="31577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</a:rPr>
              <a:t>Governance &amp; security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4529328" y="4494276"/>
            <a:ext cx="3157728" cy="160477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r>
              <a:rPr lang="en-US" sz="1200" dirty="0">
                <a:solidFill>
                  <a:srgbClr val="F5F8FC"/>
                </a:solidFill>
              </a:rPr>
              <a:t>Enforce identity, authorization, privacy, policy, approval and audit controls.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8107680" y="3982212"/>
            <a:ext cx="3486912" cy="2235708"/>
          </a:xfrm>
          <a:prstGeom prst="roundRect">
            <a:avLst>
              <a:gd name="adj" fmla="val 4908"/>
            </a:avLst>
          </a:prstGeom>
          <a:solidFill>
            <a:srgbClr val="122A52">
              <a:alpha val="95000"/>
            </a:srgbClr>
          </a:solidFill>
          <a:ln w="10160">
            <a:solidFill>
              <a:srgbClr val="E35D6A">
                <a:alpha val="65000"/>
              </a:srgbClr>
            </a:solidFill>
            <a:prstDash val="solid"/>
          </a:ln>
          <a:effectLst>
            <a:outerShdw blurRad="19050" dist="762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8272272" y="4119372"/>
            <a:ext cx="31577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</a:rPr>
              <a:t>Cloud-native deployment</a:t>
            </a:r>
            <a:endParaRPr lang="en-US" sz="2000" dirty="0"/>
          </a:p>
        </p:txBody>
      </p:sp>
      <p:sp>
        <p:nvSpPr>
          <p:cNvPr id="26" name="Text 24"/>
          <p:cNvSpPr/>
          <p:nvPr/>
        </p:nvSpPr>
        <p:spPr>
          <a:xfrm>
            <a:off x="8272272" y="4494276"/>
            <a:ext cx="3157728" cy="160477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r>
              <a:rPr lang="en-US" sz="1200" dirty="0">
                <a:solidFill>
                  <a:srgbClr val="F5F8FC"/>
                </a:solidFill>
              </a:rPr>
              <a:t>Package and deploy with scalable runtime, resilient state and monitoring.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402336" y="6519672"/>
            <a:ext cx="65836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70" dirty="0">
                <a:solidFill>
                  <a:srgbClr val="8B93B8"/>
                </a:solidFill>
              </a:rPr>
              <a:t>Scalable Enterprise Architectural Deployments of Agentic AI Solutions</a:t>
            </a:r>
            <a:endParaRPr lang="en-US" sz="570" dirty="0"/>
          </a:p>
        </p:txBody>
      </p:sp>
      <p:sp>
        <p:nvSpPr>
          <p:cNvPr id="28" name="Text 26"/>
          <p:cNvSpPr/>
          <p:nvPr/>
        </p:nvSpPr>
        <p:spPr>
          <a:xfrm>
            <a:off x="11384280" y="6473952"/>
            <a:ext cx="2926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50" dirty="0">
                <a:solidFill>
                  <a:srgbClr val="8B93B8"/>
                </a:solidFill>
              </a:rPr>
              <a:t>29</a:t>
            </a:r>
            <a:endParaRPr lang="en-US" sz="65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141B4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Shape 0"/>
          <p:cNvSpPr/>
          <p:nvPr/>
        </p:nvSpPr>
        <p:spPr>
          <a:xfrm>
            <a:off x="10241280" y="228600"/>
            <a:ext cx="1417320" cy="1417320"/>
          </a:xfrm>
          <a:prstGeom prst="ellipse">
            <a:avLst/>
          </a:prstGeom>
          <a:solidFill>
            <a:srgbClr val="2B4388">
              <a:alpha val="44000"/>
            </a:srgbClr>
          </a:solidFill>
          <a:ln w="7620">
            <a:solidFill>
              <a:srgbClr val="FFB627">
                <a:alpha val="52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46304" y="5257800"/>
            <a:ext cx="1143000" cy="1143000"/>
          </a:xfrm>
          <a:prstGeom prst="ellipse">
            <a:avLst/>
          </a:prstGeom>
          <a:solidFill>
            <a:srgbClr val="223575">
              <a:alpha val="38000"/>
            </a:srgbClr>
          </a:solidFill>
          <a:ln w="12700">
            <a:solidFill>
              <a:srgbClr val="2670DD">
                <a:alpha val="35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393192"/>
            <a:ext cx="10698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FFFFFF"/>
                </a:solidFill>
              </a:rPr>
              <a:t>CAPSTONE DELIVERABLES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612648" y="877824"/>
            <a:ext cx="10607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B8C6E3"/>
                </a:solidFill>
              </a:rPr>
              <a:t>Five artifacts that demonstrate enterprise architecture completeness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94360" y="1161288"/>
            <a:ext cx="10972800" cy="1"/>
          </a:xfrm>
          <a:prstGeom prst="line">
            <a:avLst/>
          </a:prstGeom>
          <a:noFill/>
          <a:ln w="12700">
            <a:solidFill>
              <a:srgbClr val="2CC9D2">
                <a:alpha val="75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02336" y="6519672"/>
            <a:ext cx="65836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70" dirty="0">
                <a:solidFill>
                  <a:srgbClr val="8B93B8"/>
                </a:solidFill>
              </a:rPr>
              <a:t>Scalable Enterprise Architectural Deployments of Agentic AI Solutions</a:t>
            </a:r>
            <a:endParaRPr lang="en-US" sz="570" dirty="0"/>
          </a:p>
        </p:txBody>
      </p:sp>
      <p:sp>
        <p:nvSpPr>
          <p:cNvPr id="8" name="Text 6"/>
          <p:cNvSpPr/>
          <p:nvPr/>
        </p:nvSpPr>
        <p:spPr>
          <a:xfrm>
            <a:off x="11384280" y="6473952"/>
            <a:ext cx="2926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50" dirty="0">
                <a:solidFill>
                  <a:srgbClr val="8B93B8"/>
                </a:solidFill>
              </a:rPr>
              <a:t>34</a:t>
            </a:r>
            <a:endParaRPr lang="en-US" sz="650" dirty="0"/>
          </a:p>
        </p:txBody>
      </p:sp>
      <p:sp>
        <p:nvSpPr>
          <p:cNvPr id="9" name="Shape 7"/>
          <p:cNvSpPr/>
          <p:nvPr/>
        </p:nvSpPr>
        <p:spPr>
          <a:xfrm>
            <a:off x="731520" y="1389888"/>
            <a:ext cx="10744200" cy="658368"/>
          </a:xfrm>
          <a:prstGeom prst="roundRect">
            <a:avLst>
              <a:gd name="adj" fmla="val 11111"/>
            </a:avLst>
          </a:prstGeom>
          <a:solidFill>
            <a:srgbClr val="122A52"/>
          </a:solidFill>
          <a:ln w="12700">
            <a:solidFill>
              <a:srgbClr val="2670DD">
                <a:alpha val="75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60120" y="1527048"/>
            <a:ext cx="384048" cy="384048"/>
          </a:xfrm>
          <a:prstGeom prst="ellipse">
            <a:avLst/>
          </a:prstGeom>
          <a:solidFill>
            <a:srgbClr val="2670DD"/>
          </a:solidFill>
          <a:ln w="1270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69848" y="1659636"/>
            <a:ext cx="155448" cy="548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1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1572768" y="1563624"/>
            <a:ext cx="2286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</a:rPr>
              <a:t>Architecture Diagram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3886200" y="1563624"/>
            <a:ext cx="7040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B8C6E3"/>
                </a:solidFill>
              </a:rPr>
              <a:t>Layers, components, trust boundaries and integrations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731520" y="2322576"/>
            <a:ext cx="10744200" cy="658368"/>
          </a:xfrm>
          <a:prstGeom prst="roundRect">
            <a:avLst>
              <a:gd name="adj" fmla="val 11111"/>
            </a:avLst>
          </a:prstGeom>
          <a:solidFill>
            <a:srgbClr val="122A52"/>
          </a:solidFill>
          <a:ln w="12700">
            <a:solidFill>
              <a:srgbClr val="7C5BDC">
                <a:alpha val="75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960120" y="2459736"/>
            <a:ext cx="384048" cy="384048"/>
          </a:xfrm>
          <a:prstGeom prst="ellipse">
            <a:avLst/>
          </a:prstGeom>
          <a:solidFill>
            <a:srgbClr val="7C5BDC"/>
          </a:solidFill>
          <a:ln w="1270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69848" y="2592324"/>
            <a:ext cx="155448" cy="548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2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1572768" y="2496312"/>
            <a:ext cx="2286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</a:rPr>
              <a:t>Agent Workflow Design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3886200" y="2496312"/>
            <a:ext cx="7040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B8C6E3"/>
                </a:solidFill>
              </a:rPr>
              <a:t>Roles, states, tools, handoffs, approvals and failure paths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731520" y="3255264"/>
            <a:ext cx="10744200" cy="658368"/>
          </a:xfrm>
          <a:prstGeom prst="roundRect">
            <a:avLst>
              <a:gd name="adj" fmla="val 11111"/>
            </a:avLst>
          </a:prstGeom>
          <a:solidFill>
            <a:srgbClr val="122A52"/>
          </a:solidFill>
          <a:ln w="12700">
            <a:solidFill>
              <a:srgbClr val="2FBE82">
                <a:alpha val="75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60120" y="3392424"/>
            <a:ext cx="384048" cy="384048"/>
          </a:xfrm>
          <a:prstGeom prst="ellipse">
            <a:avLst/>
          </a:prstGeom>
          <a:solidFill>
            <a:srgbClr val="2FBE82"/>
          </a:solidFill>
          <a:ln w="1270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069848" y="3525012"/>
            <a:ext cx="155448" cy="548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3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1572768" y="3429000"/>
            <a:ext cx="2286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</a:rPr>
              <a:t>Deployment Strategy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3886200" y="3429000"/>
            <a:ext cx="7040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B8C6E3"/>
                </a:solidFill>
              </a:rPr>
              <a:t>Runtime, scaling, resilience, environments and release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731520" y="4187952"/>
            <a:ext cx="10744200" cy="658368"/>
          </a:xfrm>
          <a:prstGeom prst="roundRect">
            <a:avLst>
              <a:gd name="adj" fmla="val 11111"/>
            </a:avLst>
          </a:prstGeom>
          <a:solidFill>
            <a:srgbClr val="122A52"/>
          </a:solidFill>
          <a:ln w="12700">
            <a:solidFill>
              <a:srgbClr val="FFB627">
                <a:alpha val="75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960120" y="4325112"/>
            <a:ext cx="384048" cy="384048"/>
          </a:xfrm>
          <a:prstGeom prst="ellipse">
            <a:avLst/>
          </a:prstGeom>
          <a:solidFill>
            <a:srgbClr val="FFB627"/>
          </a:solidFill>
          <a:ln w="1270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069848" y="4457700"/>
            <a:ext cx="155448" cy="548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4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1572768" y="4361688"/>
            <a:ext cx="2286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</a:rPr>
              <a:t>Security Model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3886200" y="4361688"/>
            <a:ext cx="7040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B8C6E3"/>
                </a:solidFill>
              </a:rPr>
              <a:t>Identity, authorization, secrets, privacy, guardrails and audit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731520" y="5120640"/>
            <a:ext cx="10744200" cy="658368"/>
          </a:xfrm>
          <a:prstGeom prst="roundRect">
            <a:avLst>
              <a:gd name="adj" fmla="val 11111"/>
            </a:avLst>
          </a:prstGeom>
          <a:solidFill>
            <a:srgbClr val="122A52"/>
          </a:solidFill>
          <a:ln w="12700">
            <a:solidFill>
              <a:srgbClr val="2CC9D2">
                <a:alpha val="75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960120" y="5257800"/>
            <a:ext cx="384048" cy="384048"/>
          </a:xfrm>
          <a:prstGeom prst="ellipse">
            <a:avLst/>
          </a:prstGeom>
          <a:solidFill>
            <a:srgbClr val="2CC9D2"/>
          </a:solidFill>
          <a:ln w="1270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069848" y="5390388"/>
            <a:ext cx="155448" cy="548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5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1572768" y="5294376"/>
            <a:ext cx="2286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</a:rPr>
              <a:t>Monitoring Dashboard Design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3886200" y="5294376"/>
            <a:ext cx="7040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B8C6E3"/>
                </a:solidFill>
              </a:rPr>
              <a:t>Health, trace, quality, safety, cost and business outcomes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402336" y="6519672"/>
            <a:ext cx="65836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70" dirty="0">
                <a:solidFill>
                  <a:srgbClr val="8B93B8"/>
                </a:solidFill>
              </a:rPr>
              <a:t>Scalable Enterprise Architectural Deployments of Agentic AI Solutions</a:t>
            </a:r>
            <a:endParaRPr lang="en-US" sz="570" dirty="0"/>
          </a:p>
        </p:txBody>
      </p:sp>
      <p:sp>
        <p:nvSpPr>
          <p:cNvPr id="35" name="Text 33"/>
          <p:cNvSpPr/>
          <p:nvPr/>
        </p:nvSpPr>
        <p:spPr>
          <a:xfrm>
            <a:off x="11384280" y="6473952"/>
            <a:ext cx="2926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50" dirty="0">
                <a:solidFill>
                  <a:srgbClr val="8B93B8"/>
                </a:solidFill>
              </a:rPr>
              <a:t>34</a:t>
            </a:r>
            <a:endParaRPr lang="en-US" sz="65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594360" y="393192"/>
            <a:ext cx="10698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1B2340"/>
                </a:solidFill>
              </a:rPr>
              <a:t>Capstone Presentation Rubric</a:t>
            </a:r>
            <a:endParaRPr lang="en-US" sz="2300" dirty="0"/>
          </a:p>
        </p:txBody>
      </p:sp>
      <p:sp>
        <p:nvSpPr>
          <p:cNvPr id="3" name="Text 1"/>
          <p:cNvSpPr/>
          <p:nvPr/>
        </p:nvSpPr>
        <p:spPr>
          <a:xfrm>
            <a:off x="612648" y="877824"/>
            <a:ext cx="10607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B6785"/>
                </a:solidFill>
              </a:rPr>
              <a:t>Use the rubric to keep the 0.5-hour session focused on architecture decisions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94360" y="1161288"/>
            <a:ext cx="10972800" cy="1"/>
          </a:xfrm>
          <a:prstGeom prst="line">
            <a:avLst/>
          </a:prstGeom>
          <a:noFill/>
          <a:ln w="12700">
            <a:solidFill>
              <a:srgbClr val="2670DD">
                <a:alpha val="75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02336" y="6519672"/>
            <a:ext cx="65836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70" dirty="0">
                <a:solidFill>
                  <a:srgbClr val="5B6785"/>
                </a:solidFill>
              </a:rPr>
              <a:t>Scalable Enterprise Architectural Deployments of Agentic AI Solutions</a:t>
            </a:r>
            <a:endParaRPr lang="en-US" sz="570" dirty="0"/>
          </a:p>
        </p:txBody>
      </p:sp>
      <p:sp>
        <p:nvSpPr>
          <p:cNvPr id="6" name="Text 4"/>
          <p:cNvSpPr/>
          <p:nvPr/>
        </p:nvSpPr>
        <p:spPr>
          <a:xfrm>
            <a:off x="11384280" y="6473952"/>
            <a:ext cx="2926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50" dirty="0">
                <a:solidFill>
                  <a:srgbClr val="5B6785"/>
                </a:solidFill>
              </a:rPr>
              <a:t>35</a:t>
            </a:r>
            <a:endParaRPr lang="en-US" sz="650" dirty="0"/>
          </a:p>
        </p:txBody>
      </p:sp>
      <p:sp>
        <p:nvSpPr>
          <p:cNvPr id="7" name="Shape 5"/>
          <p:cNvSpPr/>
          <p:nvPr/>
        </p:nvSpPr>
        <p:spPr>
          <a:xfrm>
            <a:off x="621792" y="1417320"/>
            <a:ext cx="3486912" cy="2235708"/>
          </a:xfrm>
          <a:prstGeom prst="roundRect">
            <a:avLst>
              <a:gd name="adj" fmla="val 4908"/>
            </a:avLst>
          </a:prstGeom>
          <a:solidFill>
            <a:srgbClr val="F0F4FC"/>
          </a:solidFill>
          <a:ln w="10160">
            <a:solidFill>
              <a:srgbClr val="2670DD">
                <a:alpha val="65000"/>
              </a:srgbClr>
            </a:solidFill>
            <a:prstDash val="solid"/>
          </a:ln>
          <a:effectLst>
            <a:outerShdw blurRad="19050" dist="762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786384" y="1554480"/>
            <a:ext cx="31577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1B2340"/>
                </a:solidFill>
              </a:rPr>
              <a:t>Business fit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86384" y="1929384"/>
            <a:ext cx="3157728" cy="160477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r>
              <a:rPr lang="en-US" sz="1200" dirty="0">
                <a:solidFill>
                  <a:srgbClr val="5B6785"/>
                </a:solidFill>
              </a:rPr>
              <a:t>Clear operations-management use case</a:t>
            </a:r>
            <a:endParaRPr lang="en-US" sz="1200" dirty="0"/>
          </a:p>
          <a:p>
            <a:r>
              <a:rPr lang="en-US" sz="1200" dirty="0">
                <a:solidFill>
                  <a:srgbClr val="5B6785"/>
                </a:solidFill>
              </a:rPr>
              <a:t>Users and measurable outcome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364736" y="1417320"/>
            <a:ext cx="3486912" cy="2235708"/>
          </a:xfrm>
          <a:prstGeom prst="roundRect">
            <a:avLst>
              <a:gd name="adj" fmla="val 4908"/>
            </a:avLst>
          </a:prstGeom>
          <a:solidFill>
            <a:srgbClr val="F0F4FC"/>
          </a:solidFill>
          <a:ln w="10160">
            <a:solidFill>
              <a:srgbClr val="2CC9D2">
                <a:alpha val="65000"/>
              </a:srgbClr>
            </a:solidFill>
            <a:prstDash val="solid"/>
          </a:ln>
          <a:effectLst>
            <a:outerShdw blurRad="19050" dist="762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529328" y="1554480"/>
            <a:ext cx="31577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1B2340"/>
                </a:solidFill>
              </a:rPr>
              <a:t>Architecture completeness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529328" y="1929384"/>
            <a:ext cx="3157728" cy="160477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r>
              <a:rPr lang="en-US" sz="1200" dirty="0">
                <a:solidFill>
                  <a:srgbClr val="5B6785"/>
                </a:solidFill>
              </a:rPr>
              <a:t>All layers connected</a:t>
            </a:r>
            <a:endParaRPr lang="en-US" sz="1200" dirty="0"/>
          </a:p>
          <a:p>
            <a:r>
              <a:rPr lang="en-US" sz="1200" dirty="0">
                <a:solidFill>
                  <a:srgbClr val="5B6785"/>
                </a:solidFill>
              </a:rPr>
              <a:t>Explicit state and interfaces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8107680" y="1417320"/>
            <a:ext cx="3486912" cy="2235708"/>
          </a:xfrm>
          <a:prstGeom prst="roundRect">
            <a:avLst>
              <a:gd name="adj" fmla="val 4908"/>
            </a:avLst>
          </a:prstGeom>
          <a:solidFill>
            <a:srgbClr val="F0F4FC"/>
          </a:solidFill>
          <a:ln w="10160">
            <a:solidFill>
              <a:srgbClr val="7C5BDC">
                <a:alpha val="65000"/>
              </a:srgbClr>
            </a:solidFill>
            <a:prstDash val="solid"/>
          </a:ln>
          <a:effectLst>
            <a:outerShdw blurRad="19050" dist="762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8272272" y="1554480"/>
            <a:ext cx="31577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1B2340"/>
                </a:solidFill>
              </a:rPr>
              <a:t>Agent design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8272272" y="1929384"/>
            <a:ext cx="3157728" cy="160477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r>
              <a:rPr lang="en-US" sz="1200" dirty="0">
                <a:solidFill>
                  <a:srgbClr val="5B6785"/>
                </a:solidFill>
              </a:rPr>
              <a:t>Appropriate pattern</a:t>
            </a:r>
            <a:endParaRPr lang="en-US" sz="1200" dirty="0"/>
          </a:p>
          <a:p>
            <a:r>
              <a:rPr lang="en-US" sz="1200" dirty="0">
                <a:solidFill>
                  <a:srgbClr val="5B6785"/>
                </a:solidFill>
              </a:rPr>
              <a:t>Clear roles and bounded autonomy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21792" y="3982212"/>
            <a:ext cx="3486912" cy="2235708"/>
          </a:xfrm>
          <a:prstGeom prst="roundRect">
            <a:avLst>
              <a:gd name="adj" fmla="val 4908"/>
            </a:avLst>
          </a:prstGeom>
          <a:solidFill>
            <a:srgbClr val="F0F4FC"/>
          </a:solidFill>
          <a:ln w="10160">
            <a:solidFill>
              <a:srgbClr val="2FBE82">
                <a:alpha val="65000"/>
              </a:srgbClr>
            </a:solidFill>
            <a:prstDash val="solid"/>
          </a:ln>
          <a:effectLst>
            <a:outerShdw blurRad="19050" dist="762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786384" y="4119372"/>
            <a:ext cx="31577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1B2340"/>
                </a:solidFill>
              </a:rPr>
              <a:t>Security &amp; governance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786384" y="4494276"/>
            <a:ext cx="3157728" cy="160477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r>
              <a:rPr lang="en-US" sz="1200" dirty="0">
                <a:solidFill>
                  <a:srgbClr val="5B6785"/>
                </a:solidFill>
              </a:rPr>
              <a:t>Identity, privacy, policy, approval and risk evidence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364736" y="3982212"/>
            <a:ext cx="3486912" cy="2235708"/>
          </a:xfrm>
          <a:prstGeom prst="roundRect">
            <a:avLst>
              <a:gd name="adj" fmla="val 4908"/>
            </a:avLst>
          </a:prstGeom>
          <a:solidFill>
            <a:srgbClr val="F0F4FC"/>
          </a:solidFill>
          <a:ln w="10160">
            <a:solidFill>
              <a:srgbClr val="FFB627">
                <a:alpha val="65000"/>
              </a:srgbClr>
            </a:solidFill>
            <a:prstDash val="solid"/>
          </a:ln>
          <a:effectLst>
            <a:outerShdw blurRad="19050" dist="762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529328" y="4119372"/>
            <a:ext cx="31577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1B2340"/>
                </a:solidFill>
              </a:rPr>
              <a:t>Deployment &amp; resilience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529328" y="4494276"/>
            <a:ext cx="3157728" cy="160477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r>
              <a:rPr lang="en-US" sz="1200" dirty="0">
                <a:solidFill>
                  <a:srgbClr val="5B6785"/>
                </a:solidFill>
              </a:rPr>
              <a:t>Scalable runtime</a:t>
            </a:r>
            <a:endParaRPr lang="en-US" sz="1200" dirty="0"/>
          </a:p>
          <a:p>
            <a:r>
              <a:rPr lang="en-US" sz="1200" dirty="0">
                <a:solidFill>
                  <a:srgbClr val="5B6785"/>
                </a:solidFill>
              </a:rPr>
              <a:t>Failure handling</a:t>
            </a:r>
            <a:endParaRPr lang="en-US" sz="1200" dirty="0"/>
          </a:p>
          <a:p>
            <a:r>
              <a:rPr lang="en-US" sz="1200" dirty="0">
                <a:solidFill>
                  <a:srgbClr val="5B6785"/>
                </a:solidFill>
              </a:rPr>
              <a:t>Rollback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8107680" y="3982212"/>
            <a:ext cx="3486912" cy="2235708"/>
          </a:xfrm>
          <a:prstGeom prst="roundRect">
            <a:avLst>
              <a:gd name="adj" fmla="val 4908"/>
            </a:avLst>
          </a:prstGeom>
          <a:solidFill>
            <a:srgbClr val="F0F4FC"/>
          </a:solidFill>
          <a:ln w="10160">
            <a:solidFill>
              <a:srgbClr val="E35D6A">
                <a:alpha val="65000"/>
              </a:srgbClr>
            </a:solidFill>
            <a:prstDash val="solid"/>
          </a:ln>
          <a:effectLst>
            <a:outerShdw blurRad="19050" dist="762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8272272" y="4119372"/>
            <a:ext cx="31577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1B2340"/>
                </a:solidFill>
              </a:rPr>
              <a:t>Observability &amp; value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8272272" y="4494276"/>
            <a:ext cx="3157728" cy="160477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r>
              <a:rPr lang="en-US" sz="1200" dirty="0">
                <a:solidFill>
                  <a:srgbClr val="5B6785"/>
                </a:solidFill>
              </a:rPr>
              <a:t>Metrics, traces, evaluation, cost and business KPI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402336" y="6519672"/>
            <a:ext cx="65836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70" dirty="0">
                <a:solidFill>
                  <a:srgbClr val="5B6785"/>
                </a:solidFill>
              </a:rPr>
              <a:t>Scalable Enterprise Architectural Deployments of Agentic AI Solutions</a:t>
            </a:r>
            <a:endParaRPr lang="en-US" sz="570" dirty="0"/>
          </a:p>
        </p:txBody>
      </p:sp>
      <p:sp>
        <p:nvSpPr>
          <p:cNvPr id="26" name="Text 24"/>
          <p:cNvSpPr/>
          <p:nvPr/>
        </p:nvSpPr>
        <p:spPr>
          <a:xfrm>
            <a:off x="11384280" y="6473952"/>
            <a:ext cx="2926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50" dirty="0">
                <a:solidFill>
                  <a:srgbClr val="5B6785"/>
                </a:solidFill>
              </a:rPr>
              <a:t>35</a:t>
            </a:r>
            <a:endParaRPr lang="en-US" sz="65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594360" y="393192"/>
            <a:ext cx="10698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1B2340"/>
                </a:solidFill>
              </a:rPr>
              <a:t>KEY TAKEAWAYS</a:t>
            </a:r>
            <a:endParaRPr lang="en-US" sz="2300" dirty="0"/>
          </a:p>
        </p:txBody>
      </p:sp>
      <p:sp>
        <p:nvSpPr>
          <p:cNvPr id="3" name="Text 1"/>
          <p:cNvSpPr/>
          <p:nvPr/>
        </p:nvSpPr>
        <p:spPr>
          <a:xfrm>
            <a:off x="612648" y="877824"/>
            <a:ext cx="10607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B6785"/>
                </a:solidFill>
              </a:rPr>
              <a:t>Secure, govern, observe and prove the architecture end-to-end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94360" y="1161288"/>
            <a:ext cx="10972800" cy="1"/>
          </a:xfrm>
          <a:prstGeom prst="line">
            <a:avLst/>
          </a:prstGeom>
          <a:noFill/>
          <a:ln w="12700">
            <a:solidFill>
              <a:srgbClr val="2670DD">
                <a:alpha val="75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02336" y="6519672"/>
            <a:ext cx="65836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70" dirty="0">
                <a:solidFill>
                  <a:srgbClr val="5B6785"/>
                </a:solidFill>
              </a:rPr>
              <a:t>Scalable Enterprise Architectural Deployments of Agentic AI Solutions</a:t>
            </a:r>
            <a:endParaRPr lang="en-US" sz="570" dirty="0"/>
          </a:p>
        </p:txBody>
      </p:sp>
      <p:sp>
        <p:nvSpPr>
          <p:cNvPr id="6" name="Text 4"/>
          <p:cNvSpPr/>
          <p:nvPr/>
        </p:nvSpPr>
        <p:spPr>
          <a:xfrm>
            <a:off x="11384280" y="6473952"/>
            <a:ext cx="2926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50" dirty="0">
                <a:solidFill>
                  <a:srgbClr val="5B6785"/>
                </a:solidFill>
              </a:rPr>
              <a:t>36</a:t>
            </a:r>
            <a:endParaRPr lang="en-US" sz="650" dirty="0"/>
          </a:p>
        </p:txBody>
      </p:sp>
      <p:sp>
        <p:nvSpPr>
          <p:cNvPr id="7" name="Shape 5"/>
          <p:cNvSpPr/>
          <p:nvPr/>
        </p:nvSpPr>
        <p:spPr>
          <a:xfrm>
            <a:off x="621792" y="1417320"/>
            <a:ext cx="5358384" cy="2235708"/>
          </a:xfrm>
          <a:prstGeom prst="roundRect">
            <a:avLst>
              <a:gd name="adj" fmla="val 4908"/>
            </a:avLst>
          </a:prstGeom>
          <a:solidFill>
            <a:srgbClr val="F0F4FC"/>
          </a:solidFill>
          <a:ln w="10160">
            <a:solidFill>
              <a:srgbClr val="2670DD">
                <a:alpha val="65000"/>
              </a:srgbClr>
            </a:solidFill>
            <a:prstDash val="solid"/>
          </a:ln>
          <a:effectLst>
            <a:outerShdw blurRad="19050" dist="762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786384" y="155448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1B2340"/>
                </a:solidFill>
              </a:rPr>
              <a:t>Secure by default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786384" y="1929384"/>
            <a:ext cx="5029200" cy="160477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r>
              <a:rPr lang="en-US" sz="1200" dirty="0">
                <a:solidFill>
                  <a:srgbClr val="5B6785"/>
                </a:solidFill>
              </a:rPr>
              <a:t>Every actor, tool, data path and action must be authenticated and policy-controlled.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236208" y="1417320"/>
            <a:ext cx="5358384" cy="2235708"/>
          </a:xfrm>
          <a:prstGeom prst="roundRect">
            <a:avLst>
              <a:gd name="adj" fmla="val 4908"/>
            </a:avLst>
          </a:prstGeom>
          <a:solidFill>
            <a:srgbClr val="F0F4FC"/>
          </a:solidFill>
          <a:ln w="10160">
            <a:solidFill>
              <a:srgbClr val="2CC9D2">
                <a:alpha val="65000"/>
              </a:srgbClr>
            </a:solidFill>
            <a:prstDash val="solid"/>
          </a:ln>
          <a:effectLst>
            <a:outerShdw blurRad="19050" dist="762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400800" y="155448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1B2340"/>
                </a:solidFill>
              </a:rPr>
              <a:t>Govern across lifecycle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6400800" y="1929384"/>
            <a:ext cx="5029200" cy="160477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r>
              <a:rPr lang="en-US" sz="1200" dirty="0">
                <a:solidFill>
                  <a:srgbClr val="5B6785"/>
                </a:solidFill>
              </a:rPr>
              <a:t>Risk tier, ownership, evidence and review continue from design through retirement.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21792" y="3982212"/>
            <a:ext cx="5358384" cy="2235708"/>
          </a:xfrm>
          <a:prstGeom prst="roundRect">
            <a:avLst>
              <a:gd name="adj" fmla="val 4908"/>
            </a:avLst>
          </a:prstGeom>
          <a:solidFill>
            <a:srgbClr val="F0F4FC"/>
          </a:solidFill>
          <a:ln w="10160">
            <a:solidFill>
              <a:srgbClr val="7C5BDC">
                <a:alpha val="65000"/>
              </a:srgbClr>
            </a:solidFill>
            <a:prstDash val="solid"/>
          </a:ln>
          <a:effectLst>
            <a:outerShdw blurRad="19050" dist="762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786384" y="4119372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1B2340"/>
                </a:solidFill>
              </a:rPr>
              <a:t>Observe outcomes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786384" y="4494276"/>
            <a:ext cx="5029200" cy="160477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r>
              <a:rPr lang="en-US" sz="1200" dirty="0">
                <a:solidFill>
                  <a:srgbClr val="5B6785"/>
                </a:solidFill>
              </a:rPr>
              <a:t>Trace the full workflow and measure service health, quality, safety, cost and business value.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236208" y="3982212"/>
            <a:ext cx="5358384" cy="2235708"/>
          </a:xfrm>
          <a:prstGeom prst="roundRect">
            <a:avLst>
              <a:gd name="adj" fmla="val 4908"/>
            </a:avLst>
          </a:prstGeom>
          <a:solidFill>
            <a:srgbClr val="F0F4FC"/>
          </a:solidFill>
          <a:ln w="10160">
            <a:solidFill>
              <a:srgbClr val="2FBE82">
                <a:alpha val="65000"/>
              </a:srgbClr>
            </a:solidFill>
            <a:prstDash val="solid"/>
          </a:ln>
          <a:effectLst>
            <a:outerShdw blurRad="19050" dist="762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400800" y="4119372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1B2340"/>
                </a:solidFill>
              </a:rPr>
              <a:t>Integrate the course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6400800" y="4494276"/>
            <a:ext cx="5029200" cy="160477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r>
              <a:rPr lang="en-US" sz="1200" dirty="0">
                <a:solidFill>
                  <a:srgbClr val="5B6785"/>
                </a:solidFill>
              </a:rPr>
              <a:t>The capstone demonstrates Modules 1 through 9 as one production-ready architecture.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02336" y="6519672"/>
            <a:ext cx="65836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70" dirty="0">
                <a:solidFill>
                  <a:srgbClr val="5B6785"/>
                </a:solidFill>
              </a:rPr>
              <a:t>Scalable Enterprise Architectural Deployments of Agentic AI Solutions</a:t>
            </a:r>
            <a:endParaRPr lang="en-US" sz="570" dirty="0"/>
          </a:p>
        </p:txBody>
      </p:sp>
      <p:sp>
        <p:nvSpPr>
          <p:cNvPr id="20" name="Text 18"/>
          <p:cNvSpPr/>
          <p:nvPr/>
        </p:nvSpPr>
        <p:spPr>
          <a:xfrm>
            <a:off x="11384280" y="6473952"/>
            <a:ext cx="2926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50" dirty="0">
                <a:solidFill>
                  <a:srgbClr val="5B6785"/>
                </a:solidFill>
              </a:rPr>
              <a:t>36</a:t>
            </a:r>
            <a:endParaRPr lang="en-US" sz="65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141B4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Shape 0"/>
          <p:cNvSpPr/>
          <p:nvPr/>
        </p:nvSpPr>
        <p:spPr>
          <a:xfrm>
            <a:off x="10241280" y="228600"/>
            <a:ext cx="1417320" cy="1417320"/>
          </a:xfrm>
          <a:prstGeom prst="ellipse">
            <a:avLst/>
          </a:prstGeom>
          <a:solidFill>
            <a:srgbClr val="2B4388">
              <a:alpha val="44000"/>
            </a:srgbClr>
          </a:solidFill>
          <a:ln w="7620">
            <a:solidFill>
              <a:srgbClr val="FFB627">
                <a:alpha val="52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46304" y="5257800"/>
            <a:ext cx="1143000" cy="1143000"/>
          </a:xfrm>
          <a:prstGeom prst="ellipse">
            <a:avLst/>
          </a:prstGeom>
          <a:solidFill>
            <a:srgbClr val="223575">
              <a:alpha val="38000"/>
            </a:srgbClr>
          </a:solidFill>
          <a:ln w="12700">
            <a:solidFill>
              <a:srgbClr val="2670DD">
                <a:alpha val="35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120700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50" dirty="0">
                <a:solidFill>
                  <a:srgbClr val="FFB627"/>
                </a:solidFill>
              </a:rPr>
              <a:t>THANK YOU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828800"/>
            <a:ext cx="9509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FFFFFF"/>
                </a:solidFill>
              </a:rPr>
              <a:t>Capstone Presentations &amp; Architecture Discussion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749808" y="2971800"/>
            <a:ext cx="5029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8C6E3"/>
                </a:solidFill>
              </a:rPr>
              <a:t>Chandravadhana TK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B8C6E3"/>
                </a:solidFill>
              </a:rPr>
              <a:t>Senior AI/ML Architect, UHG-Optum.AI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B8C6E3"/>
                </a:solidFill>
              </a:rPr>
              <a:t>Research Scholar, CEG Anna University Guindy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749808" y="4846320"/>
            <a:ext cx="8321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CC9D2"/>
                </a:solidFill>
              </a:rPr>
              <a:t>Modules 7–9 · Security &amp; Governance · Observability &amp; Optimization · Enterprise Capstone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02336" y="6519672"/>
            <a:ext cx="65836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70" dirty="0">
                <a:solidFill>
                  <a:srgbClr val="8B93B8"/>
                </a:solidFill>
              </a:rPr>
              <a:t>Scalable Enterprise Architectural Deployments of Agentic AI Solutions</a:t>
            </a:r>
            <a:endParaRPr lang="en-US" sz="570" dirty="0"/>
          </a:p>
        </p:txBody>
      </p:sp>
      <p:sp>
        <p:nvSpPr>
          <p:cNvPr id="9" name="Text 7"/>
          <p:cNvSpPr/>
          <p:nvPr/>
        </p:nvSpPr>
        <p:spPr>
          <a:xfrm>
            <a:off x="11384280" y="6473952"/>
            <a:ext cx="2926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50" dirty="0">
                <a:solidFill>
                  <a:srgbClr val="8B93B8"/>
                </a:solidFill>
              </a:rPr>
              <a:t>37</a:t>
            </a:r>
            <a:endParaRPr lang="en-US" sz="6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335</TotalTime>
  <Words>3206</Words>
  <Application>Microsoft Office PowerPoint</Application>
  <PresentationFormat>Widescreen</PresentationFormat>
  <Paragraphs>722</Paragraphs>
  <Slides>34</Slides>
  <Notes>32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34</vt:i4>
      </vt:variant>
    </vt:vector>
  </HeadingPairs>
  <TitlesOfParts>
    <vt:vector size="37" baseType="lpstr">
      <vt:lpstr>Aptos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CEG, Anna University Guindy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Scalable Enterprise Architectural Deployments of Agentic AI Solutions, Week 3, Modules 7 to 9</dc:title>
  <dc:subject>Security, Governance, Responsible AI, Observability and Capstone</dc:subject>
  <dc:creator>Thustu Kumaran, Chandravadhana</dc:creator>
  <cp:lastModifiedBy>Chandravadhana Thustu Kumaran</cp:lastModifiedBy>
  <cp:revision>35</cp:revision>
  <dcterms:created xsi:type="dcterms:W3CDTF">2026-09-18T17:45:12Z</dcterms:created>
  <dcterms:modified xsi:type="dcterms:W3CDTF">2026-09-19T00:05:09Z</dcterms:modified>
</cp:coreProperties>
</file>